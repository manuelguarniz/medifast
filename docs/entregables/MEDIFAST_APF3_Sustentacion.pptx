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1" r:id="rId12"/>
    <p:sldId id="266" r:id="rId13"/>
    <p:sldId id="267" r:id="rId14"/>
    <p:sldId id="272" r:id="rId15"/>
    <p:sldId id="273" r:id="rId16"/>
    <p:sldId id="274" r:id="rId17"/>
    <p:sldId id="275" r:id="rId18"/>
    <p:sldId id="268" r:id="rId19"/>
    <p:sldId id="277" r:id="rId20"/>
    <p:sldId id="276" r:id="rId21"/>
    <p:sldId id="278" r:id="rId22"/>
    <p:sldId id="279" r:id="rId23"/>
    <p:sldId id="269" r:id="rId24"/>
    <p:sldId id="270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ntexto y alcance" id="{AB3698AE-890A-09F6-D922-EB794B3B7C4F}">
          <p14:sldIdLst>
            <p14:sldId id="256"/>
            <p14:sldId id="257"/>
            <p14:sldId id="258"/>
          </p14:sldIdLst>
        </p14:section>
        <p14:section name="Planificación y arquitectura" id="{51AA8B27-4A85-C714-2288-DE3536F6B8ED}">
          <p14:sldIdLst>
            <p14:sldId id="259"/>
            <p14:sldId id="260"/>
            <p14:sldId id="261"/>
            <p14:sldId id="262"/>
          </p14:sldIdLst>
        </p14:section>
        <p14:section name="Seguridad, librerías y pruebas" id="{0A668FDC-3B66-9B59-6AC4-6E57B12FBFB2}">
          <p14:sldIdLst>
            <p14:sldId id="263"/>
            <p14:sldId id="264"/>
            <p14:sldId id="265"/>
            <p14:sldId id="271"/>
          </p14:sldIdLst>
        </p14:section>
        <p14:section name="Interfaces y cierre" id="{CDA1812F-5E93-06E2-2E64-7777E659743D}">
          <p14:sldIdLst>
            <p14:sldId id="266"/>
            <p14:sldId id="267"/>
            <p14:sldId id="272"/>
            <p14:sldId id="273"/>
            <p14:sldId id="274"/>
            <p14:sldId id="275"/>
            <p14:sldId id="268"/>
            <p14:sldId id="277"/>
            <p14:sldId id="276"/>
            <p14:sldId id="278"/>
            <p14:sldId id="279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74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5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Hoja_de_c_lculo_de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172A"/>
                </a:solidFill>
                <a:latin typeface="+mn-lt"/>
              </a:defRPr>
            </a:pPr>
            <a:r>
              <a:rPr lang="es-PE" sz="1400" b="0" i="0" u="none" strike="noStrike">
                <a:solidFill>
                  <a:srgbClr val="0F172A"/>
                </a:solidFill>
                <a:latin typeface="+mn-lt"/>
              </a:rPr>
              <a:t>Cobertura por paquete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Cobertura</c:v>
                </c:pt>
              </c:strCache>
            </c:strRef>
          </c:tx>
          <c:spPr>
            <a:solidFill>
              <a:srgbClr val="0D5C4D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F172A"/>
                    </a:solidFill>
                    <a:latin typeface="+mn-lt"/>
                  </a:defRPr>
                </a:pPr>
                <a:endParaRPr lang="es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Validaciones (dto)</c:v>
                </c:pt>
                <c:pt idx="1">
                  <c:v>Seguridad</c:v>
                </c:pt>
                <c:pt idx="2">
                  <c:v>Servicios</c:v>
                </c:pt>
                <c:pt idx="3">
                  <c:v>Controladores</c:v>
                </c:pt>
                <c:pt idx="4">
                  <c:v>Total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98</c:v>
                </c:pt>
                <c:pt idx="1">
                  <c:v>97</c:v>
                </c:pt>
                <c:pt idx="2">
                  <c:v>79</c:v>
                </c:pt>
                <c:pt idx="3">
                  <c:v>74</c:v>
                </c:pt>
                <c:pt idx="4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E7-D845-8EA1-FB8B371A036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7773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Jorge.
Buenos días. Somos el Grupo 2 y presentamos MEDIFAST, un sistema web para el Consultorio Medifast del Dr. Moisés Barrantes Cabrera, médico internista y reumatólogo de Trujillo. El sistema permite a los pacientes reservar su cita y adjuntar la constancia de un pago con Yape (simulado), y al médico validar pagos, gestionar su agenda y obtener reportes. Hoy mostraremos el avance del APF3: arquitectura, librerías, versionado, interfaces y pruebas.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Jorge.
El Dr. Barrantes gestiona sus citas a mano: las anota en un cuaderno, coordina la disponibilidad con cada paciente por WhatsApp y verifica los pagos revisando capturas de transferencia. Esto le quita tiempo de atención y permite cruces de horario.
MEDIFAST centraliza la agenda: el paciente ve solo horarios libres, reserva y adjunta su constancia; el médico la valida. Las reglas más críticas —un bloque con una sola cita activa y un paciente con una sola cita activa— las garantiza la propia base de datos, no solo el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Jorge.
El alcance comprometido son 11 pantallas, 16 requerimientos funcionales y 14 reglas de negocio, para dos roles: paciente y médico.
El paciente se registra con DNI o CE, reserva una cita —el sistema detecta si es paciente nuevo (60 min, S/ 150) o control (30 min, S/ 80)—, y tiene 15 minutos para adjuntar la constancia de Yape. El médico revisa la constancia, la valida o rechaza, marca atendida o no asistió y obtiene dos reportes exportables a Excel.
Dejamos fuera, de forma explícita, los pagos reales, la información clínica, las notificaciones y el despliegue en la nube. Con esto le paso la palabra a Manuel, que explicará cómo lo planificamos y construimos.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Manuel.
Trabajamos con Extreme Programming, con entregas iterativas e incrementales. En el APF1 analizamos el negocio y entrevistamos al Dr. Barrantes; en el APF2 definimos requerimientos, el modelo lógico, la arquitectura y el prototipo.
En este APF3 pasamos a la construcción. Lo organizamos en iteraciones cortas: primero la base (esquema MySQL, entidades y DAO), luego autenticación y registro, la reserva de citas, el reporte de pagos con exportación a Excel y, en paralelo, el diseño de las pantallas restantes. Cada iteración vivió en su propia rama y entró a main mediante pull request. Para la entrega final queda completar el alcance y validar con el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Manuel.
La arquitectura es un monolito Spring Boot organizado en capas. Toda petición pasa primero por Spring Security, que autentica por número de documento, aplica roles, bcrypt y CSRF. Luego llega a un controlador delgado, que solo valida el formulario y delega en una interfaz de servicio. Los servicios concentran las reglas de negocio y acceden a los datos únicamente mediante interfaces DAO de Spring Data JPA. Debajo está MySQL 8.4, donde restricciones únicas y eventos garantizan las reglas más críticas.
La vista es Thymeleaf, y la lógica transversal —exportar a Excel, auditar y enmascarar datos— vive en util/. El stack es Java 21, Spring Boot 4.1 y Maven.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Manuel.
La rúbrica pide al menos tres de estos principios; aplicamos los cuatro.
MVC: modelo con entidades y DTO, vistas Thymeleaf y controladores delgados. DAO: cada tabla tiene su interfaz que extiende JpaRepository, con consultas propias para disponibilidad y reportes. SOLID: por ejemplo, ExportadorReporte es una interfaz; el controlador de reportes depende de ella y no de Apache POI, así que agregar un exportador a PDF no obliga a tocar el servicio —principios abierto/cerrado e inversión de dependencias—. TDD: 70 pruebas con JUnit 5 y Mockito, que veremos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Manuel.
Todo el proyecto está en GitHub: 79 commits en main y 21 pull requests, de los cuales 17 ya están integrados. El flujo es siempre el mismo: una rama feature por funcionalidad o pantalla, commits pequeños, un pull request que revisa el equipo y la integración a main.
No solo versionamos código: también los scripts SQL, los diagramas en Mermaid, la bitácora de diseño con cada prompt y captura, y los entregables anteriores. El README es la fuente única de verdad: si un documento lo contradice, se corrige el documento. Ahora Jennifer presentará seguridad, librerías y pruebas.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Jennifer.
La seguridad está en varias capas. Las contraseñas se guardan con bcrypt. Spring Security restringe las rutas por rol: un paciente no puede entrar a /medico. Tras cinco intentos fallidos la cuenta se bloquea 15 minutos; ese contador lo lleva una caché con expiración de Google Guava en IntentosLoginService.
Los formularios llevan token CSRF y se validan en el servidor, con validadores propios para DNI y CE. Los logs enmascaran documentos, celulares y correos, y todas las consultas son parametrizadas gracias a JPA. Además, las reglas más críticas son restricciones de la base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Jennifer.
No basta con declarar las librerías en el pom.xml: cada una debe tener un uso real. Google Guava se usa para la caché de intentos de login. Apache Commons Lang3, con StringUtils, normaliza nombres y documentos en el registro, el enmascarador y la auditoría. Apache POI genera el Excel del reporte de pagos. Logback está configurado con consola, archivo rotativo y un log de auditoría separado, y enmascara los datos sensibles.
Con honestidad: Commons IO y OpenPDF ya están en el pom.xml, pero su uso llega con la pantalla de pago (guardar la constancia) y la de confirmación (PDF), que están en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Jennifer.
Tenemos 70 pruebas automatizadas en 12 clases, con JUnit 5 y Mockito, y todas pasan con ./mvnw test. Cubren las reglas de reserva —por ejemplo, que a un paciente nuevo solo se le ofrezcan inicios con dos bloques consecutivos libres, o que se rechacen fechas fuera de la ventana de 30 días—, el registro, la seguridad (bcrypt, bloqueo por intentos, redirección por rol) y los controladores.
JaCoCo reporta 70 % de cobertura total y 79 % en la capa de servicios, por encima de la meta del 60 % que nos pusimos. Le paso la palabra a Jack, que mostrará las interfaces.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Jack.
Antes de programar cada pantalla la diseñamos. Definimos un sistema de diseño —paleta verde clínico, tipografía Inter, espaciado de 8 px, estados de cita y pago— y diseñamos las 11 pantallas con Stitch, en escritorio y móvil.
Cada pantalla pasó por varias versiones: aquí se ve el login en su primera versión —que todavía decía «Consultorio Barrantes»— y en la aprobada, ya con la marca correcta. En total documentamos 53 iteraciones, cada una con su prompt, su captura y el feedback que llevó a la siguiente, en docs/design. Revisamos cada versión con un checklist: que no aparezca nada fuera del alcance, que use los textos correctos y que funcione a 360 px.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Jack.
El flujo del paciente tiene cuatro pasos. En P2 elige fecha y hora: el sistema ya detectó si es paciente nuevo o control, muestra solo los bloques libres y, al continuar, aparta el horario 15 minutos. En P3 ve el monto, un QR de ejemplo con la leyenda de simulación y un contador; adjunta su constancia. En P4 obtiene la confirmación con descarga en PDF, y en P5 consulta su historial.
P2 ya está implementada en Spring Boot y conectada a la base de datos; P3, P4 y P5 están diseñadas y son las siguientes en implementarse.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Jack.
El médico entra directamente a su agenda (P7), con vista por día o semana, filtros por estado e indicadores. Desde ahí abre el detalle de una cita (P8): ve la constancia de pago y la valida o rechaza; rechazar o cancelar exige una observación, y solo puede marcar atendida si el pago está validado.
Tiene dos reportes. El de pagos (P10) ya está implementado: filtra por período, muestra cantidad, total y ticket promedio, y exporta a Excel con Apache POI. El de citas (P9), la agenda y el detalle están diseñados y en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Jack.
Con transparencia, este es el estado frente al alcance comprometido. Las 11 pantallas tienen su diseño aprobado. En código, ya funcionan con su lógica y base de datos el login, el registro, la reserva de citas y el reporte de pagos con exportación a Excel, además de las páginas de error 403 y 404. Las siete restantes están en implementación para completar el 100 % del alcance.
Lo que sí garantizamos es la coherencia: el README es la referencia única, y el código, los scripts SQL, los diagramas y los diseños usan los mismos identificadores de pantallas, requerimientos y reglas.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Expone: Jack (con apoyo de todo el equipo en la demo).
Ahora lo vemos funcionando en localhost. Primero el flujo del paciente: registro, inicio de sesión y reserva de una cita, donde el horario queda apartado 15 minutos. Luego el médico: inicio de sesión, reporte de pagos y exportación a Excel. Por último, la seguridad: un paciente que intenta entrar a una ruta de médico recibe 403, y tras cinco intentos fallidos la cuenta se bloquea.
Para la entrega final implementaremos las pantallas P3 a P9 sobre los diseños ya aprobados, incorporaremos Commons IO y OpenPDF, completaremos las pruebas de las 14 reglas de negocio y validaremos el sistema con el Dr. Barrantes. Muchas gracias; quedamos atentos a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92024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4747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b="1" kern="0" spc="200" dirty="0">
                <a:solidFill>
                  <a:schemeClr val="accent2"/>
                </a:solidFill>
              </a:defRPr>
            </a:lvl1pPr>
          </a:lstStyle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MEDIFAST · Sustentación APF3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jpg"/><Relationship Id="rId4" Type="http://schemas.openxmlformats.org/officeDocument/2006/relationships/image" Target="../media/image25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jpg"/><Relationship Id="rId5" Type="http://schemas.openxmlformats.org/officeDocument/2006/relationships/image" Target="../media/image29.jpg"/><Relationship Id="rId4" Type="http://schemas.openxmlformats.org/officeDocument/2006/relationships/image" Target="../media/image28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jp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jpg"/><Relationship Id="rId5" Type="http://schemas.openxmlformats.org/officeDocument/2006/relationships/image" Target="../media/image33.jpg"/><Relationship Id="rId4" Type="http://schemas.openxmlformats.org/officeDocument/2006/relationships/image" Target="../media/image32.jpg"/><Relationship Id="rId9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731520"/>
            <a:ext cx="64008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08760" y="822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chemeClr val="bg1"/>
                </a:solidFill>
              </a:rPr>
              <a:t>CONSULTORIO MEDIFAST</a:t>
            </a:r>
            <a:endParaRPr lang="en-US" sz="16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920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0" b="1" dirty="0">
                <a:solidFill>
                  <a:schemeClr val="bg1"/>
                </a:solidFill>
              </a:rPr>
              <a:t>MEDIFAST</a:t>
            </a:r>
            <a:endParaRPr lang="en-US" sz="6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474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Sistema web de reserva de citas y simulación de pagos con Yape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846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FAE5"/>
                </a:solidFill>
              </a:rPr>
              <a:t>Sustentación APF3 · Curso Integrador I: Sistemas Software · UTP 2026-02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1FAE5"/>
                </a:solidFill>
              </a:rPr>
              <a:t>Docente: Segundo Edwin Cieza Mostacero</a:t>
            </a:r>
            <a:endParaRPr lang="en-US" sz="1400" dirty="0"/>
          </a:p>
        </p:txBody>
      </p:sp>
      <p:sp>
        <p:nvSpPr>
          <p:cNvPr id="7" name="team-card"/>
          <p:cNvSpPr/>
          <p:nvPr/>
        </p:nvSpPr>
        <p:spPr>
          <a:xfrm>
            <a:off x="8686800" y="1737360"/>
            <a:ext cx="2926080" cy="3566160"/>
          </a:xfrm>
          <a:prstGeom prst="roundRect">
            <a:avLst>
              <a:gd name="adj" fmla="val 4688"/>
            </a:avLst>
          </a:prstGeom>
          <a:solidFill>
            <a:srgbClr val="0A4A3E"/>
          </a:solidFill>
          <a:ln w="12700">
            <a:solidFill>
              <a:srgbClr val="0A4A3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 txBox="1"/>
          <p:nvPr/>
        </p:nvSpPr>
        <p:spPr>
          <a:xfrm>
            <a:off x="896112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0B981"/>
                </a:solidFill>
              </a:rPr>
              <a:t>EQUIPO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961120" y="23774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Jorge Linares Barrantes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D1FAE5"/>
                </a:solidFill>
              </a:rPr>
              <a:t>U23262883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961120" y="30632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Manuel Guarniz Cruz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D1FAE5"/>
                </a:solidFill>
              </a:rPr>
              <a:t>U24314208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961120" y="37490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Jennifer Angulo Leiva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D1FAE5"/>
                </a:solidFill>
              </a:rPr>
              <a:t>U24203850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961120" y="44348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Jack Hurtado Razuri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D1FAE5"/>
                </a:solidFill>
              </a:rPr>
              <a:t>U24228666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EL PROBLEMA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400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De un cuaderno y WhatsApp a una agenda web</a:t>
            </a:r>
            <a:endParaRPr lang="en-US" sz="3600" dirty="0"/>
          </a:p>
        </p:txBody>
      </p:sp>
      <p:sp>
        <p:nvSpPr>
          <p:cNvPr id="6" name="col-0"/>
          <p:cNvSpPr/>
          <p:nvPr/>
        </p:nvSpPr>
        <p:spPr>
          <a:xfrm>
            <a:off x="548640" y="164592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icon-bg"/>
          <p:cNvSpPr/>
          <p:nvPr/>
        </p:nvSpPr>
        <p:spPr>
          <a:xfrm>
            <a:off x="868680" y="1874520"/>
            <a:ext cx="594360" cy="5943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8" name="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" y="2023110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18745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Hoy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7432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Citas anotadas a mano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La agenda vive en un cuaderno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566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Disponibilidad por chat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Se coordina con cada paciente por separado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3891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Pagos por capturas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Las constancias llegan por WhatsApp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52120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Cruces de horario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Nada impide dar el mismo bloque dos veces</a:t>
            </a:r>
            <a:endParaRPr lang="en-US" sz="1700" dirty="0"/>
          </a:p>
        </p:txBody>
      </p:sp>
      <p:sp>
        <p:nvSpPr>
          <p:cNvPr id="14" name="col-1"/>
          <p:cNvSpPr/>
          <p:nvPr/>
        </p:nvSpPr>
        <p:spPr>
          <a:xfrm>
            <a:off x="6172200" y="164592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icon-bg"/>
          <p:cNvSpPr/>
          <p:nvPr/>
        </p:nvSpPr>
        <p:spPr>
          <a:xfrm>
            <a:off x="6492240" y="1874520"/>
            <a:ext cx="594360" cy="5943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6" name="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0830" y="2023110"/>
            <a:ext cx="297180" cy="2971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223760" y="18745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Con MEDIFAST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6537960" y="27432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Agenda centralizada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Pacientes y médico ven la misma información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6537960" y="3566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Horarios libres en línea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Reserva de mañana a +30 días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6537960" y="43891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Constancia adjunta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El médico valida o rechaza el pago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6537960" y="52120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Integridad en la BD</a:t>
            </a:r>
            <a:endParaRPr lang="en-US" sz="17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Un bloque, una </a:t>
            </a:r>
            <a:r>
              <a:rPr lang="en-US" sz="1400" dirty="0" err="1">
                <a:solidFill>
                  <a:schemeClr val="accent6"/>
                </a:solidFill>
              </a:rPr>
              <a:t>cita</a:t>
            </a:r>
            <a:r>
              <a:rPr lang="en-US" sz="1400" dirty="0">
                <a:solidFill>
                  <a:schemeClr val="accent6"/>
                </a:solidFill>
              </a:rPr>
              <a:t> </a:t>
            </a:r>
            <a:r>
              <a:rPr lang="en-US" sz="1400" dirty="0" err="1">
                <a:solidFill>
                  <a:schemeClr val="accent6"/>
                </a:solidFill>
              </a:rPr>
              <a:t>activa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ALCANCE COMPROMETIDO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400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Qué incluye MEDIFAST y qué queda fuera</a:t>
            </a:r>
            <a:endParaRPr lang="en-US" sz="3600" dirty="0"/>
          </a:p>
        </p:txBody>
      </p:sp>
      <p:sp>
        <p:nvSpPr>
          <p:cNvPr id="6" name="stat-0"/>
          <p:cNvSpPr/>
          <p:nvPr/>
        </p:nvSpPr>
        <p:spPr>
          <a:xfrm>
            <a:off x="548640" y="1645920"/>
            <a:ext cx="2633472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 txBox="1"/>
          <p:nvPr/>
        </p:nvSpPr>
        <p:spPr>
          <a:xfrm>
            <a:off x="822960" y="1737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2"/>
                </a:solidFill>
              </a:rPr>
              <a:t>11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146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chemeClr val="tx1"/>
                </a:solidFill>
              </a:rPr>
              <a:t>pantallas</a:t>
            </a:r>
            <a:endParaRPr lang="en-US" sz="1400" dirty="0"/>
          </a:p>
        </p:txBody>
      </p:sp>
      <p:sp>
        <p:nvSpPr>
          <p:cNvPr id="9" name="stat-1"/>
          <p:cNvSpPr/>
          <p:nvPr/>
        </p:nvSpPr>
        <p:spPr>
          <a:xfrm>
            <a:off x="3364992" y="1645920"/>
            <a:ext cx="2633472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 txBox="1"/>
          <p:nvPr/>
        </p:nvSpPr>
        <p:spPr>
          <a:xfrm>
            <a:off x="3639312" y="1737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2"/>
                </a:solidFill>
              </a:rPr>
              <a:t>16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3639312" y="25146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requerimientos</a:t>
            </a:r>
            <a:endParaRPr lang="en-US" sz="1400" dirty="0"/>
          </a:p>
          <a:p>
            <a:pPr marL="0" indent="0">
              <a:buNone/>
            </a:pPr>
            <a:r>
              <a:rPr lang="en-US" sz="1200" dirty="0" err="1">
                <a:solidFill>
                  <a:schemeClr val="accent6"/>
                </a:solidFill>
              </a:rPr>
              <a:t>funcionales</a:t>
            </a:r>
            <a:endParaRPr lang="en-US" sz="1400" dirty="0"/>
          </a:p>
        </p:txBody>
      </p:sp>
      <p:sp>
        <p:nvSpPr>
          <p:cNvPr id="12" name="stat-2"/>
          <p:cNvSpPr/>
          <p:nvPr/>
        </p:nvSpPr>
        <p:spPr>
          <a:xfrm>
            <a:off x="6181344" y="1645920"/>
            <a:ext cx="2633472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 txBox="1"/>
          <p:nvPr/>
        </p:nvSpPr>
        <p:spPr>
          <a:xfrm>
            <a:off x="6455664" y="1737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2"/>
                </a:solidFill>
              </a:rPr>
              <a:t>14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55664" y="25146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reglas de </a:t>
            </a:r>
            <a:r>
              <a:rPr lang="en-US" sz="1400" b="1" dirty="0" err="1">
                <a:solidFill>
                  <a:schemeClr val="tx1"/>
                </a:solidFill>
              </a:rPr>
              <a:t>negocio</a:t>
            </a:r>
            <a:endParaRPr lang="en-US" sz="1400" dirty="0"/>
          </a:p>
        </p:txBody>
      </p:sp>
      <p:sp>
        <p:nvSpPr>
          <p:cNvPr id="15" name="stat-3"/>
          <p:cNvSpPr/>
          <p:nvPr/>
        </p:nvSpPr>
        <p:spPr>
          <a:xfrm>
            <a:off x="8997696" y="1645920"/>
            <a:ext cx="2633472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 txBox="1"/>
          <p:nvPr/>
        </p:nvSpPr>
        <p:spPr>
          <a:xfrm>
            <a:off x="9272016" y="1737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2"/>
                </a:solidFill>
              </a:rPr>
              <a:t>2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25146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roles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paciente y médico</a:t>
            </a:r>
            <a:endParaRPr lang="en-US" sz="1400" dirty="0"/>
          </a:p>
        </p:txBody>
      </p:sp>
      <p:sp>
        <p:nvSpPr>
          <p:cNvPr id="18" name="incluye"/>
          <p:cNvSpPr/>
          <p:nvPr/>
        </p:nvSpPr>
        <p:spPr>
          <a:xfrm>
            <a:off x="548640" y="3383280"/>
            <a:ext cx="6949440" cy="27432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 txBox="1"/>
          <p:nvPr/>
        </p:nvSpPr>
        <p:spPr>
          <a:xfrm>
            <a:off x="822960" y="35204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Incluye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3977640"/>
            <a:ext cx="6492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Cuentas: </a:t>
            </a:r>
            <a:r>
              <a:rPr lang="en-US" sz="1400" dirty="0">
                <a:solidFill>
                  <a:schemeClr val="tx1"/>
                </a:solidFill>
              </a:rPr>
              <a:t>registro con DNI/CE, login por documento, perfil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Citas: </a:t>
            </a:r>
            <a:r>
              <a:rPr lang="en-US" sz="1400" dirty="0">
                <a:solidFill>
                  <a:schemeClr val="tx1"/>
                </a:solidFill>
              </a:rPr>
              <a:t>reserva con apartado de 15 min, nuevo (S/ 150) o control (S/ 80)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Pago Yape simulado: </a:t>
            </a:r>
            <a:r>
              <a:rPr lang="en-US" sz="1400" dirty="0">
                <a:solidFill>
                  <a:schemeClr val="tx1"/>
                </a:solidFill>
              </a:rPr>
              <a:t>constancia JPG/PNG/PDF ≤ 5 MB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Gestión médica: </a:t>
            </a:r>
            <a:r>
              <a:rPr lang="en-US" sz="1400" dirty="0">
                <a:solidFill>
                  <a:schemeClr val="tx1"/>
                </a:solidFill>
              </a:rPr>
              <a:t>agenda, validar/rechazar pago, atendida/no asistió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Reportes: </a:t>
            </a:r>
            <a:r>
              <a:rPr lang="en-US" sz="1400" dirty="0">
                <a:solidFill>
                  <a:schemeClr val="tx1"/>
                </a:solidFill>
              </a:rPr>
              <a:t>citas y pagos con indicadores, exportables a .xlsx</a:t>
            </a:r>
            <a:endParaRPr lang="en-US" sz="1400" dirty="0"/>
          </a:p>
        </p:txBody>
      </p:sp>
      <p:sp>
        <p:nvSpPr>
          <p:cNvPr id="21" name="fuera"/>
          <p:cNvSpPr/>
          <p:nvPr/>
        </p:nvSpPr>
        <p:spPr>
          <a:xfrm>
            <a:off x="7726680" y="3383280"/>
            <a:ext cx="3913632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 txBox="1"/>
          <p:nvPr/>
        </p:nvSpPr>
        <p:spPr>
          <a:xfrm>
            <a:off x="8001000" y="3520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Fuera del alcance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001000" y="397764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Pagos reales e integración con Yape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Historia clínica y diagnósticos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Notificaciones por correo o SMS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Cancelación o reprogramación por el paciente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Despliegue en la nube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PLANIFICACIÓN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400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Ruta de </a:t>
            </a:r>
            <a:r>
              <a:rPr lang="en-US" sz="3600" b="1" dirty="0" err="1">
                <a:solidFill>
                  <a:schemeClr val="tx1"/>
                </a:solidFill>
              </a:rPr>
              <a:t>trabajo</a:t>
            </a:r>
            <a:endParaRPr lang="en-US" sz="3600" dirty="0"/>
          </a:p>
        </p:txBody>
      </p:sp>
      <p:sp>
        <p:nvSpPr>
          <p:cNvPr id="6" name="timeline"/>
          <p:cNvSpPr/>
          <p:nvPr/>
        </p:nvSpPr>
        <p:spPr>
          <a:xfrm>
            <a:off x="1059221" y="2926080"/>
            <a:ext cx="10149840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milestone"/>
          <p:cNvSpPr/>
          <p:nvPr/>
        </p:nvSpPr>
        <p:spPr>
          <a:xfrm>
            <a:off x="876341" y="2697480"/>
            <a:ext cx="457200" cy="45720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 txBox="1"/>
          <p:nvPr/>
        </p:nvSpPr>
        <p:spPr>
          <a:xfrm>
            <a:off x="876341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APF1</a:t>
            </a:r>
            <a:endParaRPr lang="en-US" sz="1400" dirty="0"/>
          </a:p>
        </p:txBody>
      </p:sp>
      <p:sp>
        <p:nvSpPr>
          <p:cNvPr id="9" name="ms-APF1"/>
          <p:cNvSpPr/>
          <p:nvPr/>
        </p:nvSpPr>
        <p:spPr>
          <a:xfrm>
            <a:off x="602021" y="3429000"/>
            <a:ext cx="2633472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 txBox="1"/>
          <p:nvPr/>
        </p:nvSpPr>
        <p:spPr>
          <a:xfrm>
            <a:off x="830621" y="356616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Análisis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Contexto del consultorio, entrevista al Dr. Barrantes, procesos y necesidades</a:t>
            </a:r>
            <a:endParaRPr lang="en-US" sz="2000" dirty="0"/>
          </a:p>
        </p:txBody>
      </p:sp>
      <p:sp>
        <p:nvSpPr>
          <p:cNvPr id="11" name="milestone"/>
          <p:cNvSpPr/>
          <p:nvPr/>
        </p:nvSpPr>
        <p:spPr>
          <a:xfrm>
            <a:off x="3692693" y="2697480"/>
            <a:ext cx="457200" cy="45720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 txBox="1"/>
          <p:nvPr/>
        </p:nvSpPr>
        <p:spPr>
          <a:xfrm>
            <a:off x="3692693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APF2</a:t>
            </a:r>
            <a:endParaRPr lang="en-US" sz="1400" dirty="0"/>
          </a:p>
        </p:txBody>
      </p:sp>
      <p:sp>
        <p:nvSpPr>
          <p:cNvPr id="13" name="ms-APF2"/>
          <p:cNvSpPr/>
          <p:nvPr/>
        </p:nvSpPr>
        <p:spPr>
          <a:xfrm>
            <a:off x="3418373" y="3429000"/>
            <a:ext cx="2633472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 txBox="1"/>
          <p:nvPr/>
        </p:nvSpPr>
        <p:spPr>
          <a:xfrm>
            <a:off x="3646973" y="356616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Diseño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Requerimientos, modelo lógico, arquitectura y prototipo UX/UI</a:t>
            </a:r>
            <a:endParaRPr lang="en-US" sz="2000" dirty="0"/>
          </a:p>
        </p:txBody>
      </p:sp>
      <p:sp>
        <p:nvSpPr>
          <p:cNvPr id="15" name="milestone"/>
          <p:cNvSpPr/>
          <p:nvPr/>
        </p:nvSpPr>
        <p:spPr>
          <a:xfrm>
            <a:off x="6509045" y="2697480"/>
            <a:ext cx="457200" cy="45720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 txBox="1"/>
          <p:nvPr/>
        </p:nvSpPr>
        <p:spPr>
          <a:xfrm>
            <a:off x="6509045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APF3</a:t>
            </a:r>
            <a:endParaRPr lang="en-US" sz="1400" dirty="0"/>
          </a:p>
        </p:txBody>
      </p:sp>
      <p:sp>
        <p:nvSpPr>
          <p:cNvPr id="17" name="ms-APF3"/>
          <p:cNvSpPr/>
          <p:nvPr/>
        </p:nvSpPr>
        <p:spPr>
          <a:xfrm>
            <a:off x="6234725" y="3429000"/>
            <a:ext cx="2633472" cy="164592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chemeClr val="accent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 txBox="1"/>
          <p:nvPr/>
        </p:nvSpPr>
        <p:spPr>
          <a:xfrm>
            <a:off x="6463325" y="356616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Construcción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Arquitectura inicial, librerías, seguridad, pantallas y pruebas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057685" y="2743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Estamos aquí</a:t>
            </a:r>
            <a:endParaRPr lang="en-US" sz="1200" dirty="0"/>
          </a:p>
        </p:txBody>
      </p:sp>
      <p:sp>
        <p:nvSpPr>
          <p:cNvPr id="20" name="milestone"/>
          <p:cNvSpPr/>
          <p:nvPr/>
        </p:nvSpPr>
        <p:spPr>
          <a:xfrm>
            <a:off x="9325397" y="26974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 txBox="1"/>
          <p:nvPr/>
        </p:nvSpPr>
        <p:spPr>
          <a:xfrm>
            <a:off x="9325397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Final</a:t>
            </a:r>
            <a:endParaRPr lang="en-US" sz="1400" dirty="0"/>
          </a:p>
        </p:txBody>
      </p:sp>
      <p:sp>
        <p:nvSpPr>
          <p:cNvPr id="22" name="ms-Final"/>
          <p:cNvSpPr/>
          <p:nvPr/>
        </p:nvSpPr>
        <p:spPr>
          <a:xfrm>
            <a:off x="9051077" y="3429000"/>
            <a:ext cx="2633472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 txBox="1"/>
          <p:nvPr/>
        </p:nvSpPr>
        <p:spPr>
          <a:xfrm>
            <a:off x="9279677" y="356616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Cierre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Alcance al 100 %, usabilidad, validación del cliente y manual</a:t>
            </a:r>
            <a:endParaRPr lang="en-US" sz="20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ARQUITECTURA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400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Spring Boot en capas: MVC + DAO</a:t>
            </a:r>
            <a:endParaRPr lang="en-US" sz="3600" dirty="0"/>
          </a:p>
        </p:txBody>
      </p:sp>
      <p:sp>
        <p:nvSpPr>
          <p:cNvPr id="6" name="layer-0"/>
          <p:cNvSpPr/>
          <p:nvPr/>
        </p:nvSpPr>
        <p:spPr>
          <a:xfrm>
            <a:off x="548640" y="1600200"/>
            <a:ext cx="6766560" cy="658368"/>
          </a:xfrm>
          <a:prstGeom prst="roundRect">
            <a:avLst>
              <a:gd name="adj" fmla="val 1388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7" name="layer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73936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60020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Navegador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Paciente / Médico</a:t>
            </a:r>
            <a:endParaRPr lang="en-US" sz="1600" dirty="0"/>
          </a:p>
        </p:txBody>
      </p:sp>
      <p:sp>
        <p:nvSpPr>
          <p:cNvPr id="9" name="layer-1"/>
          <p:cNvSpPr/>
          <p:nvPr/>
        </p:nvSpPr>
        <p:spPr>
          <a:xfrm>
            <a:off x="548640" y="2368296"/>
            <a:ext cx="6766560" cy="658368"/>
          </a:xfrm>
          <a:prstGeom prst="round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0" name="layer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542032"/>
            <a:ext cx="310896" cy="31089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236829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Spring Security</a:t>
            </a:r>
            <a:endParaRPr lang="en-US" sz="1600" dirty="0"/>
          </a:p>
          <a:p>
            <a:pPr marL="0" indent="0">
              <a:buNone/>
            </a:pPr>
            <a:r>
              <a:rPr lang="en-US" sz="1200" dirty="0" err="1">
                <a:solidFill>
                  <a:schemeClr val="accent6"/>
                </a:solidFill>
              </a:rPr>
              <a:t>Inicio</a:t>
            </a:r>
            <a:r>
              <a:rPr lang="en-US" sz="1200" dirty="0">
                <a:solidFill>
                  <a:schemeClr val="accent6"/>
                </a:solidFill>
              </a:rPr>
              <a:t> de </a:t>
            </a:r>
            <a:r>
              <a:rPr lang="en-US" sz="1200" dirty="0" err="1">
                <a:solidFill>
                  <a:schemeClr val="accent6"/>
                </a:solidFill>
              </a:rPr>
              <a:t>sesión</a:t>
            </a:r>
            <a:r>
              <a:rPr lang="en-US" sz="1200" dirty="0">
                <a:solidFill>
                  <a:schemeClr val="accent6"/>
                </a:solidFill>
              </a:rPr>
              <a:t> por documento · roles · </a:t>
            </a:r>
            <a:r>
              <a:rPr lang="en-US" sz="1200" dirty="0" err="1">
                <a:solidFill>
                  <a:schemeClr val="accent6"/>
                </a:solidFill>
              </a:rPr>
              <a:t>bcrypt</a:t>
            </a:r>
            <a:endParaRPr lang="en-US" sz="1600" dirty="0"/>
          </a:p>
        </p:txBody>
      </p:sp>
      <p:sp>
        <p:nvSpPr>
          <p:cNvPr id="12" name="layer-2"/>
          <p:cNvSpPr/>
          <p:nvPr/>
        </p:nvSpPr>
        <p:spPr>
          <a:xfrm>
            <a:off x="548640" y="3136392"/>
            <a:ext cx="6766560" cy="658368"/>
          </a:xfrm>
          <a:prstGeom prst="roundRect">
            <a:avLst>
              <a:gd name="adj" fmla="val 13889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3" name="layer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310128"/>
            <a:ext cx="310896" cy="31089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136392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Controladores (Spring MVC)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AuthController · ReservaController · ReporteController</a:t>
            </a:r>
            <a:endParaRPr lang="en-US" sz="1600" dirty="0"/>
          </a:p>
        </p:txBody>
      </p:sp>
      <p:sp>
        <p:nvSpPr>
          <p:cNvPr id="15" name="layer-3"/>
          <p:cNvSpPr/>
          <p:nvPr/>
        </p:nvSpPr>
        <p:spPr>
          <a:xfrm>
            <a:off x="548640" y="3904488"/>
            <a:ext cx="6766560" cy="658368"/>
          </a:xfrm>
          <a:prstGeom prst="roundRect">
            <a:avLst>
              <a:gd name="adj" fmla="val 13889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6" name="layer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07822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3904488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Servicios (interfaces + impl/)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PacienteService · ReservaService · ReporteService · MedicoService</a:t>
            </a:r>
            <a:endParaRPr lang="en-US" sz="1600" dirty="0"/>
          </a:p>
        </p:txBody>
      </p:sp>
      <p:sp>
        <p:nvSpPr>
          <p:cNvPr id="18" name="layer-4"/>
          <p:cNvSpPr/>
          <p:nvPr/>
        </p:nvSpPr>
        <p:spPr>
          <a:xfrm>
            <a:off x="548640" y="4672584"/>
            <a:ext cx="6766560" cy="658368"/>
          </a:xfrm>
          <a:prstGeom prst="roundRect">
            <a:avLst>
              <a:gd name="adj" fmla="val 13889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9" name="layer-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46320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80160" y="4672584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DAO (Spring Data JPA)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11 interfaces *Dao: Usuario, Paciente, Cita, Pago, Horario…</a:t>
            </a:r>
            <a:endParaRPr lang="en-US" sz="1600" dirty="0"/>
          </a:p>
        </p:txBody>
      </p:sp>
      <p:sp>
        <p:nvSpPr>
          <p:cNvPr id="21" name="layer-5"/>
          <p:cNvSpPr/>
          <p:nvPr/>
        </p:nvSpPr>
        <p:spPr>
          <a:xfrm>
            <a:off x="548640" y="5440680"/>
            <a:ext cx="6766560" cy="658368"/>
          </a:xfrm>
          <a:prstGeom prst="roundRect">
            <a:avLst>
              <a:gd name="adj" fmla="val 1388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2" name="layer-icon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614416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280160" y="544068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MySQL 8.4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Restricciones únicas + eventos (vencimiento 15 min)</a:t>
            </a:r>
            <a:endParaRPr lang="en-US" sz="1600" dirty="0"/>
          </a:p>
        </p:txBody>
      </p:sp>
      <p:sp>
        <p:nvSpPr>
          <p:cNvPr id="24" name="vistas"/>
          <p:cNvSpPr/>
          <p:nvPr/>
        </p:nvSpPr>
        <p:spPr>
          <a:xfrm>
            <a:off x="7635240" y="1600200"/>
            <a:ext cx="4005072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25" name="icon-bg"/>
          <p:cNvSpPr/>
          <p:nvPr/>
        </p:nvSpPr>
        <p:spPr>
          <a:xfrm>
            <a:off x="7863840" y="178308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6" name="icon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9570" y="1908810"/>
            <a:ext cx="251460" cy="2514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503920" y="17830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Vistas Thymeleaf</a:t>
            </a:r>
            <a:endParaRPr lang="en-US" sz="1800" dirty="0"/>
          </a:p>
        </p:txBody>
      </p:sp>
      <p:sp>
        <p:nvSpPr>
          <p:cNvPr id="28" name="Text 19"/>
          <p:cNvSpPr txBox="1"/>
          <p:nvPr/>
        </p:nvSpPr>
        <p:spPr>
          <a:xfrm>
            <a:off x="7863840" y="23774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El controlador arma el modelo y la plantilla lo muestra: </a:t>
            </a:r>
            <a:r>
              <a:rPr lang="en-US" sz="1400" dirty="0" err="1">
                <a:solidFill>
                  <a:schemeClr val="accent6"/>
                </a:solidFill>
              </a:rPr>
              <a:t>inicio</a:t>
            </a:r>
            <a:r>
              <a:rPr lang="en-US" sz="1400" dirty="0">
                <a:solidFill>
                  <a:schemeClr val="accent6"/>
                </a:solidFill>
              </a:rPr>
              <a:t> de </a:t>
            </a:r>
            <a:r>
              <a:rPr lang="en-US" sz="1400" dirty="0" err="1">
                <a:solidFill>
                  <a:schemeClr val="accent6"/>
                </a:solidFill>
              </a:rPr>
              <a:t>sesión</a:t>
            </a:r>
            <a:r>
              <a:rPr lang="en-US" sz="1400" dirty="0">
                <a:solidFill>
                  <a:schemeClr val="accent6"/>
                </a:solidFill>
              </a:rPr>
              <a:t>, registro, reservar, reporte de pagos, errores 403/404.</a:t>
            </a:r>
            <a:endParaRPr lang="en-US" sz="1400" dirty="0"/>
          </a:p>
        </p:txBody>
      </p:sp>
      <p:sp>
        <p:nvSpPr>
          <p:cNvPr id="29" name="transversal"/>
          <p:cNvSpPr/>
          <p:nvPr/>
        </p:nvSpPr>
        <p:spPr>
          <a:xfrm>
            <a:off x="7635240" y="3794760"/>
            <a:ext cx="4005072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30" name="icon-bg"/>
          <p:cNvSpPr/>
          <p:nvPr/>
        </p:nvSpPr>
        <p:spPr>
          <a:xfrm>
            <a:off x="7863840" y="397764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31" name="icon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89570" y="4103370"/>
            <a:ext cx="251460" cy="2514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8503920" y="3977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Transversal (util/)</a:t>
            </a:r>
            <a:endParaRPr lang="en-US" sz="1800" dirty="0"/>
          </a:p>
        </p:txBody>
      </p:sp>
      <p:sp>
        <p:nvSpPr>
          <p:cNvPr id="33" name="Text 23"/>
          <p:cNvSpPr txBox="1"/>
          <p:nvPr/>
        </p:nvSpPr>
        <p:spPr>
          <a:xfrm>
            <a:off x="7863840" y="457200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ExcelExportador (Apache POI)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Auditoria + Logback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Enmascarador de datos sensibles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PRINCIPIOS APLICADOS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400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MVC, DAO, SOLID y TDD en el código</a:t>
            </a:r>
            <a:endParaRPr lang="en-US" sz="3600" dirty="0"/>
          </a:p>
        </p:txBody>
      </p:sp>
      <p:sp>
        <p:nvSpPr>
          <p:cNvPr id="6" name="principio-MVC"/>
          <p:cNvSpPr/>
          <p:nvPr/>
        </p:nvSpPr>
        <p:spPr>
          <a:xfrm>
            <a:off x="54864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7" name="icon-bg"/>
          <p:cNvSpPr/>
          <p:nvPr/>
        </p:nvSpPr>
        <p:spPr>
          <a:xfrm>
            <a:off x="822960" y="1920240"/>
            <a:ext cx="594360" cy="59436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8" name="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" y="2068830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192024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MVC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06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Modelo: entidades JPA y DTO. Vista: plantillas Thymeleaf. Controlador: @Controller delgado que delega.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37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dto/ · templates/ · controller/</a:t>
            </a:r>
            <a:endParaRPr lang="en-US" sz="1100" dirty="0"/>
          </a:p>
        </p:txBody>
      </p:sp>
      <p:sp>
        <p:nvSpPr>
          <p:cNvPr id="12" name="principio-DAO"/>
          <p:cNvSpPr/>
          <p:nvPr/>
        </p:nvSpPr>
        <p:spPr>
          <a:xfrm>
            <a:off x="617220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3" name="icon-bg"/>
          <p:cNvSpPr/>
          <p:nvPr/>
        </p:nvSpPr>
        <p:spPr>
          <a:xfrm>
            <a:off x="6446520" y="1920240"/>
            <a:ext cx="594360" cy="59436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4" name="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5110" y="2068830"/>
            <a:ext cx="297180" cy="2971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23760" y="192024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DAO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606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11 interfaces *Dao que extienden JpaRepository, con @Query propias para disponibilidad y reportes.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3337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dao/CitaDao · dao/PagoDao · dao/VistaCitaDao</a:t>
            </a:r>
            <a:endParaRPr lang="en-US" sz="1100" dirty="0"/>
          </a:p>
        </p:txBody>
      </p:sp>
      <p:sp>
        <p:nvSpPr>
          <p:cNvPr id="18" name="principio-SOLID"/>
          <p:cNvSpPr/>
          <p:nvPr/>
        </p:nvSpPr>
        <p:spPr>
          <a:xfrm>
            <a:off x="54864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9" name="icon-bg"/>
          <p:cNvSpPr/>
          <p:nvPr/>
        </p:nvSpPr>
        <p:spPr>
          <a:xfrm>
            <a:off x="822960" y="4206240"/>
            <a:ext cx="594360" cy="59436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0" name="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" y="4354830"/>
            <a:ext cx="297180" cy="2971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600200" y="420624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SOLID</a:t>
            </a:r>
            <a:endParaRPr lang="en-US" sz="24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" y="4892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ExportadorReporte es una abstracción: el reporte no depende de POI (O, D). Un servicio por responsabilidad (S). Inyección por constructor.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22960" y="5623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service/ExportadorReporte · util/ExcelExportador</a:t>
            </a:r>
            <a:endParaRPr lang="en-US" sz="1100" dirty="0"/>
          </a:p>
        </p:txBody>
      </p:sp>
      <p:sp>
        <p:nvSpPr>
          <p:cNvPr id="24" name="principio-TDD"/>
          <p:cNvSpPr/>
          <p:nvPr/>
        </p:nvSpPr>
        <p:spPr>
          <a:xfrm>
            <a:off x="617220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25" name="icon-bg"/>
          <p:cNvSpPr/>
          <p:nvPr/>
        </p:nvSpPr>
        <p:spPr>
          <a:xfrm>
            <a:off x="6446520" y="4206240"/>
            <a:ext cx="594360" cy="59436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6" name="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5110" y="4354830"/>
            <a:ext cx="297180" cy="2971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223760" y="420624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TDD</a:t>
            </a:r>
            <a:endParaRPr lang="en-US" sz="2400" dirty="0"/>
          </a:p>
        </p:txBody>
      </p:sp>
      <p:sp>
        <p:nvSpPr>
          <p:cNvPr id="28" name="Text 22"/>
          <p:cNvSpPr txBox="1"/>
          <p:nvPr/>
        </p:nvSpPr>
        <p:spPr>
          <a:xfrm>
            <a:off x="6446520" y="4892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JUnit 5 + Mockito sobre reglas de negocio, controladores, seguridad y validaciones: 70 pruebas en 12 clases.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6446520" y="5623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src/test/java/ · JaCoCo</a:t>
            </a:r>
            <a:endParaRPr lang="en-US" sz="11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CONTROL DE VERSIONES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400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Git y GitHub: cada avance queda registrado</a:t>
            </a:r>
            <a:endParaRPr lang="en-US" sz="3600" dirty="0"/>
          </a:p>
        </p:txBody>
      </p:sp>
      <p:sp>
        <p:nvSpPr>
          <p:cNvPr id="6" name="git-stat-0"/>
          <p:cNvSpPr/>
          <p:nvPr/>
        </p:nvSpPr>
        <p:spPr>
          <a:xfrm>
            <a:off x="548640" y="1645920"/>
            <a:ext cx="310896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 txBox="1"/>
          <p:nvPr/>
        </p:nvSpPr>
        <p:spPr>
          <a:xfrm>
            <a:off x="822960" y="17373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2"/>
                </a:solidFill>
              </a:rPr>
              <a:t>79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871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commits en main</a:t>
            </a:r>
            <a:endParaRPr lang="en-US" sz="1400" dirty="0"/>
          </a:p>
        </p:txBody>
      </p:sp>
      <p:sp>
        <p:nvSpPr>
          <p:cNvPr id="9" name="git-stat-1"/>
          <p:cNvSpPr/>
          <p:nvPr/>
        </p:nvSpPr>
        <p:spPr>
          <a:xfrm>
            <a:off x="548640" y="3154680"/>
            <a:ext cx="310896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 txBox="1"/>
          <p:nvPr/>
        </p:nvSpPr>
        <p:spPr>
          <a:xfrm>
            <a:off x="822960" y="32461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2"/>
                </a:solidFill>
              </a:rPr>
              <a:t>21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959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pull requests</a:t>
            </a:r>
            <a:endParaRPr lang="en-US" sz="1400" dirty="0"/>
          </a:p>
        </p:txBody>
      </p:sp>
      <p:sp>
        <p:nvSpPr>
          <p:cNvPr id="12" name="git-stat-2"/>
          <p:cNvSpPr/>
          <p:nvPr/>
        </p:nvSpPr>
        <p:spPr>
          <a:xfrm>
            <a:off x="548640" y="4663440"/>
            <a:ext cx="310896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 txBox="1"/>
          <p:nvPr/>
        </p:nvSpPr>
        <p:spPr>
          <a:xfrm>
            <a:off x="822960" y="47548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2"/>
                </a:solidFill>
              </a:rPr>
              <a:t>17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PR integrados</a:t>
            </a:r>
            <a:endParaRPr lang="en-US" sz="1400" dirty="0"/>
          </a:p>
        </p:txBody>
      </p:sp>
      <p:sp>
        <p:nvSpPr>
          <p:cNvPr id="15" name="flujo"/>
          <p:cNvSpPr/>
          <p:nvPr/>
        </p:nvSpPr>
        <p:spPr>
          <a:xfrm>
            <a:off x="3931920" y="1645920"/>
            <a:ext cx="7708392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 txBox="1"/>
          <p:nvPr/>
        </p:nvSpPr>
        <p:spPr>
          <a:xfrm>
            <a:off x="4206240" y="1783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Flujo de trabajo</a:t>
            </a:r>
            <a:endParaRPr lang="en-US" sz="1800" dirty="0"/>
          </a:p>
        </p:txBody>
      </p:sp>
      <p:sp>
        <p:nvSpPr>
          <p:cNvPr id="17" name="icon-bg"/>
          <p:cNvSpPr/>
          <p:nvPr/>
        </p:nvSpPr>
        <p:spPr>
          <a:xfrm>
            <a:off x="4663440" y="2286000"/>
            <a:ext cx="548640" cy="5486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8" name="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423160"/>
            <a:ext cx="274320" cy="2743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4206240" y="29260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Rama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feature/reporte-pagos</a:t>
            </a:r>
            <a:endParaRPr lang="en-US" sz="1400" dirty="0"/>
          </a:p>
        </p:txBody>
      </p:sp>
      <p:sp>
        <p:nvSpPr>
          <p:cNvPr id="20" name="arrow"/>
          <p:cNvSpPr/>
          <p:nvPr/>
        </p:nvSpPr>
        <p:spPr>
          <a:xfrm>
            <a:off x="5440680" y="2450592"/>
            <a:ext cx="411480" cy="228600"/>
          </a:xfrm>
          <a:prstGeom prst="rightArrow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icon-bg"/>
          <p:cNvSpPr/>
          <p:nvPr/>
        </p:nvSpPr>
        <p:spPr>
          <a:xfrm>
            <a:off x="6537960" y="2286000"/>
            <a:ext cx="548640" cy="5486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2" name="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42316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080760" y="29260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Commits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cambios pequeños</a:t>
            </a:r>
            <a:endParaRPr lang="en-US" sz="1400" dirty="0"/>
          </a:p>
        </p:txBody>
      </p:sp>
      <p:sp>
        <p:nvSpPr>
          <p:cNvPr id="24" name="arrow"/>
          <p:cNvSpPr/>
          <p:nvPr/>
        </p:nvSpPr>
        <p:spPr>
          <a:xfrm>
            <a:off x="7315200" y="2450592"/>
            <a:ext cx="411480" cy="228600"/>
          </a:xfrm>
          <a:prstGeom prst="rightArrow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icon-bg"/>
          <p:cNvSpPr/>
          <p:nvPr/>
        </p:nvSpPr>
        <p:spPr>
          <a:xfrm>
            <a:off x="8412480" y="2286000"/>
            <a:ext cx="548640" cy="5486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6" name="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9640" y="2423160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955280" y="29260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Pull request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revisión del equipo</a:t>
            </a:r>
            <a:endParaRPr lang="en-US" sz="1400" dirty="0"/>
          </a:p>
        </p:txBody>
      </p:sp>
      <p:sp>
        <p:nvSpPr>
          <p:cNvPr id="28" name="arrow"/>
          <p:cNvSpPr/>
          <p:nvPr/>
        </p:nvSpPr>
        <p:spPr>
          <a:xfrm>
            <a:off x="9189720" y="2450592"/>
            <a:ext cx="411480" cy="228600"/>
          </a:xfrm>
          <a:prstGeom prst="rightArrow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icon-bg"/>
          <p:cNvSpPr/>
          <p:nvPr/>
        </p:nvSpPr>
        <p:spPr>
          <a:xfrm>
            <a:off x="10287000" y="2286000"/>
            <a:ext cx="548640" cy="5486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30" name="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2423160"/>
            <a:ext cx="274320" cy="27432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829800" y="29260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main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versión integrada</a:t>
            </a:r>
            <a:endParaRPr lang="en-US" sz="1400" dirty="0"/>
          </a:p>
        </p:txBody>
      </p:sp>
      <p:sp>
        <p:nvSpPr>
          <p:cNvPr id="32" name="versionado"/>
          <p:cNvSpPr/>
          <p:nvPr/>
        </p:nvSpPr>
        <p:spPr>
          <a:xfrm>
            <a:off x="3931920" y="4023360"/>
            <a:ext cx="770839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27"/>
          <p:cNvSpPr txBox="1"/>
          <p:nvPr/>
        </p:nvSpPr>
        <p:spPr>
          <a:xfrm>
            <a:off x="4206240" y="41605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Qué versionamos</a:t>
            </a:r>
            <a:endParaRPr lang="en-US" sz="1800" dirty="0"/>
          </a:p>
        </p:txBody>
      </p:sp>
      <p:sp>
        <p:nvSpPr>
          <p:cNvPr id="34" name="Text 28"/>
          <p:cNvSpPr txBox="1"/>
          <p:nvPr/>
        </p:nvSpPr>
        <p:spPr>
          <a:xfrm>
            <a:off x="4206240" y="46177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Código Spring Boot y pruebas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Scripts SQL: esquema, datos y consultas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Diagramas funcionales y técnicos (Mermaid)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7955280" y="461772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Bitácora de diseño: prompts y capturas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README como fuente única de verdad</a:t>
            </a:r>
            <a:endParaRPr lang="en-US" sz="14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SEGURIDAD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400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Datos del paciente protegidos en cada capa</a:t>
            </a:r>
            <a:endParaRPr lang="en-US" sz="3600" dirty="0"/>
          </a:p>
        </p:txBody>
      </p:sp>
      <p:sp>
        <p:nvSpPr>
          <p:cNvPr id="6" name="seg-0"/>
          <p:cNvSpPr/>
          <p:nvPr/>
        </p:nvSpPr>
        <p:spPr>
          <a:xfrm>
            <a:off x="548640" y="164592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7" name="icon-bg"/>
          <p:cNvSpPr/>
          <p:nvPr/>
        </p:nvSpPr>
        <p:spPr>
          <a:xfrm>
            <a:off x="822960" y="1993392"/>
            <a:ext cx="640080" cy="64008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8" name="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2153412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8308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Contraseñas con bcrypt</a:t>
            </a:r>
            <a:endParaRPr lang="en-US" sz="17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BCryptPasswordEncoder con factor 10; nunca se guardan en texto plano</a:t>
            </a:r>
            <a:endParaRPr lang="en-US" sz="1700" dirty="0"/>
          </a:p>
        </p:txBody>
      </p:sp>
      <p:sp>
        <p:nvSpPr>
          <p:cNvPr id="10" name="seg-1"/>
          <p:cNvSpPr/>
          <p:nvPr/>
        </p:nvSpPr>
        <p:spPr>
          <a:xfrm>
            <a:off x="6172200" y="164592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1" name="icon-bg"/>
          <p:cNvSpPr/>
          <p:nvPr/>
        </p:nvSpPr>
        <p:spPr>
          <a:xfrm>
            <a:off x="6446520" y="1993392"/>
            <a:ext cx="640080" cy="64008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2" name="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215341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69480" y="178308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Acceso por rol</a:t>
            </a:r>
            <a:endParaRPr lang="en-US" sz="17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/paciente/** exige PACIENTE y /medico/** exige MEDICO; cada rol llega a su pantalla</a:t>
            </a:r>
            <a:endParaRPr lang="en-US" sz="1700" dirty="0"/>
          </a:p>
        </p:txBody>
      </p:sp>
      <p:sp>
        <p:nvSpPr>
          <p:cNvPr id="14" name="seg-2"/>
          <p:cNvSpPr/>
          <p:nvPr/>
        </p:nvSpPr>
        <p:spPr>
          <a:xfrm>
            <a:off x="548640" y="315468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5" name="icon-bg"/>
          <p:cNvSpPr/>
          <p:nvPr/>
        </p:nvSpPr>
        <p:spPr>
          <a:xfrm>
            <a:off x="822960" y="3502152"/>
            <a:ext cx="640080" cy="64008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16" name="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3662172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45920" y="329184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Bloqueo por intentos</a:t>
            </a:r>
            <a:endParaRPr lang="en-US" sz="17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5 intentos fallidos bloquean la cuenta 15 min (caché de Guava)</a:t>
            </a:r>
            <a:endParaRPr lang="en-US" sz="1700" dirty="0"/>
          </a:p>
        </p:txBody>
      </p:sp>
      <p:sp>
        <p:nvSpPr>
          <p:cNvPr id="18" name="seg-3"/>
          <p:cNvSpPr/>
          <p:nvPr/>
        </p:nvSpPr>
        <p:spPr>
          <a:xfrm>
            <a:off x="6172200" y="315468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9" name="icon-bg"/>
          <p:cNvSpPr/>
          <p:nvPr/>
        </p:nvSpPr>
        <p:spPr>
          <a:xfrm>
            <a:off x="6446520" y="3502152"/>
            <a:ext cx="640080" cy="64008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0" name="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540" y="3662172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69480" y="329184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CSRF y validación en servidor</a:t>
            </a:r>
            <a:endParaRPr lang="en-US" sz="17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Token CSRF en formularios y Bean Validation con validadores propios (DNI/CE)</a:t>
            </a:r>
            <a:endParaRPr lang="en-US" sz="1700" dirty="0"/>
          </a:p>
        </p:txBody>
      </p:sp>
      <p:sp>
        <p:nvSpPr>
          <p:cNvPr id="22" name="seg-4"/>
          <p:cNvSpPr/>
          <p:nvPr/>
        </p:nvSpPr>
        <p:spPr>
          <a:xfrm>
            <a:off x="548640" y="466344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23" name="icon-bg"/>
          <p:cNvSpPr/>
          <p:nvPr/>
        </p:nvSpPr>
        <p:spPr>
          <a:xfrm>
            <a:off x="822960" y="5010912"/>
            <a:ext cx="640080" cy="64008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4" name="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980" y="5170932"/>
            <a:ext cx="320040" cy="3200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45920" y="480060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Logs sin datos sensibles</a:t>
            </a:r>
            <a:endParaRPr lang="en-US" sz="17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Logback enmascara documentos, celulares y correos en todos los registros</a:t>
            </a:r>
            <a:endParaRPr lang="en-US" sz="1700" dirty="0"/>
          </a:p>
        </p:txBody>
      </p:sp>
      <p:sp>
        <p:nvSpPr>
          <p:cNvPr id="26" name="seg-5"/>
          <p:cNvSpPr/>
          <p:nvPr/>
        </p:nvSpPr>
        <p:spPr>
          <a:xfrm>
            <a:off x="6172200" y="4663440"/>
            <a:ext cx="544068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27" name="icon-bg"/>
          <p:cNvSpPr/>
          <p:nvPr/>
        </p:nvSpPr>
        <p:spPr>
          <a:xfrm>
            <a:off x="6446520" y="5010912"/>
            <a:ext cx="640080" cy="64008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8" name="icon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06540" y="5170932"/>
            <a:ext cx="320040" cy="3200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269480" y="480060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Consultas parametrizadas</a:t>
            </a:r>
            <a:endParaRPr lang="en-US" sz="17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Spring Data JPA evita la inyección SQL; reglas críticas como restricciones de la BD</a:t>
            </a:r>
            <a:endParaRPr lang="en-US" sz="17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LIBRERÍAS DE APOYO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400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Cada librería tiene un uso concreto en el código</a:t>
            </a:r>
            <a:endParaRPr lang="en-US" sz="3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968496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Librería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Dónde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Para qué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Estado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Google Guava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IntentosLoginService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Caché con expiración para contar intentos de login y bloquear 15 min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En uso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Apache Commons Lang3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RegistroDto, Enmascarador, Auditoria…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StringUtils para normalizar nombres y documentos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En uso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Apache POI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ExcelExportador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Exportar el reporte de pagos a .xlsx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En uso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Logback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logback-spring.xml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Consola + archivo rotativo + log de auditoría con datos enmascarados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En uso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Apache Commons IO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AlmacenamientoLocal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Guardar constancias de pago de forma segura (P3)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92400E"/>
                          </a:solidFill>
                        </a:rPr>
                        <a:t>Pendiente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OpenPDF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ConfirmacionPdfService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PDF de confirmación de la cita (P4)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92400E"/>
                          </a:solidFill>
                        </a:rPr>
                        <a:t>Pendiente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Las dependencias pendientes ya están declaradas en pom.xml; su uso entra con las pantallas P3 y P4.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PRUEBAS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400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70 pruebas automatizadas en verde</a:t>
            </a:r>
            <a:endParaRPr lang="en-US" sz="3600" dirty="0"/>
          </a:p>
        </p:txBody>
      </p:sp>
      <p:sp>
        <p:nvSpPr>
          <p:cNvPr id="6" name="test-stat-0"/>
          <p:cNvSpPr/>
          <p:nvPr/>
        </p:nvSpPr>
        <p:spPr>
          <a:xfrm>
            <a:off x="548640" y="1645920"/>
            <a:ext cx="365760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 txBox="1"/>
          <p:nvPr/>
        </p:nvSpPr>
        <p:spPr>
          <a:xfrm>
            <a:off x="777240" y="1737360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2"/>
                </a:solidFill>
              </a:rPr>
              <a:t>70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17373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pruebas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0 fallas · ./mvnw test</a:t>
            </a:r>
            <a:endParaRPr lang="en-US" sz="1500" dirty="0"/>
          </a:p>
        </p:txBody>
      </p:sp>
      <p:sp>
        <p:nvSpPr>
          <p:cNvPr id="9" name="test-stat-1"/>
          <p:cNvSpPr/>
          <p:nvPr/>
        </p:nvSpPr>
        <p:spPr>
          <a:xfrm>
            <a:off x="548640" y="3154680"/>
            <a:ext cx="365760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 txBox="1"/>
          <p:nvPr/>
        </p:nvSpPr>
        <p:spPr>
          <a:xfrm>
            <a:off x="777240" y="3246120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2"/>
                </a:solidFill>
              </a:rPr>
              <a:t>70 %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24612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cobertura total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JaCoCo, instrucciones</a:t>
            </a:r>
            <a:endParaRPr lang="en-US" sz="1500" dirty="0"/>
          </a:p>
        </p:txBody>
      </p:sp>
      <p:sp>
        <p:nvSpPr>
          <p:cNvPr id="12" name="test-stat-2"/>
          <p:cNvSpPr/>
          <p:nvPr/>
        </p:nvSpPr>
        <p:spPr>
          <a:xfrm>
            <a:off x="548640" y="4663440"/>
            <a:ext cx="3657600" cy="1325880"/>
          </a:xfrm>
          <a:prstGeom prst="roundRect">
            <a:avLst>
              <a:gd name="adj" fmla="val 8276"/>
            </a:avLst>
          </a:prstGeom>
          <a:solidFill>
            <a:srgbClr val="ECFDF5"/>
          </a:solidFill>
          <a:ln w="12700">
            <a:solidFill>
              <a:schemeClr val="accent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 txBox="1"/>
          <p:nvPr/>
        </p:nvSpPr>
        <p:spPr>
          <a:xfrm>
            <a:off x="777240" y="4754880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tx2"/>
                </a:solidFill>
              </a:rPr>
              <a:t>79 %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475488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cobertura en servicios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meta: ≥ 60 %</a:t>
            </a:r>
            <a:endParaRPr lang="en-US" sz="1500" dirty="0"/>
          </a:p>
        </p:txBody>
      </p:sp>
      <p:sp>
        <p:nvSpPr>
          <p:cNvPr id="15" name="chart-card"/>
          <p:cNvSpPr/>
          <p:nvPr/>
        </p:nvSpPr>
        <p:spPr>
          <a:xfrm>
            <a:off x="4480560" y="1645920"/>
            <a:ext cx="7159752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graphicFrame>
        <p:nvGraphicFramePr>
          <p:cNvPr id="16" name="Chart 0"/>
          <p:cNvGraphicFramePr/>
          <p:nvPr/>
        </p:nvGraphicFramePr>
        <p:xfrm>
          <a:off x="4663440" y="1783080"/>
          <a:ext cx="6793992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36D48D4F-B642-3A1F-209C-00ABA41A5EE1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lang="en-US" dirty="0"/>
              <a:t>PRUEBAS</a:t>
            </a:r>
            <a:endParaRPr lang="es-PE" dirty="0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9ED77618-3EE0-DBBC-4693-8926036CC543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s-PE" dirty="0"/>
              <a:t>Reporte JaCoCo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67DBEA4-E535-00B5-8D00-69CA238F5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9" y="1691640"/>
            <a:ext cx="10762281" cy="3453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432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DISEÑO UI/UX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400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Diseño guiado por 53 iteraciones</a:t>
            </a:r>
            <a:endParaRPr lang="en-US" sz="3600" dirty="0"/>
          </a:p>
        </p:txBody>
      </p:sp>
      <p:sp>
        <p:nvSpPr>
          <p:cNvPr id="6" name="shot-frame"/>
          <p:cNvSpPr/>
          <p:nvPr/>
        </p:nvSpPr>
        <p:spPr>
          <a:xfrm>
            <a:off x="512064" y="1655064"/>
            <a:ext cx="3364992" cy="2267712"/>
          </a:xfrm>
          <a:prstGeom prst="roundRect">
            <a:avLst>
              <a:gd name="adj" fmla="val 3226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pic>
        <p:nvPicPr>
          <p:cNvPr id="7" name="shot-P0-v1" descr="P0-v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3291840" cy="21945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3977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P0 · versión 1 (decía «Consultorio Barrantes»)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>
            <a:off x="4023360" y="2624328"/>
            <a:ext cx="502920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ot-frame"/>
          <p:cNvSpPr/>
          <p:nvPr/>
        </p:nvSpPr>
        <p:spPr>
          <a:xfrm>
            <a:off x="4672584" y="1655064"/>
            <a:ext cx="3364992" cy="2267712"/>
          </a:xfrm>
          <a:prstGeom prst="roundRect">
            <a:avLst>
              <a:gd name="adj" fmla="val 3226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pic>
        <p:nvPicPr>
          <p:cNvPr id="11" name="shot-P0-v3" descr="P0-v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691640"/>
            <a:ext cx="3291840" cy="21945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09160" y="3977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P0 · versión aprobada (v3)</a:t>
            </a:r>
            <a:endParaRPr lang="en-US" sz="1200" dirty="0"/>
          </a:p>
        </p:txBody>
      </p:sp>
      <p:sp>
        <p:nvSpPr>
          <p:cNvPr id="13" name="shot-frame"/>
          <p:cNvSpPr/>
          <p:nvPr/>
        </p:nvSpPr>
        <p:spPr>
          <a:xfrm>
            <a:off x="512064" y="4398264"/>
            <a:ext cx="5102352" cy="1801940"/>
          </a:xfrm>
          <a:prstGeom prst="roundRect">
            <a:avLst>
              <a:gd name="adj" fmla="val 406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pic>
        <p:nvPicPr>
          <p:cNvPr id="14" name="shot-design-system" descr="design-syste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434840"/>
            <a:ext cx="5029200" cy="172878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806440" y="443484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Sistema de diseño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Paleta verde clínico, tipografía Inter, espaciado de 8 px y estados de cita y pago compartidos por las 11 pantallas</a:t>
            </a:r>
            <a:endParaRPr lang="en-US" sz="1600" dirty="0"/>
          </a:p>
        </p:txBody>
      </p:sp>
      <p:sp>
        <p:nvSpPr>
          <p:cNvPr id="16" name="proceso"/>
          <p:cNvSpPr/>
          <p:nvPr/>
        </p:nvSpPr>
        <p:spPr>
          <a:xfrm>
            <a:off x="8321040" y="1645920"/>
            <a:ext cx="3319272" cy="4480560"/>
          </a:xfrm>
          <a:prstGeom prst="roundRect">
            <a:avLst>
              <a:gd name="adj" fmla="val 33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2"/>
          <p:cNvSpPr txBox="1"/>
          <p:nvPr/>
        </p:nvSpPr>
        <p:spPr>
          <a:xfrm>
            <a:off x="8549640" y="17830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Proceso por pantalla</a:t>
            </a:r>
            <a:endParaRPr lang="en-US" sz="1800" dirty="0"/>
          </a:p>
        </p:txBody>
      </p:sp>
      <p:sp>
        <p:nvSpPr>
          <p:cNvPr id="18" name="num-dot"/>
          <p:cNvSpPr/>
          <p:nvPr/>
        </p:nvSpPr>
        <p:spPr>
          <a:xfrm>
            <a:off x="8549640" y="237744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4"/>
          <p:cNvSpPr txBox="1"/>
          <p:nvPr/>
        </p:nvSpPr>
        <p:spPr>
          <a:xfrm>
            <a:off x="85496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9052560" y="230428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Prompt base + prompt de la pantalla en Stitch</a:t>
            </a:r>
            <a:endParaRPr lang="en-US" sz="1300" dirty="0"/>
          </a:p>
        </p:txBody>
      </p:sp>
      <p:sp>
        <p:nvSpPr>
          <p:cNvPr id="21" name="num-dot"/>
          <p:cNvSpPr/>
          <p:nvPr/>
        </p:nvSpPr>
        <p:spPr>
          <a:xfrm>
            <a:off x="8575054" y="30952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ext 17"/>
          <p:cNvSpPr txBox="1"/>
          <p:nvPr/>
        </p:nvSpPr>
        <p:spPr>
          <a:xfrm>
            <a:off x="8575054" y="30952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9077974" y="302209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Revisión con checklist: alcance, textos, colores, móvil 360 px</a:t>
            </a:r>
            <a:endParaRPr lang="en-US" sz="1300" dirty="0"/>
          </a:p>
        </p:txBody>
      </p:sp>
      <p:sp>
        <p:nvSpPr>
          <p:cNvPr id="24" name="num-dot"/>
          <p:cNvSpPr/>
          <p:nvPr/>
        </p:nvSpPr>
        <p:spPr>
          <a:xfrm>
            <a:off x="8594825" y="381076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0"/>
          <p:cNvSpPr txBox="1"/>
          <p:nvPr/>
        </p:nvSpPr>
        <p:spPr>
          <a:xfrm>
            <a:off x="8594825" y="38107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9097745" y="373761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Feedback y nueva versión hasta aprobar</a:t>
            </a:r>
            <a:endParaRPr lang="en-US" sz="1300" dirty="0"/>
          </a:p>
        </p:txBody>
      </p:sp>
      <p:sp>
        <p:nvSpPr>
          <p:cNvPr id="27" name="num-dot"/>
          <p:cNvSpPr/>
          <p:nvPr/>
        </p:nvSpPr>
        <p:spPr>
          <a:xfrm>
            <a:off x="8575054" y="449884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3"/>
          <p:cNvSpPr txBox="1"/>
          <p:nvPr/>
        </p:nvSpPr>
        <p:spPr>
          <a:xfrm>
            <a:off x="8575054" y="4498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9077974" y="4517136"/>
            <a:ext cx="24688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Ajustes finos en Figma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31" name="num-dot">
            <a:extLst>
              <a:ext uri="{FF2B5EF4-FFF2-40B4-BE49-F238E27FC236}">
                <a16:creationId xmlns:a16="http://schemas.microsoft.com/office/drawing/2014/main" id="{F9AA2CDF-F072-6224-068B-9488523AF1CB}"/>
              </a:ext>
            </a:extLst>
          </p:cNvPr>
          <p:cNvSpPr/>
          <p:nvPr/>
        </p:nvSpPr>
        <p:spPr>
          <a:xfrm>
            <a:off x="8594825" y="51709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3">
            <a:extLst>
              <a:ext uri="{FF2B5EF4-FFF2-40B4-BE49-F238E27FC236}">
                <a16:creationId xmlns:a16="http://schemas.microsoft.com/office/drawing/2014/main" id="{2D5DB5FA-62AB-4FD2-1238-2D3E557CFC03}"/>
              </a:ext>
            </a:extLst>
          </p:cNvPr>
          <p:cNvSpPr txBox="1"/>
          <p:nvPr/>
        </p:nvSpPr>
        <p:spPr>
          <a:xfrm>
            <a:off x="8594825" y="51709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3" name="Text 24">
            <a:extLst>
              <a:ext uri="{FF2B5EF4-FFF2-40B4-BE49-F238E27FC236}">
                <a16:creationId xmlns:a16="http://schemas.microsoft.com/office/drawing/2014/main" id="{6BB97E54-580B-A1F6-6C66-60B50A5D6B27}"/>
              </a:ext>
            </a:extLst>
          </p:cNvPr>
          <p:cNvSpPr txBox="1"/>
          <p:nvPr/>
        </p:nvSpPr>
        <p:spPr>
          <a:xfrm>
            <a:off x="9065741" y="5212080"/>
            <a:ext cx="246888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 err="1"/>
              <a:t>Creación</a:t>
            </a:r>
            <a:r>
              <a:rPr lang="en-US" sz="1300" dirty="0"/>
              <a:t> de un SKILL </a:t>
            </a:r>
            <a:r>
              <a:rPr lang="en-US" sz="1300" dirty="0" err="1"/>
              <a:t>en</a:t>
            </a:r>
            <a:r>
              <a:rPr lang="en-US" sz="1300" dirty="0"/>
              <a:t> </a:t>
            </a:r>
            <a:r>
              <a:rPr lang="en-US" sz="1300" dirty="0" err="1"/>
              <a:t>claude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FLUJO DEL PACIENTE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400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Reservar, pagar y confirmar en cuatro pasos</a:t>
            </a:r>
            <a:endParaRPr lang="en-US" sz="3600" dirty="0"/>
          </a:p>
        </p:txBody>
      </p:sp>
      <p:sp>
        <p:nvSpPr>
          <p:cNvPr id="6" name="shot-frame"/>
          <p:cNvSpPr/>
          <p:nvPr/>
        </p:nvSpPr>
        <p:spPr>
          <a:xfrm>
            <a:off x="512064" y="1563624"/>
            <a:ext cx="3502152" cy="2359152"/>
          </a:xfrm>
          <a:prstGeom prst="roundRect">
            <a:avLst>
              <a:gd name="adj" fmla="val 3101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pic>
        <p:nvPicPr>
          <p:cNvPr id="7" name="shot-P2 · Reservar cita" descr="P2 · Reservar ci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3429000" cy="2286000"/>
          </a:xfrm>
          <a:prstGeom prst="rect">
            <a:avLst/>
          </a:prstGeom>
        </p:spPr>
      </p:pic>
      <p:sp>
        <p:nvSpPr>
          <p:cNvPr id="8" name="num-dot"/>
          <p:cNvSpPr/>
          <p:nvPr/>
        </p:nvSpPr>
        <p:spPr>
          <a:xfrm>
            <a:off x="438912" y="1490472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6"/>
          <p:cNvSpPr txBox="1"/>
          <p:nvPr/>
        </p:nvSpPr>
        <p:spPr>
          <a:xfrm>
            <a:off x="438912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shot-frame"/>
          <p:cNvSpPr/>
          <p:nvPr/>
        </p:nvSpPr>
        <p:spPr>
          <a:xfrm>
            <a:off x="4215384" y="1563624"/>
            <a:ext cx="3502152" cy="2359152"/>
          </a:xfrm>
          <a:prstGeom prst="roundRect">
            <a:avLst>
              <a:gd name="adj" fmla="val 3101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pic>
        <p:nvPicPr>
          <p:cNvPr id="11" name="shot-P3 · Pago Yape simulado" descr="P3 · Pago Yape simulad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600200"/>
            <a:ext cx="3429000" cy="2286000"/>
          </a:xfrm>
          <a:prstGeom prst="rect">
            <a:avLst/>
          </a:prstGeom>
        </p:spPr>
      </p:pic>
      <p:sp>
        <p:nvSpPr>
          <p:cNvPr id="12" name="num-dot"/>
          <p:cNvSpPr/>
          <p:nvPr/>
        </p:nvSpPr>
        <p:spPr>
          <a:xfrm>
            <a:off x="4142232" y="1490472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9"/>
          <p:cNvSpPr txBox="1"/>
          <p:nvPr/>
        </p:nvSpPr>
        <p:spPr>
          <a:xfrm>
            <a:off x="4142232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shot-frame"/>
          <p:cNvSpPr/>
          <p:nvPr/>
        </p:nvSpPr>
        <p:spPr>
          <a:xfrm>
            <a:off x="512064" y="3941064"/>
            <a:ext cx="3502152" cy="2359152"/>
          </a:xfrm>
          <a:prstGeom prst="roundRect">
            <a:avLst>
              <a:gd name="adj" fmla="val 3101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pic>
        <p:nvPicPr>
          <p:cNvPr id="15" name="shot-P4 · Confirmación" descr="P4 · Confirmació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77640"/>
            <a:ext cx="3429000" cy="2286000"/>
          </a:xfrm>
          <a:prstGeom prst="rect">
            <a:avLst/>
          </a:prstGeom>
        </p:spPr>
      </p:pic>
      <p:sp>
        <p:nvSpPr>
          <p:cNvPr id="16" name="num-dot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2"/>
          <p:cNvSpPr txBox="1"/>
          <p:nvPr/>
        </p:nvSpPr>
        <p:spPr>
          <a:xfrm>
            <a:off x="438912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shot-frame"/>
          <p:cNvSpPr/>
          <p:nvPr/>
        </p:nvSpPr>
        <p:spPr>
          <a:xfrm>
            <a:off x="4215384" y="3941064"/>
            <a:ext cx="3502152" cy="2359152"/>
          </a:xfrm>
          <a:prstGeom prst="roundRect">
            <a:avLst>
              <a:gd name="adj" fmla="val 3101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pic>
        <p:nvPicPr>
          <p:cNvPr id="19" name="shot-P5 · Mis citas" descr="P5 · Mis cita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960" y="3977640"/>
            <a:ext cx="3429000" cy="2286000"/>
          </a:xfrm>
          <a:prstGeom prst="rect">
            <a:avLst/>
          </a:prstGeom>
        </p:spPr>
      </p:pic>
      <p:sp>
        <p:nvSpPr>
          <p:cNvPr id="20" name="num-dot"/>
          <p:cNvSpPr/>
          <p:nvPr/>
        </p:nvSpPr>
        <p:spPr>
          <a:xfrm>
            <a:off x="4142232" y="3867912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5"/>
          <p:cNvSpPr txBox="1"/>
          <p:nvPr/>
        </p:nvSpPr>
        <p:spPr>
          <a:xfrm>
            <a:off x="4142232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leyenda"/>
          <p:cNvSpPr/>
          <p:nvPr/>
        </p:nvSpPr>
        <p:spPr>
          <a:xfrm>
            <a:off x="8183880" y="1600200"/>
            <a:ext cx="3456432" cy="4526280"/>
          </a:xfrm>
          <a:prstGeom prst="roundRect">
            <a:avLst>
              <a:gd name="adj" fmla="val 3175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23" name="num-dot"/>
          <p:cNvSpPr/>
          <p:nvPr/>
        </p:nvSpPr>
        <p:spPr>
          <a:xfrm>
            <a:off x="8366760" y="1801368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Text 18"/>
          <p:cNvSpPr txBox="1"/>
          <p:nvPr/>
        </p:nvSpPr>
        <p:spPr>
          <a:xfrm>
            <a:off x="8366760" y="1801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8823960" y="17830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P2 · Reservar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8823960" y="2112264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Detecta nuevo/control, muestra solo bloques libres y aparta 15 min</a:t>
            </a:r>
            <a:endParaRPr lang="en-US" sz="1200" dirty="0"/>
          </a:p>
        </p:txBody>
      </p:sp>
      <p:sp>
        <p:nvSpPr>
          <p:cNvPr id="28" name="num-dot"/>
          <p:cNvSpPr/>
          <p:nvPr/>
        </p:nvSpPr>
        <p:spPr>
          <a:xfrm>
            <a:off x="8366760" y="288036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3"/>
          <p:cNvSpPr txBox="1"/>
          <p:nvPr/>
        </p:nvSpPr>
        <p:spPr>
          <a:xfrm>
            <a:off x="836676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8823960" y="286207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P3 · Pago Yape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8823960" y="3191256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Monto, QR de ejemplo, contador y constancia obligatoria</a:t>
            </a:r>
            <a:endParaRPr lang="en-US" sz="1200" dirty="0"/>
          </a:p>
        </p:txBody>
      </p:sp>
      <p:sp>
        <p:nvSpPr>
          <p:cNvPr id="33" name="num-dot"/>
          <p:cNvSpPr/>
          <p:nvPr/>
        </p:nvSpPr>
        <p:spPr>
          <a:xfrm>
            <a:off x="8366760" y="3959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28"/>
          <p:cNvSpPr txBox="1"/>
          <p:nvPr/>
        </p:nvSpPr>
        <p:spPr>
          <a:xfrm>
            <a:off x="8366760" y="3959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8823960" y="39410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P4 · Confirmación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8823960" y="4270248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Datos de la cita y descarga en PDF</a:t>
            </a:r>
            <a:endParaRPr lang="en-US" sz="1200" dirty="0"/>
          </a:p>
        </p:txBody>
      </p:sp>
      <p:sp>
        <p:nvSpPr>
          <p:cNvPr id="38" name="num-dot"/>
          <p:cNvSpPr/>
          <p:nvPr/>
        </p:nvSpPr>
        <p:spPr>
          <a:xfrm>
            <a:off x="8366760" y="5038344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3"/>
          <p:cNvSpPr txBox="1"/>
          <p:nvPr/>
        </p:nvSpPr>
        <p:spPr>
          <a:xfrm>
            <a:off x="8366760" y="5038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8823960" y="502005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P5 · Mis citas</a:t>
            </a:r>
            <a:endParaRPr lang="en-US" sz="1400" dirty="0"/>
          </a:p>
        </p:txBody>
      </p:sp>
      <p:sp>
        <p:nvSpPr>
          <p:cNvPr id="41" name="Text 35"/>
          <p:cNvSpPr txBox="1"/>
          <p:nvPr/>
        </p:nvSpPr>
        <p:spPr>
          <a:xfrm>
            <a:off x="8823960" y="534924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Historial y acciones según el estado</a:t>
            </a:r>
            <a:endParaRPr lang="en-US" sz="12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8A3A0585-EA4B-87C5-9388-9AFAA86B7563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lang="en-US" dirty="0"/>
              <a:t>FLUJO DEL PACIENTE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46FF1006-E2AE-4BFE-F2F2-08C20CC8C6E1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 dirty="0" err="1"/>
              <a:t>Reservar</a:t>
            </a:r>
            <a:endParaRPr lang="es-PE" dirty="0"/>
          </a:p>
        </p:txBody>
      </p:sp>
      <p:pic>
        <p:nvPicPr>
          <p:cNvPr id="4" name="shot-P2 · Reservar cita" descr="P2 · Reservar cita">
            <a:extLst>
              <a:ext uri="{FF2B5EF4-FFF2-40B4-BE49-F238E27FC236}">
                <a16:creationId xmlns:a16="http://schemas.microsoft.com/office/drawing/2014/main" id="{FAEAB656-814D-FC79-38E1-6750400EE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99" y="0"/>
            <a:ext cx="9144001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0153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634E0-903C-A6F4-1001-C1CBE5506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C22E2E7-D824-5A51-9DB9-D6A79DB49C2F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lang="en-US" dirty="0"/>
              <a:t>FLUJO DEL PACIENTE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53D2D924-2293-1CD1-B197-8C73A549EEE8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 dirty="0"/>
              <a:t>Paga </a:t>
            </a:r>
            <a:r>
              <a:rPr lang="en-US" dirty="0" err="1"/>
              <a:t>tu</a:t>
            </a:r>
            <a:r>
              <a:rPr lang="en-US" dirty="0"/>
              <a:t> </a:t>
            </a:r>
            <a:r>
              <a:rPr lang="en-US" dirty="0" err="1"/>
              <a:t>cita</a:t>
            </a:r>
            <a:endParaRPr lang="es-PE" dirty="0"/>
          </a:p>
        </p:txBody>
      </p:sp>
      <p:pic>
        <p:nvPicPr>
          <p:cNvPr id="5" name="shot-P3 · Pago Yape simulado" descr="P3 · Pago Yape simulado">
            <a:extLst>
              <a:ext uri="{FF2B5EF4-FFF2-40B4-BE49-F238E27FC236}">
                <a16:creationId xmlns:a16="http://schemas.microsoft.com/office/drawing/2014/main" id="{53D6B5F0-53A4-FC2C-5BFA-27296337D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857" y="-1"/>
            <a:ext cx="9218143" cy="6145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3668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E0FAC-9ED4-364C-25B1-D8ACB969E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2D96782-B4FE-314F-A95B-E68B209C0A9C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lang="en-US" dirty="0"/>
              <a:t>FLUJO DEL PACIENTE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B3A6D97C-E637-09DE-282F-E3B1323826B9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 dirty="0"/>
              <a:t>Cita </a:t>
            </a:r>
            <a:br>
              <a:rPr lang="en-US" dirty="0"/>
            </a:br>
            <a:r>
              <a:rPr lang="en-US" dirty="0" err="1"/>
              <a:t>reservada</a:t>
            </a:r>
            <a:endParaRPr lang="es-PE" dirty="0"/>
          </a:p>
        </p:txBody>
      </p:sp>
      <p:pic>
        <p:nvPicPr>
          <p:cNvPr id="5" name="shot-P4 · Confirmación" descr="P4 · Confirmación">
            <a:extLst>
              <a:ext uri="{FF2B5EF4-FFF2-40B4-BE49-F238E27FC236}">
                <a16:creationId xmlns:a16="http://schemas.microsoft.com/office/drawing/2014/main" id="{39163F95-6696-F61B-023E-CB7682FCA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1" y="-1"/>
            <a:ext cx="9143999" cy="609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7862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393A7-29A3-0FEB-2A63-2061D28EC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277D0E55-7B66-D119-9545-29B70B40F495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lang="en-US" dirty="0"/>
              <a:t>FLUJO DEL PACIENTE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2E14DDD5-D261-BF94-5791-9F114291B0AC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 dirty="0"/>
              <a:t>Mis </a:t>
            </a:r>
            <a:r>
              <a:rPr lang="en-US" dirty="0" err="1"/>
              <a:t>citas</a:t>
            </a:r>
            <a:endParaRPr lang="es-PE" dirty="0"/>
          </a:p>
        </p:txBody>
      </p:sp>
      <p:pic>
        <p:nvPicPr>
          <p:cNvPr id="5" name="shot-P5 · Mis citas" descr="P5 · Mis citas">
            <a:extLst>
              <a:ext uri="{FF2B5EF4-FFF2-40B4-BE49-F238E27FC236}">
                <a16:creationId xmlns:a16="http://schemas.microsoft.com/office/drawing/2014/main" id="{0E750B7D-88FD-9EFC-9292-7FF554DE0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9783" y="-1"/>
            <a:ext cx="9082217" cy="605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934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FLUJO DEL MÉDICO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400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Agenda, validación de pagos y reportes</a:t>
            </a:r>
            <a:endParaRPr lang="en-US" sz="3600" dirty="0"/>
          </a:p>
        </p:txBody>
      </p:sp>
      <p:sp>
        <p:nvSpPr>
          <p:cNvPr id="6" name="shot-frame"/>
          <p:cNvSpPr/>
          <p:nvPr/>
        </p:nvSpPr>
        <p:spPr>
          <a:xfrm>
            <a:off x="512064" y="1655064"/>
            <a:ext cx="2706624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pic>
        <p:nvPicPr>
          <p:cNvPr id="7" name="shot-P7 · Agenda" descr="P7 · Age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2633472" cy="17556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3584448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P7 · Agenda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50208"/>
            <a:ext cx="1051560" cy="246888"/>
          </a:xfrm>
          <a:prstGeom prst="rect">
            <a:avLst/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2400E"/>
                </a:solidFill>
              </a:rPr>
              <a:t>Diseñada</a:t>
            </a:r>
            <a:endParaRPr lang="en-US" sz="1000" dirty="0"/>
          </a:p>
        </p:txBody>
      </p:sp>
      <p:sp>
        <p:nvSpPr>
          <p:cNvPr id="10" name="shot-frame"/>
          <p:cNvSpPr/>
          <p:nvPr/>
        </p:nvSpPr>
        <p:spPr>
          <a:xfrm>
            <a:off x="3328416" y="1655064"/>
            <a:ext cx="2706624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pic>
        <p:nvPicPr>
          <p:cNvPr id="11" name="shot-P8 · Detalle de cita" descr="P8 · Detalle de ci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992" y="1691640"/>
            <a:ext cx="2633472" cy="17556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364992" y="3584448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P8 · Detalle de cita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364992" y="3950208"/>
            <a:ext cx="1051560" cy="246888"/>
          </a:xfrm>
          <a:prstGeom prst="rect">
            <a:avLst/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2400E"/>
                </a:solidFill>
              </a:rPr>
              <a:t>Diseñada</a:t>
            </a:r>
            <a:endParaRPr lang="en-US" sz="1000" dirty="0"/>
          </a:p>
        </p:txBody>
      </p:sp>
      <p:sp>
        <p:nvSpPr>
          <p:cNvPr id="14" name="shot-frame"/>
          <p:cNvSpPr/>
          <p:nvPr/>
        </p:nvSpPr>
        <p:spPr>
          <a:xfrm>
            <a:off x="6144768" y="1655064"/>
            <a:ext cx="2706624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pic>
        <p:nvPicPr>
          <p:cNvPr id="15" name="shot-P9 · Reporte de citas" descr="P9 · Reporte de cita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1691640"/>
            <a:ext cx="2633472" cy="17556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181344" y="3584448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P9 · Reporte de citas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181344" y="3950208"/>
            <a:ext cx="1051560" cy="246888"/>
          </a:xfrm>
          <a:prstGeom prst="rect">
            <a:avLst/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2400E"/>
                </a:solidFill>
              </a:rPr>
              <a:t>Diseñada</a:t>
            </a:r>
            <a:endParaRPr lang="en-US" sz="1000" dirty="0"/>
          </a:p>
        </p:txBody>
      </p:sp>
      <p:sp>
        <p:nvSpPr>
          <p:cNvPr id="18" name="shot-frame"/>
          <p:cNvSpPr/>
          <p:nvPr/>
        </p:nvSpPr>
        <p:spPr>
          <a:xfrm>
            <a:off x="8961120" y="1655064"/>
            <a:ext cx="2706624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E2E8F0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pic>
        <p:nvPicPr>
          <p:cNvPr id="19" name="shot-P10 · Reporte de pagos" descr="P10 · Reporte de pago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7696" y="1691640"/>
            <a:ext cx="2633472" cy="17556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997696" y="3584448"/>
            <a:ext cx="2633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P10 · Reporte de pagos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997696" y="3950208"/>
            <a:ext cx="1051560" cy="246888"/>
          </a:xfrm>
          <a:prstGeom prst="rect">
            <a:avLst/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tx2"/>
                </a:solidFill>
              </a:rPr>
              <a:t>Implementada</a:t>
            </a:r>
            <a:endParaRPr lang="en-US" sz="1000" dirty="0"/>
          </a:p>
        </p:txBody>
      </p:sp>
      <p:sp>
        <p:nvSpPr>
          <p:cNvPr id="22" name="med-0"/>
          <p:cNvSpPr/>
          <p:nvPr/>
        </p:nvSpPr>
        <p:spPr>
          <a:xfrm>
            <a:off x="548640" y="4480560"/>
            <a:ext cx="356616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icon-bg"/>
          <p:cNvSpPr/>
          <p:nvPr/>
        </p:nvSpPr>
        <p:spPr>
          <a:xfrm>
            <a:off x="822960" y="4663440"/>
            <a:ext cx="548640" cy="5486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4" name="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800600"/>
            <a:ext cx="274320" cy="2743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50876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Agenda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822960" y="5349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Citas por día o semana, con filtros por estado e indicadores</a:t>
            </a:r>
            <a:endParaRPr lang="en-US" sz="1300" dirty="0"/>
          </a:p>
        </p:txBody>
      </p:sp>
      <p:sp>
        <p:nvSpPr>
          <p:cNvPr id="27" name="med-1"/>
          <p:cNvSpPr/>
          <p:nvPr/>
        </p:nvSpPr>
        <p:spPr>
          <a:xfrm>
            <a:off x="4297680" y="4480560"/>
            <a:ext cx="356616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icon-bg"/>
          <p:cNvSpPr/>
          <p:nvPr/>
        </p:nvSpPr>
        <p:spPr>
          <a:xfrm>
            <a:off x="4572000" y="4663440"/>
            <a:ext cx="548640" cy="5486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29" name="icon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60" y="4800600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25780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Validar o rechazar</a:t>
            </a:r>
            <a:endParaRPr lang="en-US" sz="17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0" y="5349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Ve la constancia; rechazar o cancelar exige una observación</a:t>
            </a:r>
            <a:endParaRPr lang="en-US" sz="1300" dirty="0"/>
          </a:p>
        </p:txBody>
      </p:sp>
      <p:sp>
        <p:nvSpPr>
          <p:cNvPr id="32" name="med-2"/>
          <p:cNvSpPr/>
          <p:nvPr/>
        </p:nvSpPr>
        <p:spPr>
          <a:xfrm>
            <a:off x="8046720" y="4480560"/>
            <a:ext cx="356616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icon-bg"/>
          <p:cNvSpPr/>
          <p:nvPr/>
        </p:nvSpPr>
        <p:spPr>
          <a:xfrm>
            <a:off x="8321040" y="4663440"/>
            <a:ext cx="548640" cy="5486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34" name="icon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58200" y="4800600"/>
            <a:ext cx="274320" cy="27432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9006840" y="46634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Reportes en Excel</a:t>
            </a:r>
            <a:endParaRPr lang="en-US" sz="1700" dirty="0"/>
          </a:p>
        </p:txBody>
      </p:sp>
      <p:sp>
        <p:nvSpPr>
          <p:cNvPr id="36" name="Text 27"/>
          <p:cNvSpPr txBox="1"/>
          <p:nvPr/>
        </p:nvSpPr>
        <p:spPr>
          <a:xfrm>
            <a:off x="8321040" y="5349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</a:rPr>
              <a:t>Indicadores de resumen y exportación .xlsx con Apache POI</a:t>
            </a:r>
            <a:endParaRPr lang="en-US" sz="13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85B94-47C7-0D29-6932-282E80B82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6910C190-625D-6381-6162-9D664B2C69FD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lang="en-US" dirty="0"/>
              <a:t>FLUJO DEL MÉDICO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BDDBE3E3-C3C7-7D99-F3C8-0B6978AC5A57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es-PE" dirty="0"/>
          </a:p>
        </p:txBody>
      </p:sp>
      <p:pic>
        <p:nvPicPr>
          <p:cNvPr id="4" name="shot-P7 · Agenda" descr="P7 · Agenda">
            <a:extLst>
              <a:ext uri="{FF2B5EF4-FFF2-40B4-BE49-F238E27FC236}">
                <a16:creationId xmlns:a16="http://schemas.microsoft.com/office/drawing/2014/main" id="{B047B621-BF4D-8049-B959-91857BB004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426" y="-1"/>
            <a:ext cx="9094574" cy="606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7870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2D7612BE-08D3-6B34-4BC8-953D5BB8975E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lang="en-US" dirty="0"/>
              <a:t>FLUJO DEL MÉDICO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17144DD3-083E-D6ED-DDD5-D6E1792FB3E4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 dirty="0" err="1"/>
              <a:t>Validación</a:t>
            </a:r>
            <a:br>
              <a:rPr lang="en-US" dirty="0"/>
            </a:br>
            <a:r>
              <a:rPr lang="en-US" dirty="0"/>
              <a:t>de </a:t>
            </a:r>
            <a:r>
              <a:rPr lang="en-US" dirty="0" err="1"/>
              <a:t>pagos</a:t>
            </a:r>
            <a:endParaRPr lang="es-PE" dirty="0"/>
          </a:p>
        </p:txBody>
      </p:sp>
      <p:pic>
        <p:nvPicPr>
          <p:cNvPr id="4" name="shot-P8 · Detalle de cita" descr="P8 · Detalle de cita">
            <a:extLst>
              <a:ext uri="{FF2B5EF4-FFF2-40B4-BE49-F238E27FC236}">
                <a16:creationId xmlns:a16="http://schemas.microsoft.com/office/drawing/2014/main" id="{C957B14C-7F59-28AA-C7B6-34F1DD0DF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6281" y="0"/>
            <a:ext cx="8995719" cy="5997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656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4BCEA-8413-A729-5B70-7F2343E5E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489B52EC-7485-BBC6-A15F-AFF35B01C7AA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lang="en-US" dirty="0"/>
              <a:t>FLUJO DEL MÉDICO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2CBF0742-95C6-7E6A-301D-3DE618B8B9EE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 dirty="0" err="1"/>
              <a:t>Reportes</a:t>
            </a:r>
            <a:br>
              <a:rPr lang="en-US" dirty="0"/>
            </a:br>
            <a:r>
              <a:rPr lang="en-US" dirty="0"/>
              <a:t>de </a:t>
            </a:r>
            <a:r>
              <a:rPr lang="en-US" dirty="0" err="1"/>
              <a:t>citas</a:t>
            </a:r>
            <a:endParaRPr lang="es-PE" dirty="0"/>
          </a:p>
        </p:txBody>
      </p:sp>
      <p:pic>
        <p:nvPicPr>
          <p:cNvPr id="4" name="shot-P9 · Reporte de citas" descr="P9 · Reporte de citas">
            <a:extLst>
              <a:ext uri="{FF2B5EF4-FFF2-40B4-BE49-F238E27FC236}">
                <a16:creationId xmlns:a16="http://schemas.microsoft.com/office/drawing/2014/main" id="{1C490AF8-8967-9CA1-A622-3796E7ABA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120" y="0"/>
            <a:ext cx="9326880" cy="6217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459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FEA19-98C9-F4C2-5138-85EB058E5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0F79B61-7DE6-03B5-DEA7-AABE4B0EF7AA}"/>
              </a:ext>
            </a:extLst>
          </p:cNvPr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rPr lang="en-US" dirty="0"/>
              <a:t>FLUJO DEL MÉDICO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4EB5348D-B33B-30E6-942D-40C865B79CE8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 dirty="0" err="1"/>
              <a:t>Reportes</a:t>
            </a:r>
            <a:br>
              <a:rPr lang="en-US" dirty="0"/>
            </a:br>
            <a:r>
              <a:rPr lang="en-US" dirty="0"/>
              <a:t>de </a:t>
            </a:r>
            <a:r>
              <a:rPr lang="en-US" dirty="0" err="1"/>
              <a:t>pagos</a:t>
            </a:r>
            <a:endParaRPr lang="es-PE" dirty="0"/>
          </a:p>
        </p:txBody>
      </p:sp>
      <p:pic>
        <p:nvPicPr>
          <p:cNvPr id="4" name="shot-P10 · Reporte de pagos" descr="P10 · Reporte de pagos">
            <a:extLst>
              <a:ext uri="{FF2B5EF4-FFF2-40B4-BE49-F238E27FC236}">
                <a16:creationId xmlns:a16="http://schemas.microsoft.com/office/drawing/2014/main" id="{31A638E4-A333-308A-2FB1-76CD26FA7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9211" y="-1"/>
            <a:ext cx="9032789" cy="602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7371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ESTADO DEL ALCANCE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6400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Dónde estamos frente a lo comprometido</a:t>
            </a:r>
            <a:endParaRPr lang="en-US" sz="3600" dirty="0"/>
          </a:p>
        </p:txBody>
      </p:sp>
      <p:sp>
        <p:nvSpPr>
          <p:cNvPr id="6" name="screen-P0"/>
          <p:cNvSpPr/>
          <p:nvPr/>
        </p:nvSpPr>
        <p:spPr>
          <a:xfrm>
            <a:off x="548640" y="1691640"/>
            <a:ext cx="1143000" cy="118872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43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P0</a:t>
            </a:r>
            <a:endParaRPr lang="en-US" sz="2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Login</a:t>
            </a:r>
            <a:endParaRPr lang="en-US" sz="2200" dirty="0"/>
          </a:p>
        </p:txBody>
      </p:sp>
      <p:sp>
        <p:nvSpPr>
          <p:cNvPr id="8" name="screen-P1"/>
          <p:cNvSpPr/>
          <p:nvPr/>
        </p:nvSpPr>
        <p:spPr>
          <a:xfrm>
            <a:off x="1828800" y="1691640"/>
            <a:ext cx="1143000" cy="118872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 txBox="1"/>
          <p:nvPr/>
        </p:nvSpPr>
        <p:spPr>
          <a:xfrm>
            <a:off x="1828800" y="1691640"/>
            <a:ext cx="1143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P1</a:t>
            </a:r>
            <a:endParaRPr lang="en-US" sz="2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Registro</a:t>
            </a:r>
            <a:endParaRPr lang="en-US" sz="2200" dirty="0"/>
          </a:p>
        </p:txBody>
      </p:sp>
      <p:sp>
        <p:nvSpPr>
          <p:cNvPr id="10" name="screen-P2"/>
          <p:cNvSpPr/>
          <p:nvPr/>
        </p:nvSpPr>
        <p:spPr>
          <a:xfrm>
            <a:off x="3108960" y="1691640"/>
            <a:ext cx="1143000" cy="118872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 txBox="1"/>
          <p:nvPr/>
        </p:nvSpPr>
        <p:spPr>
          <a:xfrm>
            <a:off x="3108960" y="1691640"/>
            <a:ext cx="1143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P2</a:t>
            </a:r>
            <a:endParaRPr lang="en-US" sz="2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Reservar</a:t>
            </a:r>
            <a:endParaRPr lang="en-US" sz="2200" dirty="0"/>
          </a:p>
        </p:txBody>
      </p:sp>
      <p:sp>
        <p:nvSpPr>
          <p:cNvPr id="12" name="screen-P3"/>
          <p:cNvSpPr/>
          <p:nvPr/>
        </p:nvSpPr>
        <p:spPr>
          <a:xfrm>
            <a:off x="4389120" y="1691640"/>
            <a:ext cx="1143000" cy="11887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 txBox="1"/>
          <p:nvPr/>
        </p:nvSpPr>
        <p:spPr>
          <a:xfrm>
            <a:off x="4389120" y="1691640"/>
            <a:ext cx="1143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P3</a:t>
            </a:r>
            <a:endParaRPr lang="en-US" sz="2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Pago Yape</a:t>
            </a:r>
            <a:endParaRPr lang="en-US" sz="2200" dirty="0"/>
          </a:p>
        </p:txBody>
      </p:sp>
      <p:sp>
        <p:nvSpPr>
          <p:cNvPr id="14" name="screen-P4"/>
          <p:cNvSpPr/>
          <p:nvPr/>
        </p:nvSpPr>
        <p:spPr>
          <a:xfrm>
            <a:off x="5669280" y="1691640"/>
            <a:ext cx="1143000" cy="11887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 txBox="1"/>
          <p:nvPr/>
        </p:nvSpPr>
        <p:spPr>
          <a:xfrm>
            <a:off x="5669280" y="1691640"/>
            <a:ext cx="1143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P4</a:t>
            </a:r>
            <a:endParaRPr lang="en-US" sz="2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Confirmación</a:t>
            </a:r>
            <a:endParaRPr lang="en-US" sz="2200" dirty="0"/>
          </a:p>
        </p:txBody>
      </p:sp>
      <p:sp>
        <p:nvSpPr>
          <p:cNvPr id="16" name="screen-P5"/>
          <p:cNvSpPr/>
          <p:nvPr/>
        </p:nvSpPr>
        <p:spPr>
          <a:xfrm>
            <a:off x="6949440" y="1691640"/>
            <a:ext cx="1143000" cy="11887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 txBox="1"/>
          <p:nvPr/>
        </p:nvSpPr>
        <p:spPr>
          <a:xfrm>
            <a:off x="6949440" y="1691640"/>
            <a:ext cx="1143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P5</a:t>
            </a:r>
            <a:endParaRPr lang="en-US" sz="2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Mis citas</a:t>
            </a:r>
            <a:endParaRPr lang="en-US" sz="2200" dirty="0"/>
          </a:p>
        </p:txBody>
      </p:sp>
      <p:sp>
        <p:nvSpPr>
          <p:cNvPr id="18" name="screen-P6"/>
          <p:cNvSpPr/>
          <p:nvPr/>
        </p:nvSpPr>
        <p:spPr>
          <a:xfrm>
            <a:off x="548640" y="3063240"/>
            <a:ext cx="1143000" cy="11887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 txBox="1"/>
          <p:nvPr/>
        </p:nvSpPr>
        <p:spPr>
          <a:xfrm>
            <a:off x="548640" y="3063240"/>
            <a:ext cx="1143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P6</a:t>
            </a:r>
            <a:endParaRPr lang="en-US" sz="2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Mi perfil</a:t>
            </a:r>
            <a:endParaRPr lang="en-US" sz="2200" dirty="0"/>
          </a:p>
        </p:txBody>
      </p:sp>
      <p:sp>
        <p:nvSpPr>
          <p:cNvPr id="20" name="screen-P7"/>
          <p:cNvSpPr/>
          <p:nvPr/>
        </p:nvSpPr>
        <p:spPr>
          <a:xfrm>
            <a:off x="1828800" y="3063240"/>
            <a:ext cx="1143000" cy="11887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 txBox="1"/>
          <p:nvPr/>
        </p:nvSpPr>
        <p:spPr>
          <a:xfrm>
            <a:off x="1828800" y="3063240"/>
            <a:ext cx="1143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P7</a:t>
            </a:r>
            <a:endParaRPr lang="en-US" sz="2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Agenda</a:t>
            </a:r>
            <a:endParaRPr lang="en-US" sz="2200" dirty="0"/>
          </a:p>
        </p:txBody>
      </p:sp>
      <p:sp>
        <p:nvSpPr>
          <p:cNvPr id="22" name="screen-P8"/>
          <p:cNvSpPr/>
          <p:nvPr/>
        </p:nvSpPr>
        <p:spPr>
          <a:xfrm>
            <a:off x="3108960" y="3063240"/>
            <a:ext cx="1143000" cy="11887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 txBox="1"/>
          <p:nvPr/>
        </p:nvSpPr>
        <p:spPr>
          <a:xfrm>
            <a:off x="3108960" y="3063240"/>
            <a:ext cx="1143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P8</a:t>
            </a:r>
            <a:endParaRPr lang="en-US" sz="2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Detalle</a:t>
            </a:r>
            <a:endParaRPr lang="en-US" sz="2200" dirty="0"/>
          </a:p>
        </p:txBody>
      </p:sp>
      <p:sp>
        <p:nvSpPr>
          <p:cNvPr id="24" name="screen-P9"/>
          <p:cNvSpPr/>
          <p:nvPr/>
        </p:nvSpPr>
        <p:spPr>
          <a:xfrm>
            <a:off x="4389120" y="3063240"/>
            <a:ext cx="1143000" cy="11887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 txBox="1"/>
          <p:nvPr/>
        </p:nvSpPr>
        <p:spPr>
          <a:xfrm>
            <a:off x="4389120" y="3063240"/>
            <a:ext cx="1143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P9</a:t>
            </a:r>
            <a:endParaRPr lang="en-US" sz="2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Rep. citas</a:t>
            </a:r>
            <a:endParaRPr lang="en-US" sz="2200" dirty="0"/>
          </a:p>
        </p:txBody>
      </p:sp>
      <p:sp>
        <p:nvSpPr>
          <p:cNvPr id="26" name="screen-P10"/>
          <p:cNvSpPr/>
          <p:nvPr/>
        </p:nvSpPr>
        <p:spPr>
          <a:xfrm>
            <a:off x="5669280" y="3063240"/>
            <a:ext cx="1143000" cy="118872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 txBox="1"/>
          <p:nvPr/>
        </p:nvSpPr>
        <p:spPr>
          <a:xfrm>
            <a:off x="5669280" y="3063240"/>
            <a:ext cx="1143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P10</a:t>
            </a:r>
            <a:endParaRPr lang="en-US" sz="2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Rep. pagos</a:t>
            </a:r>
            <a:endParaRPr lang="en-US" sz="2200" dirty="0"/>
          </a:p>
        </p:txBody>
      </p:sp>
      <p:sp>
        <p:nvSpPr>
          <p:cNvPr id="28" name="lg1"/>
          <p:cNvSpPr/>
          <p:nvPr/>
        </p:nvSpPr>
        <p:spPr>
          <a:xfrm>
            <a:off x="548640" y="4572000"/>
            <a:ext cx="274320" cy="27432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7"/>
          <p:cNvSpPr txBox="1"/>
          <p:nvPr/>
        </p:nvSpPr>
        <p:spPr>
          <a:xfrm>
            <a:off x="914400" y="45445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Implementada en Spring Boot + Thymeleaf</a:t>
            </a:r>
            <a:endParaRPr lang="en-US" sz="1300" dirty="0"/>
          </a:p>
        </p:txBody>
      </p:sp>
      <p:sp>
        <p:nvSpPr>
          <p:cNvPr id="30" name="lg2"/>
          <p:cNvSpPr/>
          <p:nvPr/>
        </p:nvSpPr>
        <p:spPr>
          <a:xfrm>
            <a:off x="548640" y="4983480"/>
            <a:ext cx="27432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29"/>
          <p:cNvSpPr txBox="1"/>
          <p:nvPr/>
        </p:nvSpPr>
        <p:spPr>
          <a:xfrm>
            <a:off x="914400" y="495604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Diseño aprobado, implementación en curso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486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Las 11 pantallas tienen diseño aprobado para escritorio y móvil.</a:t>
            </a:r>
            <a:endParaRPr lang="en-US" sz="1300" dirty="0"/>
          </a:p>
        </p:txBody>
      </p:sp>
      <p:sp>
        <p:nvSpPr>
          <p:cNvPr id="33" name="coherencia"/>
          <p:cNvSpPr/>
          <p:nvPr/>
        </p:nvSpPr>
        <p:spPr>
          <a:xfrm>
            <a:off x="8321040" y="1691640"/>
            <a:ext cx="3319272" cy="4434840"/>
          </a:xfrm>
          <a:prstGeom prst="roundRect">
            <a:avLst>
              <a:gd name="adj" fmla="val 3306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27000" dist="25400" dir="5400000" algn="bl" rotWithShape="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34" name="icon-bg"/>
          <p:cNvSpPr/>
          <p:nvPr/>
        </p:nvSpPr>
        <p:spPr>
          <a:xfrm>
            <a:off x="8549640" y="1874520"/>
            <a:ext cx="548640" cy="54864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35" name="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011680"/>
            <a:ext cx="274320" cy="274320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9235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Coherencia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8549640" y="260604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README como referencia única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Mismos IDs en todo: P0–P10, RF01–RF16, RN-01–RN-14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Clases nombradas como en el diagrama T-02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SQL, diagramas y diseño alineados al alcance</a:t>
            </a:r>
            <a:endParaRPr lang="en-US" sz="14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0B981"/>
                </a:solidFill>
              </a:rPr>
              <a:t>DEMO Y PRÓXIMOS PASOS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</a:rPr>
              <a:t>Lo vemos funcionando</a:t>
            </a:r>
            <a:endParaRPr lang="en-US" sz="4000" dirty="0"/>
          </a:p>
        </p:txBody>
      </p:sp>
      <p:sp>
        <p:nvSpPr>
          <p:cNvPr id="4" name="demo-card"/>
          <p:cNvSpPr/>
          <p:nvPr/>
        </p:nvSpPr>
        <p:spPr>
          <a:xfrm>
            <a:off x="731520" y="2011680"/>
            <a:ext cx="5303520" cy="4023360"/>
          </a:xfrm>
          <a:prstGeom prst="roundRect">
            <a:avLst>
              <a:gd name="adj" fmla="val 3409"/>
            </a:avLst>
          </a:prstGeom>
          <a:solidFill>
            <a:srgbClr val="0A4A3E"/>
          </a:solidFill>
          <a:ln w="12700">
            <a:solidFill>
              <a:srgbClr val="0A4A3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 txBox="1"/>
          <p:nvPr/>
        </p:nvSpPr>
        <p:spPr>
          <a:xfrm>
            <a:off x="100584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Guion de la demo (localhost:8080)</a:t>
            </a:r>
            <a:endParaRPr lang="en-US" sz="1800" dirty="0"/>
          </a:p>
        </p:txBody>
      </p:sp>
      <p:sp>
        <p:nvSpPr>
          <p:cNvPr id="6" name="num-dot"/>
          <p:cNvSpPr/>
          <p:nvPr/>
        </p:nvSpPr>
        <p:spPr>
          <a:xfrm>
            <a:off x="1005840" y="2834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 txBox="1"/>
          <p:nvPr/>
        </p:nvSpPr>
        <p:spPr>
          <a:xfrm>
            <a:off x="10058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7063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Paciente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D1FAE5"/>
                </a:solidFill>
              </a:rPr>
              <a:t>Registro → Login → Reservar cita (apartado de 15 min)</a:t>
            </a:r>
            <a:endParaRPr lang="en-US" sz="1600" dirty="0"/>
          </a:p>
        </p:txBody>
      </p:sp>
      <p:sp>
        <p:nvSpPr>
          <p:cNvPr id="9" name="num-dot"/>
          <p:cNvSpPr/>
          <p:nvPr/>
        </p:nvSpPr>
        <p:spPr>
          <a:xfrm>
            <a:off x="1005840" y="38404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 txBox="1"/>
          <p:nvPr/>
        </p:nvSpPr>
        <p:spPr>
          <a:xfrm>
            <a:off x="100584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77647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Médico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D1FAE5"/>
                </a:solidFill>
              </a:rPr>
              <a:t>Login → Reporte de pagos → Exportar Excel</a:t>
            </a:r>
            <a:endParaRPr lang="en-US" sz="1600" dirty="0"/>
          </a:p>
        </p:txBody>
      </p:sp>
      <p:sp>
        <p:nvSpPr>
          <p:cNvPr id="12" name="num-dot"/>
          <p:cNvSpPr/>
          <p:nvPr/>
        </p:nvSpPr>
        <p:spPr>
          <a:xfrm>
            <a:off x="1005840" y="48463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 txBox="1"/>
          <p:nvPr/>
        </p:nvSpPr>
        <p:spPr>
          <a:xfrm>
            <a:off x="100584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782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Seguridad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D1FAE5"/>
                </a:solidFill>
              </a:rPr>
              <a:t>Acceso denegado por rol (403) y bloqueo tras 5 intentos</a:t>
            </a:r>
            <a:endParaRPr lang="en-US" sz="1600" dirty="0"/>
          </a:p>
        </p:txBody>
      </p:sp>
      <p:sp>
        <p:nvSpPr>
          <p:cNvPr id="15" name="next-card"/>
          <p:cNvSpPr/>
          <p:nvPr/>
        </p:nvSpPr>
        <p:spPr>
          <a:xfrm>
            <a:off x="6309360" y="2011680"/>
            <a:ext cx="5148072" cy="4023360"/>
          </a:xfrm>
          <a:prstGeom prst="roundRect">
            <a:avLst>
              <a:gd name="adj" fmla="val 3409"/>
            </a:avLst>
          </a:prstGeom>
          <a:solidFill>
            <a:srgbClr val="0A4A3E"/>
          </a:solidFill>
          <a:ln w="12700">
            <a:solidFill>
              <a:srgbClr val="0A4A3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 txBox="1"/>
          <p:nvPr/>
        </p:nvSpPr>
        <p:spPr>
          <a:xfrm>
            <a:off x="6583680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Hacia la entrega final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278892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Implementar P3–P9 sobre los diseños aprobados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Commons IO para constancias y OpenPDF para la confirmación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Pruebas de cada regla RN-01 a RN-14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Prueba de usabilidad y validación con el Dr. Barrantes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Manual de usuario e informe final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FAE5"/>
                </a:solidFill>
              </a:rPr>
              <a:t>¡Gracias! · github.com/manuelguarniz/medifast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ifast">
  <a:themeElements>
    <a:clrScheme name="Medifast">
      <a:dk1>
        <a:srgbClr val="0F172A"/>
      </a:dk1>
      <a:lt1>
        <a:srgbClr val="FFFFFF"/>
      </a:lt1>
      <a:dk2>
        <a:srgbClr val="0D5C4D"/>
      </a:dk2>
      <a:lt2>
        <a:srgbClr val="F1F5F9"/>
      </a:lt2>
      <a:accent1>
        <a:srgbClr val="0D5C4D"/>
      </a:accent1>
      <a:accent2>
        <a:srgbClr val="10B981"/>
      </a:accent2>
      <a:accent3>
        <a:srgbClr val="F59E0B"/>
      </a:accent3>
      <a:accent4>
        <a:srgbClr val="EF4444"/>
      </a:accent4>
      <a:accent5>
        <a:srgbClr val="0284C7"/>
      </a:accent5>
      <a:accent6>
        <a:srgbClr val="64748B"/>
      </a:accent6>
      <a:hlink>
        <a:srgbClr val="0284C7"/>
      </a:hlink>
      <a:folHlink>
        <a:srgbClr val="64748B"/>
      </a:folHlink>
    </a:clrScheme>
    <a:fontScheme name="Medifas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3338</Words>
  <Application>Microsoft Macintosh PowerPoint</Application>
  <PresentationFormat>Panorámica</PresentationFormat>
  <Paragraphs>350</Paragraphs>
  <Slides>24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8" baseType="lpstr">
      <vt:lpstr>Arial</vt:lpstr>
      <vt:lpstr>Calibri</vt:lpstr>
      <vt:lpstr>Courier New</vt:lpstr>
      <vt:lpstr>Medifast</vt:lpstr>
      <vt:lpstr>MEDIFAST</vt:lpstr>
      <vt:lpstr>De un cuaderno y WhatsApp a una agenda web</vt:lpstr>
      <vt:lpstr>Qué incluye MEDIFAST y qué queda fuera</vt:lpstr>
      <vt:lpstr>Ruta de trabajo</vt:lpstr>
      <vt:lpstr>Spring Boot en capas: MVC + DAO</vt:lpstr>
      <vt:lpstr>MVC, DAO, SOLID y TDD en el código</vt:lpstr>
      <vt:lpstr>Git y GitHub: cada avance queda registrado</vt:lpstr>
      <vt:lpstr>Datos del paciente protegidos en cada capa</vt:lpstr>
      <vt:lpstr>Cada librería tiene un uso concreto en el código</vt:lpstr>
      <vt:lpstr>70 pruebas automatizadas en verde</vt:lpstr>
      <vt:lpstr>Reporte JaCoCo</vt:lpstr>
      <vt:lpstr>Diseño guiado por 53 iteraciones</vt:lpstr>
      <vt:lpstr>Reservar, pagar y confirmar en cuatro pasos</vt:lpstr>
      <vt:lpstr>Reservar</vt:lpstr>
      <vt:lpstr>Paga tu cita</vt:lpstr>
      <vt:lpstr>Cita  reservada</vt:lpstr>
      <vt:lpstr>Mis citas</vt:lpstr>
      <vt:lpstr>Agenda, validación de pagos y reportes</vt:lpstr>
      <vt:lpstr>Agenda</vt:lpstr>
      <vt:lpstr>Validación de pagos</vt:lpstr>
      <vt:lpstr>Reportes de citas</vt:lpstr>
      <vt:lpstr>Reportes de pagos</vt:lpstr>
      <vt:lpstr>Dónde estamos frente a lo comprometido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MEDIFAST — Sustentación APF3</dc:title>
  <dc:subject>PptxGenJS Presentation</dc:subject>
  <dc:creator>Grupo 2 — Curso Integrador I</dc:creator>
  <cp:lastModifiedBy>Guarniz Cruz, Manuel Elmer Esteban</cp:lastModifiedBy>
  <cp:revision>4</cp:revision>
  <dcterms:created xsi:type="dcterms:W3CDTF">2026-10-27T01:33:43Z</dcterms:created>
  <dcterms:modified xsi:type="dcterms:W3CDTF">2026-10-27T03:00:04Z</dcterms:modified>
</cp:coreProperties>
</file>