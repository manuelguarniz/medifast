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71" r:id="rId12"/>
    <p:sldId id="266" r:id="rId13"/>
    <p:sldId id="267" r:id="rId14"/>
    <p:sldId id="272" r:id="rId15"/>
    <p:sldId id="273" r:id="rId16"/>
    <p:sldId id="274" r:id="rId17"/>
    <p:sldId id="275" r:id="rId18"/>
    <p:sldId id="268" r:id="rId19"/>
    <p:sldId id="277" r:id="rId20"/>
    <p:sldId id="276" r:id="rId21"/>
    <p:sldId id="278" r:id="rId22"/>
    <p:sldId id="279" r:id="rId23"/>
    <p:sldId id="269" r:id="rId24"/>
    <p:sldId id="270"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o y alcance" id="{AB3698AE-890A-09F6-D922-EB794B3B7C4F}">
          <p14:sldIdLst>
            <p14:sldId id="256"/>
            <p14:sldId id="257"/>
            <p14:sldId id="258"/>
          </p14:sldIdLst>
        </p14:section>
        <p14:section name="Planificación y arquitectura" id="{51AA8B27-4A85-C714-2288-DE3536F6B8ED}">
          <p14:sldIdLst>
            <p14:sldId id="259"/>
            <p14:sldId id="260"/>
            <p14:sldId id="261"/>
            <p14:sldId id="262"/>
          </p14:sldIdLst>
        </p14:section>
        <p14:section name="Seguridad, librerías y pruebas" id="{0A668FDC-3B66-9B59-6AC4-6E57B12FBFB2}">
          <p14:sldIdLst>
            <p14:sldId id="263"/>
            <p14:sldId id="264"/>
            <p14:sldId id="265"/>
            <p14:sldId id="271"/>
          </p14:sldIdLst>
        </p14:section>
        <p14:section name="Interfaces y cierre" id="{CDA1812F-5E93-06E2-2E64-7777E659743D}">
          <p14:sldIdLst>
            <p14:sldId id="266"/>
            <p14:sldId id="267"/>
            <p14:sldId id="272"/>
            <p14:sldId id="273"/>
            <p14:sldId id="274"/>
            <p14:sldId id="275"/>
            <p14:sldId id="268"/>
            <p14:sldId id="277"/>
            <p14:sldId id="276"/>
            <p14:sldId id="278"/>
            <p14:sldId id="279"/>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74"/>
    <p:restoredTop sz="94610"/>
  </p:normalViewPr>
  <p:slideViewPr>
    <p:cSldViewPr snapToGrid="0" snapToObjects="1">
      <p:cViewPr varScale="1">
        <p:scale>
          <a:sx n="155" d="100"/>
          <a:sy n="155" d="100"/>
        </p:scale>
        <p:origin x="51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400" b="0" i="0" u="none" strike="noStrike">
                <a:solidFill>
                  <a:srgbClr val="0F172A"/>
                </a:solidFill>
                <a:latin typeface="+mn-lt"/>
              </a:defRPr>
            </a:pPr>
            <a:r>
              <a:rPr lang="es-PE" sz="1400" b="0" i="0" u="none" strike="noStrike">
                <a:solidFill>
                  <a:srgbClr val="0F172A"/>
                </a:solidFill>
                <a:latin typeface="+mn-lt"/>
              </a:rPr>
              <a:t>Cobertura por paquete (%)</a:t>
            </a:r>
          </a:p>
        </c:rich>
      </c:tx>
      <c:overlay val="0"/>
    </c:title>
    <c:autoTitleDeleted val="0"/>
    <c:plotArea>
      <c:layout/>
      <c:barChart>
        <c:barDir val="bar"/>
        <c:grouping val="clustered"/>
        <c:varyColors val="0"/>
        <c:ser>
          <c:idx val="0"/>
          <c:order val="0"/>
          <c:tx>
            <c:strRef>
              <c:f>Sheet1!$B$1</c:f>
              <c:strCache>
                <c:ptCount val="1"/>
                <c:pt idx="0">
                  <c:v>Cobertura</c:v>
                </c:pt>
              </c:strCache>
            </c:strRef>
          </c:tx>
          <c:spPr>
            <a:solidFill>
              <a:srgbClr val="0D5C4D"/>
            </a:solidFill>
            <a:effectLst/>
          </c:spPr>
          <c:invertIfNegative val="0"/>
          <c:dLbls>
            <c:numFmt formatCode="0&quot;%&quot;" sourceLinked="0"/>
            <c:spPr>
              <a:noFill/>
              <a:ln>
                <a:noFill/>
              </a:ln>
              <a:effectLst/>
            </c:spPr>
            <c:txPr>
              <a:bodyPr/>
              <a:lstStyle/>
              <a:p>
                <a:pPr>
                  <a:defRPr sz="1200" b="0" i="0" u="none" strike="noStrike">
                    <a:solidFill>
                      <a:srgbClr val="0F172A"/>
                    </a:solidFill>
                    <a:latin typeface="+mn-lt"/>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Validaciones (dto)</c:v>
                </c:pt>
                <c:pt idx="1">
                  <c:v>Seguridad</c:v>
                </c:pt>
                <c:pt idx="2">
                  <c:v>Servicios</c:v>
                </c:pt>
                <c:pt idx="3">
                  <c:v>Controladores</c:v>
                </c:pt>
                <c:pt idx="4">
                  <c:v>Total</c:v>
                </c:pt>
              </c:strCache>
            </c:strRef>
          </c:cat>
          <c:val>
            <c:numRef>
              <c:f>Sheet1!$B$2:$B$6</c:f>
              <c:numCache>
                <c:formatCode>General</c:formatCode>
                <c:ptCount val="5"/>
                <c:pt idx="0">
                  <c:v>98</c:v>
                </c:pt>
                <c:pt idx="1">
                  <c:v>97</c:v>
                </c:pt>
                <c:pt idx="2">
                  <c:v>85</c:v>
                </c:pt>
                <c:pt idx="3">
                  <c:v>84</c:v>
                </c:pt>
                <c:pt idx="4">
                  <c:v>86</c:v>
                </c:pt>
              </c:numCache>
            </c:numRef>
          </c:val>
          <c:extLst>
            <c:ext xmlns:c16="http://schemas.microsoft.com/office/drawing/2014/chart" uri="{C3380CC4-5D6E-409C-BE32-E72D297353CC}">
              <c16:uniqueId val="{00000000-46E7-D845-8EA1-FB8B371A0364}"/>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lblOffset val="100"/>
        <c:noMultiLvlLbl val="1"/>
      </c:catAx>
      <c:valAx>
        <c:axId val="2094734552"/>
        <c:scaling>
          <c:orientation val="minMax"/>
          <c:max val="11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7773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Jorge.
Buenos días. Somos el Grupo 2 y presentamos MEDIFAST, un sistema web para el Consultorio Medifast del Dr. Moisés Barrantes Cabrera, médico internista y reumatólogo de Trujillo. El sistema permite a los pacientes reservar su cita y adjuntar la constancia de un pago con Yape (simulado), y al médico validar pagos, gestionar su agenda y obtener reportes. Hoy mostraremos el avance del APF3: arquitectura, librerías, versionado, interfaces y pruebas.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Jorge.
El Dr. Barrantes gestiona sus citas a mano: las anota en un cuaderno, coordina la disponibilidad con cada paciente por WhatsApp y verifica los pagos revisando capturas de transferencia. Esto le quita tiempo de atención y permite cruces de horario.
MEDIFAST centraliza la agenda: el paciente ve solo horarios libres, reserva y adjunta su constancia; el médico la valida. Las reglas más críticas —un bloque con una sola cita activa y un paciente con una sola cita activa— las garantiza la propia base de datos, no solo el código.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Jorge.
El alcance comprometido son 11 pantallas, 16 requerimientos funcionales y 14 reglas de negocio, para dos roles: paciente y médico.
El paciente se registra con DNI o CE, reserva una cita —el sistema detecta si es paciente nuevo (60 min, S/ 150) o control (30 min, S/ 80)—, y tiene 15 minutos para adjuntar la constancia de Yape. El médico revisa la constancia, la valida o rechaza, marca atendida o no asistió y obtiene dos reportes exportables a Excel.
Dejamos fuera, de forma explícita, los pagos reales, la información clínica, las notificaciones y el despliegue en la nube. Con esto le paso la palabra a Manuel, que explicará cómo lo planificamos y construimos.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Manuel.
Trabajamos con Extreme Programming, con entregas iterativas e incrementales. En el APF1 analizamos el negocio y entrevistamos al Dr. Barrantes; en el APF2 definimos requerimientos, el modelo lógico, la arquitectura y el prototipo.
En este APF3 pasamos a la construcción. Lo organizamos en iteraciones cortas: primero la base (esquema MySQL, entidades y DAO), luego autenticación y registro, la reserva de citas, el pago simulado con su confirmación, los reportes de citas y pagos con exportación a Excel, la generación automática de horarios y, en paralelo, el diseño de las pantallas restantes. Cada iteración vivió en su propia rama y entró a main mediante pull request. Para la entrega final queda completar el alcance y validar con el cliente.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Manuel.
La arquitectura es un monolito Spring Boot organizado en capas. Toda petición pasa primero por Spring Security, que autentica por número de documento, aplica roles, bcrypt y CSRF. Luego llega a un controlador delgado, que solo valida el formulario y delega en una interfaz de servicio. Los servicios concentran las reglas de negocio y acceden a los datos únicamente mediante interfaces DAO de Spring Data JPA. Debajo está MySQL 8.4, donde restricciones únicas y eventos garantizan las reglas más críticas.
La vista es Thymeleaf, y la lógica transversal —exportar a Excel, auditar y enmascarar datos— vive en util/. El stack es Java 21, Spring Boot 4.1 y Maven.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Manuel.
La rúbrica pide al menos tres de estos principios; aplicamos los cuatro.
MVC: modelo con entidades y DTO, vistas Thymeleaf y controladores delgados. DAO: cada tabla tiene su interfaz que extiende JpaRepository, con consultas propias para disponibilidad y reportes. SOLID: por ejemplo, ExportadorReporte es una interfaz; el controlador de reportes depende de ella y no de Apache POI, así que agregar un exportador a PDF no obliga a tocar el servicio —principios abierto/cerrado e inversión de dependencias—. TDD: 168 pruebas con JUnit 5 y Mockito, que veremos más adelante.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Manuel.
Todo el proyecto está en GitHub: 106 commits en main y 28 pull requests, de los cuales 27 ya están integrados. El flujo es siempre el mismo: una rama feature por funcionalidad o pantalla, commits pequeños, un pull request que revisa el equipo y la integración a main.
No solo versionamos código: también los scripts SQL, los diagramas en Mermaid, la bitácora de diseño con cada prompt y captura, y los entregables anteriores. El README es la fuente única de verdad: si un documento lo contradice, se corrige el documento. Ahora Jennifer presentará seguridad, librerías y pruebas.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Jennifer.
La seguridad está en varias capas. Las contraseñas se guardan con bcrypt. Spring Security restringe las rutas por rol: un paciente no puede entrar a /medico. Tras cinco intentos fallidos la cuenta se bloquea 15 minutos; ese contador lo lleva una caché con expiración de Google Guava en IntentosLoginService.
Los formularios llevan token CSRF y se validan en el servidor, con validadores propios para DNI y CE. Los logs enmascaran documentos, celulares y correos, y todas las consultas son parametrizadas gracias a JPA. Además, las reglas más críticas son restricciones de la base de datos.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Jennifer.
No basta con declarar las librerías en el pom.xml: cada una debe tener un uso real. Google Guava se usa para la caché de intentos de login. Apache Commons Lang3, con StringUtils, normaliza nombres y documentos en el registro, el enmascarador y la auditoría. Apache POI genera el Excel de los reportes de citas y de pagos. Logback está configurado con consola, archivo rotativo y un log de auditoría separado, y enmascara los datos sensibles.
Además, Apache Commons IO se usa en ConstanciaServiceImpl: con FilenameUtils se entrega la constancia de pago con un nombre seguro, y solo al paciente dueño de la cita. OpenPDF genera el PDF de confirmación de la cita, que el paciente descarga desde Mis citas. Así, las seis librerías del pom.xml tienen un uso real en el código.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Jennifer.
Tenemos 168 pruebas automatizadas en 24 clases, con JUnit 5 y Mockito, y todas pasan con ./mvnw test. Cubren las reglas de reserva —por ejemplo, que a un paciente nuevo solo se le ofrezcan inicios con dos bloques consecutivos libres, o que se rechacen fechas fuera de la ventana de 30 días—, el registro, la seguridad (bcrypt, bloqueo por intentos, redirección por rol), la generación de horarios, los reportes con su exportación a Excel y los controladores.
JaCoCo reporta 86 % de cobertura total y 85 % en la capa de servicios, por encima de la meta del 60 % que nos pusimos. Le paso la palabra a Jack, que mostrará las interfaces.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Jack.
Antes de programar cada pantalla la diseñamos. Definimos un sistema de diseño —paleta verde clínico, tipografía Inter, espaciado de 8 px, estados de cita y pago— y diseñamos las 11 pantallas con Stitch, en escritorio y móvil.
Cada pantalla pasó por varias versiones: aquí se ve el login en su primera versión —que todavía decía «Consultorio Barrantes»— y en la aprobada, ya con la marca correcta. En total documentamos 53 iteraciones, cada una con su prompt, su captura y el feedback que llevó a la siguiente, en docs/design. Revisamos cada versión con un checklist: que no aparezca nada fuera del alcance, que use los textos correctos y que funcione a 360 px.</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Jack.
El flujo del paciente tiene cuatro pasos. En P2 elige fecha y hora: el sistema ya detectó si es paciente nuevo o control, muestra solo los bloques libres y, al continuar, aparta el horario 15 minutos. En P3 ve el monto, un QR de ejemplo con la leyenda de simulación y un contador; adjunta su constancia. En P4 obtiene la confirmación con descarga en PDF, y en P5 consulta su historial.
Las cuatro pantallas ya están implementadas en Spring Boot y conectadas a la base de datos. El PDF de confirmación se genera con OpenPDF y se descarga desde Mis citas, donde el paciente también puede ver su constancia.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Jack.
El médico entra directamente a su agenda (P7), con vista por día o semana, filtros por estado e indicadores. Desde ahí abre el detalle de una cita (P8): ve la constancia de pago y la valida o rechaza; rechazar o cancelar exige una observación, y solo puede marcar atendida si el pago está validado.
Tiene dos reportes, y ambos ya están implementados. El de citas (P9) filtra por día, semana y estado y muestra total, atendidas, canceladas y no asistieron. El de pagos (P10) filtra por período y muestra cantidad, total y ticket promedio. Los dos exportan a Excel con Apache POI. La agenda (P7) también ya está implementada, con vista por día o semana, filtro por estado e indicadores. El detalle de cita (P8), donde se valida o rechaza el pago, está diseñado y es la pantalla que falta.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Jack.
Con transparencia, este es el estado frente al alcance comprometido. Las 11 pantallas tienen su diseño aprobado. En código, ya funcionan con su lógica y base de datos diez de las once: login, registro, reserva, pago simulado, confirmación, mis citas, mi perfil, agenda y los dos reportes con exportación a Excel, además de las páginas de error 403 y 404. Solo falta el detalle de cita (P8), donde el médico valida o rechaza el pago y marca atendida o no asistió, para completar el 100 % del alcance.
Lo que sí garantizamos es la coherencia: el README es la referencia única, y el código, los scripts SQL, los diagramas y los diseños usan los mismos identificadores de pantallas, requerimientos y reglas.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Jack (con apoyo de todo el equipo en la demo).
Ahora lo vemos funcionando en localhost. Primero el flujo del paciente: reserva de una cita —el horario queda apartado 15 minutos—, pago simulado con Yape adjuntando la constancia, la confirmación y Mis citas, desde donde descarga el PDF. Luego el médico: inicio de sesión, su agenda, los reportes de citas y de pagos, y la exportación a Excel. Por último, la seguridad: un paciente que intenta entrar a una ruta de médico recibe 403, y tras cinco intentos fallidos la cuenta se bloquea.
Para la entrega final implementaremos el detalle de cita (P8) sobre su diseño ya aprobado, documentaremos los servicios con Javadoc, completaremos las pruebas de las 14 reglas de negocio y validaremos el sistema con el Dr. Barrantes. Muchas gracias; quedamos atentos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920240"/>
            <a:ext cx="7863840" cy="1463040"/>
          </a:xfrm>
          <a:prstGeom prst="rect">
            <a:avLst/>
          </a:prstGeom>
          <a:noFill/>
          <a:ln/>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
        <p:nvSpPr>
          <p:cNvPr id="3" name="Text 0"/>
          <p:cNvSpPr>
            <a:spLocks noGrp="1"/>
          </p:cNvSpPr>
          <p:nvPr>
            <p:ph type="body" idx="101" hasCustomPrompt="1"/>
          </p:nvPr>
        </p:nvSpPr>
        <p:spPr>
          <a:xfrm>
            <a:off x="731520" y="3474720"/>
            <a:ext cx="7315200" cy="1097280"/>
          </a:xfrm>
          <a:prstGeom prst="rect">
            <a:avLst/>
          </a:prstGeom>
          <a:noFill/>
          <a:ln/>
        </p:spPr>
        <p:txBody>
          <a:bodyPr wrap="square" rtlCol="0"/>
          <a:lstStyle>
            <a:lvl1pPr marL="0" indent="0">
              <a:buNone/>
              <a:defRPr lang="en-US" sz="2000" dirty="0">
                <a:solidFill>
                  <a:schemeClr val="bg1"/>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rtlCol="0"/>
          <a:lstStyle>
            <a:lvl1pPr marL="0" indent="0">
              <a:buNone/>
              <a:defRPr lang="en-US" sz="1200" b="1" kern="0" spc="200" dirty="0">
                <a:solidFill>
                  <a:schemeClr val="accent2"/>
                </a:solidFill>
              </a:defRPr>
            </a:lvl1pPr>
          </a:lstStyle>
          <a:p>
            <a:pPr marL="0" indent="0">
              <a:buNone/>
            </a:pPr>
            <a:endParaRPr lang="en-US" sz="1200" dirty="0"/>
          </a:p>
        </p:txBody>
      </p:sp>
      <p:sp>
        <p:nvSpPr>
          <p:cNvPr id="3" name="Text 0"/>
          <p:cNvSpPr>
            <a:spLocks noGrp="1"/>
          </p:cNvSpPr>
          <p:nvPr>
            <p:ph type="title" idx="101" hasCustomPrompt="1"/>
          </p:nvPr>
        </p:nvSpPr>
        <p:spPr>
          <a:xfrm>
            <a:off x="548640" y="640080"/>
            <a:ext cx="9144000"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4" name="Text 0"/>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chemeClr val="accent6"/>
                </a:solidFill>
              </a:rPr>
              <a:t>MEDIFAST · Sustentación APF3</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26.jpg"/><Relationship Id="rId4" Type="http://schemas.openxmlformats.org/officeDocument/2006/relationships/image" Target="../media/image25.jpg"/></Relationships>
</file>

<file path=ppt/slides/_rels/slide1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30.jpg"/><Relationship Id="rId5" Type="http://schemas.openxmlformats.org/officeDocument/2006/relationships/image" Target="../media/image29.jpg"/><Relationship Id="rId4" Type="http://schemas.openxmlformats.org/officeDocument/2006/relationships/image" Target="../media/image28.jpg"/></Relationships>
</file>

<file path=ppt/slides/_rels/slide1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jp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4.jpg"/><Relationship Id="rId5" Type="http://schemas.openxmlformats.org/officeDocument/2006/relationships/image" Target="../media/image33.jpg"/><Relationship Id="rId4" Type="http://schemas.openxmlformats.org/officeDocument/2006/relationships/image" Target="../media/image32.jpg"/><Relationship Id="rId9" Type="http://schemas.openxmlformats.org/officeDocument/2006/relationships/image" Target="../media/image37.png"/></Relationships>
</file>

<file path=ppt/slides/_rels/slide1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preencoded.png"/>
          <p:cNvPicPr>
            <a:picLocks noChangeAspect="1"/>
          </p:cNvPicPr>
          <p:nvPr/>
        </p:nvPicPr>
        <p:blipFill>
          <a:blip r:embed="rId3"/>
          <a:stretch>
            <a:fillRect/>
          </a:stretch>
        </p:blipFill>
        <p:spPr>
          <a:xfrm>
            <a:off x="731520" y="731520"/>
            <a:ext cx="640080" cy="640080"/>
          </a:xfrm>
          <a:prstGeom prst="rect">
            <a:avLst/>
          </a:prstGeom>
        </p:spPr>
      </p:pic>
      <p:sp>
        <p:nvSpPr>
          <p:cNvPr id="3" name="Text 0"/>
          <p:cNvSpPr txBox="1"/>
          <p:nvPr/>
        </p:nvSpPr>
        <p:spPr>
          <a:xfrm>
            <a:off x="1508760" y="822960"/>
            <a:ext cx="5486400" cy="457200"/>
          </a:xfrm>
          <a:prstGeom prst="rect">
            <a:avLst/>
          </a:prstGeom>
          <a:noFill/>
          <a:ln/>
        </p:spPr>
        <p:txBody>
          <a:bodyPr wrap="square" lIns="0" tIns="0" rIns="0" bIns="0" rtlCol="0" anchor="ctr"/>
          <a:lstStyle/>
          <a:p>
            <a:pPr marL="0" indent="0">
              <a:buNone/>
            </a:pPr>
            <a:r>
              <a:rPr lang="en-US" sz="1600" b="1" kern="0" spc="300" dirty="0">
                <a:solidFill>
                  <a:schemeClr val="bg1"/>
                </a:solidFill>
              </a:rPr>
              <a:t>CONSULTORIO MEDIFAST</a:t>
            </a:r>
            <a:endParaRPr lang="en-US" sz="1600" dirty="0"/>
          </a:p>
        </p:txBody>
      </p:sp>
      <p:sp>
        <p:nvSpPr>
          <p:cNvPr id="4" name="Text 0"/>
          <p:cNvSpPr>
            <a:spLocks noGrp="1"/>
          </p:cNvSpPr>
          <p:nvPr>
            <p:ph type="title" idx="100" hasCustomPrompt="1"/>
          </p:nvPr>
        </p:nvSpPr>
        <p:spPr>
          <a:xfrm>
            <a:off x="731520" y="1920240"/>
            <a:ext cx="7863840" cy="1463040"/>
          </a:xfrm>
          <a:prstGeom prst="rect">
            <a:avLst/>
          </a:prstGeom>
          <a:noFill/>
          <a:ln/>
        </p:spPr>
        <p:txBody>
          <a:bodyPr wrap="square" lIns="0" tIns="0" rIns="0" bIns="0" rtlCol="0" anchor="b"/>
          <a:lstStyle/>
          <a:p>
            <a:pPr marL="0" indent="0" algn="l">
              <a:buNone/>
            </a:pPr>
            <a:r>
              <a:rPr lang="en-US" sz="6000" b="1" dirty="0">
                <a:solidFill>
                  <a:schemeClr val="bg1"/>
                </a:solidFill>
              </a:rPr>
              <a:t>MEDIFAST</a:t>
            </a:r>
            <a:endParaRPr lang="en-US" sz="6000" dirty="0"/>
          </a:p>
        </p:txBody>
      </p:sp>
      <p:sp>
        <p:nvSpPr>
          <p:cNvPr id="5" name="Text 0"/>
          <p:cNvSpPr>
            <a:spLocks noGrp="1"/>
          </p:cNvSpPr>
          <p:nvPr>
            <p:ph type="body" idx="101" hasCustomPrompt="1"/>
          </p:nvPr>
        </p:nvSpPr>
        <p:spPr>
          <a:xfrm>
            <a:off x="731520" y="3474720"/>
            <a:ext cx="7315200" cy="1097280"/>
          </a:xfrm>
          <a:prstGeom prst="rect">
            <a:avLst/>
          </a:prstGeom>
          <a:noFill/>
          <a:ln/>
        </p:spPr>
        <p:txBody>
          <a:bodyPr wrap="square" lIns="0" tIns="0" rIns="0" bIns="0" rtlCol="0" anchor="t"/>
          <a:lstStyle/>
          <a:p>
            <a:pPr marL="0" indent="0">
              <a:buNone/>
            </a:pPr>
            <a:r>
              <a:rPr lang="en-US" sz="2000" dirty="0">
                <a:solidFill>
                  <a:schemeClr val="bg1"/>
                </a:solidFill>
              </a:rPr>
              <a:t>Sistema web de reserva de citas y simulación de pagos con Yape</a:t>
            </a:r>
            <a:endParaRPr lang="en-US" sz="2000" dirty="0"/>
          </a:p>
        </p:txBody>
      </p:sp>
      <p:sp>
        <p:nvSpPr>
          <p:cNvPr id="6" name="Text 3"/>
          <p:cNvSpPr txBox="1"/>
          <p:nvPr/>
        </p:nvSpPr>
        <p:spPr>
          <a:xfrm>
            <a:off x="731520" y="4846320"/>
            <a:ext cx="7315200" cy="640080"/>
          </a:xfrm>
          <a:prstGeom prst="rect">
            <a:avLst/>
          </a:prstGeom>
          <a:noFill/>
          <a:ln/>
        </p:spPr>
        <p:txBody>
          <a:bodyPr wrap="square" lIns="0" tIns="0" rIns="0" bIns="0" rtlCol="0" anchor="ctr"/>
          <a:lstStyle/>
          <a:p>
            <a:pPr marL="0" indent="0">
              <a:buNone/>
            </a:pPr>
            <a:r>
              <a:rPr lang="en-US" sz="1400" dirty="0">
                <a:solidFill>
                  <a:srgbClr val="D1FAE5"/>
                </a:solidFill>
              </a:rPr>
              <a:t>Sustentación APF3 · Curso Integrador I: Sistemas Software · UTP 2026-02</a:t>
            </a:r>
            <a:endParaRPr lang="en-US" sz="1400" dirty="0"/>
          </a:p>
          <a:p>
            <a:pPr marL="0" indent="0">
              <a:buNone/>
            </a:pPr>
            <a:r>
              <a:rPr lang="en-US" sz="1400" dirty="0">
                <a:solidFill>
                  <a:srgbClr val="D1FAE5"/>
                </a:solidFill>
              </a:rPr>
              <a:t>Docente: Segundo Edwin Cieza Mostacero</a:t>
            </a:r>
            <a:endParaRPr lang="en-US" sz="1400" dirty="0"/>
          </a:p>
        </p:txBody>
      </p:sp>
      <p:sp>
        <p:nvSpPr>
          <p:cNvPr id="7" name="team-card"/>
          <p:cNvSpPr/>
          <p:nvPr/>
        </p:nvSpPr>
        <p:spPr>
          <a:xfrm>
            <a:off x="8686800" y="1737360"/>
            <a:ext cx="2926080" cy="3566160"/>
          </a:xfrm>
          <a:prstGeom prst="roundRect">
            <a:avLst>
              <a:gd name="adj" fmla="val 4688"/>
            </a:avLst>
          </a:prstGeom>
          <a:solidFill>
            <a:srgbClr val="0A4A3E"/>
          </a:solidFill>
          <a:ln w="12700">
            <a:solidFill>
              <a:srgbClr val="0A4A3E"/>
            </a:solidFill>
            <a:prstDash val="solid"/>
          </a:ln>
        </p:spPr>
        <p:txBody>
          <a:bodyPr/>
          <a:lstStyle/>
          <a:p>
            <a:endParaRPr lang="es-PE"/>
          </a:p>
        </p:txBody>
      </p:sp>
      <p:sp>
        <p:nvSpPr>
          <p:cNvPr id="8" name="Text 5"/>
          <p:cNvSpPr txBox="1"/>
          <p:nvPr/>
        </p:nvSpPr>
        <p:spPr>
          <a:xfrm>
            <a:off x="8961120" y="1920240"/>
            <a:ext cx="2377440" cy="365760"/>
          </a:xfrm>
          <a:prstGeom prst="rect">
            <a:avLst/>
          </a:prstGeom>
          <a:noFill/>
          <a:ln/>
        </p:spPr>
        <p:txBody>
          <a:bodyPr wrap="square" lIns="0" tIns="0" rIns="0" bIns="0" rtlCol="0" anchor="ctr"/>
          <a:lstStyle/>
          <a:p>
            <a:pPr marL="0" indent="0">
              <a:buNone/>
            </a:pPr>
            <a:r>
              <a:rPr lang="en-US" sz="1200" b="1" kern="0" spc="200" dirty="0">
                <a:solidFill>
                  <a:srgbClr val="10B981"/>
                </a:solidFill>
              </a:rPr>
              <a:t>EQUIPO</a:t>
            </a:r>
            <a:endParaRPr lang="en-US" sz="1200" dirty="0"/>
          </a:p>
        </p:txBody>
      </p:sp>
      <p:sp>
        <p:nvSpPr>
          <p:cNvPr id="9" name="Text 6"/>
          <p:cNvSpPr txBox="1"/>
          <p:nvPr/>
        </p:nvSpPr>
        <p:spPr>
          <a:xfrm>
            <a:off x="8961120" y="2377440"/>
            <a:ext cx="2560320" cy="594360"/>
          </a:xfrm>
          <a:prstGeom prst="rect">
            <a:avLst/>
          </a:prstGeom>
          <a:noFill/>
          <a:ln/>
        </p:spPr>
        <p:txBody>
          <a:bodyPr wrap="square" lIns="0" tIns="0" rIns="0" bIns="0" rtlCol="0" anchor="t"/>
          <a:lstStyle/>
          <a:p>
            <a:pPr marL="0" indent="0">
              <a:buNone/>
            </a:pPr>
            <a:r>
              <a:rPr lang="en-US" sz="1500" b="1" dirty="0">
                <a:solidFill>
                  <a:schemeClr val="bg1"/>
                </a:solidFill>
              </a:rPr>
              <a:t>Jorge Linares Barrantes</a:t>
            </a:r>
            <a:endParaRPr lang="en-US" sz="1500" dirty="0"/>
          </a:p>
          <a:p>
            <a:pPr marL="0" indent="0">
              <a:buNone/>
            </a:pPr>
            <a:r>
              <a:rPr lang="en-US" sz="1200" dirty="0">
                <a:solidFill>
                  <a:srgbClr val="D1FAE5"/>
                </a:solidFill>
              </a:rPr>
              <a:t>U23262883</a:t>
            </a:r>
            <a:endParaRPr lang="en-US" sz="1500" dirty="0"/>
          </a:p>
        </p:txBody>
      </p:sp>
      <p:sp>
        <p:nvSpPr>
          <p:cNvPr id="10" name="Text 7"/>
          <p:cNvSpPr txBox="1"/>
          <p:nvPr/>
        </p:nvSpPr>
        <p:spPr>
          <a:xfrm>
            <a:off x="8961120" y="3063240"/>
            <a:ext cx="2560320" cy="594360"/>
          </a:xfrm>
          <a:prstGeom prst="rect">
            <a:avLst/>
          </a:prstGeom>
          <a:noFill/>
          <a:ln/>
        </p:spPr>
        <p:txBody>
          <a:bodyPr wrap="square" lIns="0" tIns="0" rIns="0" bIns="0" rtlCol="0" anchor="t"/>
          <a:lstStyle/>
          <a:p>
            <a:pPr marL="0" indent="0">
              <a:buNone/>
            </a:pPr>
            <a:r>
              <a:rPr lang="en-US" sz="1500" b="1" dirty="0">
                <a:solidFill>
                  <a:schemeClr val="bg1"/>
                </a:solidFill>
              </a:rPr>
              <a:t>Manuel Guarniz Cruz</a:t>
            </a:r>
            <a:endParaRPr lang="en-US" sz="1500" dirty="0"/>
          </a:p>
          <a:p>
            <a:pPr marL="0" indent="0">
              <a:buNone/>
            </a:pPr>
            <a:r>
              <a:rPr lang="en-US" sz="1200" dirty="0">
                <a:solidFill>
                  <a:srgbClr val="D1FAE5"/>
                </a:solidFill>
              </a:rPr>
              <a:t>U24314208</a:t>
            </a:r>
            <a:endParaRPr lang="en-US" sz="1500" dirty="0"/>
          </a:p>
        </p:txBody>
      </p:sp>
      <p:sp>
        <p:nvSpPr>
          <p:cNvPr id="11" name="Text 8"/>
          <p:cNvSpPr txBox="1"/>
          <p:nvPr/>
        </p:nvSpPr>
        <p:spPr>
          <a:xfrm>
            <a:off x="8961120" y="3749040"/>
            <a:ext cx="2560320" cy="594360"/>
          </a:xfrm>
          <a:prstGeom prst="rect">
            <a:avLst/>
          </a:prstGeom>
          <a:noFill/>
          <a:ln/>
        </p:spPr>
        <p:txBody>
          <a:bodyPr wrap="square" lIns="0" tIns="0" rIns="0" bIns="0" rtlCol="0" anchor="t"/>
          <a:lstStyle/>
          <a:p>
            <a:pPr marL="0" indent="0">
              <a:buNone/>
            </a:pPr>
            <a:r>
              <a:rPr lang="en-US" sz="1500" b="1" dirty="0">
                <a:solidFill>
                  <a:schemeClr val="bg1"/>
                </a:solidFill>
              </a:rPr>
              <a:t>Jennifer Angulo Leiva</a:t>
            </a:r>
            <a:endParaRPr lang="en-US" sz="1500" dirty="0"/>
          </a:p>
          <a:p>
            <a:pPr marL="0" indent="0">
              <a:buNone/>
            </a:pPr>
            <a:r>
              <a:rPr lang="en-US" sz="1200" dirty="0">
                <a:solidFill>
                  <a:srgbClr val="D1FAE5"/>
                </a:solidFill>
              </a:rPr>
              <a:t>U24203850</a:t>
            </a:r>
            <a:endParaRPr lang="en-US" sz="1500" dirty="0"/>
          </a:p>
        </p:txBody>
      </p:sp>
      <p:sp>
        <p:nvSpPr>
          <p:cNvPr id="12" name="Text 9"/>
          <p:cNvSpPr txBox="1"/>
          <p:nvPr/>
        </p:nvSpPr>
        <p:spPr>
          <a:xfrm>
            <a:off x="8961120" y="4434840"/>
            <a:ext cx="2560320" cy="594360"/>
          </a:xfrm>
          <a:prstGeom prst="rect">
            <a:avLst/>
          </a:prstGeom>
          <a:noFill/>
          <a:ln/>
        </p:spPr>
        <p:txBody>
          <a:bodyPr wrap="square" lIns="0" tIns="0" rIns="0" bIns="0" rtlCol="0" anchor="t"/>
          <a:lstStyle/>
          <a:p>
            <a:pPr marL="0" indent="0">
              <a:buNone/>
            </a:pPr>
            <a:r>
              <a:rPr lang="en-US" sz="1500" b="1" dirty="0">
                <a:solidFill>
                  <a:schemeClr val="bg1"/>
                </a:solidFill>
              </a:rPr>
              <a:t>Jack Hurtado Razuri</a:t>
            </a:r>
            <a:endParaRPr lang="en-US" sz="1500" dirty="0"/>
          </a:p>
          <a:p>
            <a:pPr marL="0" indent="0">
              <a:buNone/>
            </a:pPr>
            <a:r>
              <a:rPr lang="en-US" sz="1200" dirty="0">
                <a:solidFill>
                  <a:srgbClr val="D1FAE5"/>
                </a:solidFill>
              </a:rPr>
              <a:t>U24228666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EL PROBLEMA</a:t>
            </a:r>
            <a:endParaRPr lang="en-US" sz="1200" dirty="0"/>
          </a:p>
        </p:txBody>
      </p:sp>
      <p:sp>
        <p:nvSpPr>
          <p:cNvPr id="3" name="Text 0"/>
          <p:cNvSpPr>
            <a:spLocks noGrp="1"/>
          </p:cNvSpPr>
          <p:nvPr>
            <p:ph type="title" idx="101" hasCustomPrompt="1"/>
          </p:nvPr>
        </p:nvSpPr>
        <p:spPr>
          <a:xfrm>
            <a:off x="548640" y="640080"/>
            <a:ext cx="9144000" cy="731520"/>
          </a:xfrm>
          <a:prstGeom prst="rect">
            <a:avLst/>
          </a:prstGeom>
          <a:noFill/>
          <a:ln/>
        </p:spPr>
        <p:txBody>
          <a:bodyPr wrap="square" lIns="0" tIns="0" rIns="0" bIns="0" rtlCol="0" anchor="t"/>
          <a:lstStyle/>
          <a:p>
            <a:pPr marL="0" indent="0" algn="l">
              <a:buNone/>
            </a:pPr>
            <a:r>
              <a:rPr lang="en-US" sz="3600" b="1" dirty="0">
                <a:solidFill>
                  <a:schemeClr val="tx1"/>
                </a:solidFill>
              </a:rPr>
              <a:t>De un cuaderno y WhatsApp a una agenda web</a:t>
            </a:r>
            <a:endParaRPr lang="en-US" sz="3600" dirty="0"/>
          </a:p>
        </p:txBody>
      </p:sp>
      <p:sp>
        <p:nvSpPr>
          <p:cNvPr id="6" name="col-0"/>
          <p:cNvSpPr/>
          <p:nvPr/>
        </p:nvSpPr>
        <p:spPr>
          <a:xfrm>
            <a:off x="548640" y="1645920"/>
            <a:ext cx="5440680" cy="4480560"/>
          </a:xfrm>
          <a:prstGeom prst="roundRect">
            <a:avLst>
              <a:gd name="adj" fmla="val 2449"/>
            </a:avLst>
          </a:prstGeom>
          <a:solidFill>
            <a:srgbClr val="FEF2F2"/>
          </a:solidFill>
          <a:ln w="12700">
            <a:solidFill>
              <a:srgbClr val="FEF2F2"/>
            </a:solidFill>
            <a:prstDash val="solid"/>
          </a:ln>
        </p:spPr>
        <p:txBody>
          <a:bodyPr/>
          <a:lstStyle/>
          <a:p>
            <a:endParaRPr lang="es-PE"/>
          </a:p>
        </p:txBody>
      </p:sp>
      <p:sp>
        <p:nvSpPr>
          <p:cNvPr id="7" name="icon-bg"/>
          <p:cNvSpPr/>
          <p:nvPr/>
        </p:nvSpPr>
        <p:spPr>
          <a:xfrm>
            <a:off x="868680" y="1874520"/>
            <a:ext cx="594360" cy="594360"/>
          </a:xfrm>
          <a:prstGeom prst="ellipse">
            <a:avLst/>
          </a:prstGeom>
          <a:solidFill>
            <a:schemeClr val="bg1"/>
          </a:solidFill>
          <a:ln w="12700">
            <a:solidFill>
              <a:schemeClr val="bg1"/>
            </a:solidFill>
            <a:prstDash val="solid"/>
          </a:ln>
        </p:spPr>
        <p:txBody>
          <a:bodyPr/>
          <a:lstStyle/>
          <a:p>
            <a:endParaRPr lang="es-PE"/>
          </a:p>
        </p:txBody>
      </p:sp>
      <p:pic>
        <p:nvPicPr>
          <p:cNvPr id="8" name="icon" descr="preencoded.png"/>
          <p:cNvPicPr>
            <a:picLocks noChangeAspect="1"/>
          </p:cNvPicPr>
          <p:nvPr/>
        </p:nvPicPr>
        <p:blipFill>
          <a:blip r:embed="rId3"/>
          <a:stretch>
            <a:fillRect/>
          </a:stretch>
        </p:blipFill>
        <p:spPr>
          <a:xfrm>
            <a:off x="1017270" y="2023110"/>
            <a:ext cx="297180" cy="297180"/>
          </a:xfrm>
          <a:prstGeom prst="rect">
            <a:avLst/>
          </a:prstGeom>
        </p:spPr>
      </p:pic>
      <p:sp>
        <p:nvSpPr>
          <p:cNvPr id="9" name="Text 6"/>
          <p:cNvSpPr txBox="1"/>
          <p:nvPr/>
        </p:nvSpPr>
        <p:spPr>
          <a:xfrm>
            <a:off x="1600200" y="1874520"/>
            <a:ext cx="4114800" cy="594360"/>
          </a:xfrm>
          <a:prstGeom prst="rect">
            <a:avLst/>
          </a:prstGeom>
          <a:noFill/>
          <a:ln/>
        </p:spPr>
        <p:txBody>
          <a:bodyPr wrap="square" lIns="0" tIns="0" rIns="0" bIns="0" rtlCol="0" anchor="ctr"/>
          <a:lstStyle/>
          <a:p>
            <a:pPr marL="0" indent="0">
              <a:buNone/>
            </a:pPr>
            <a:r>
              <a:rPr lang="en-US" sz="2400" b="1" dirty="0">
                <a:solidFill>
                  <a:schemeClr val="tx1"/>
                </a:solidFill>
              </a:rPr>
              <a:t>Hoy</a:t>
            </a:r>
            <a:endParaRPr lang="en-US" sz="2400" dirty="0"/>
          </a:p>
        </p:txBody>
      </p:sp>
      <p:sp>
        <p:nvSpPr>
          <p:cNvPr id="10" name="Text 7"/>
          <p:cNvSpPr txBox="1"/>
          <p:nvPr/>
        </p:nvSpPr>
        <p:spPr>
          <a:xfrm>
            <a:off x="914400" y="2743200"/>
            <a:ext cx="4754880" cy="731520"/>
          </a:xfrm>
          <a:prstGeom prst="rect">
            <a:avLst/>
          </a:prstGeom>
          <a:noFill/>
          <a:ln/>
        </p:spPr>
        <p:txBody>
          <a:bodyPr wrap="square" lIns="0" tIns="0" rIns="0" bIns="0" rtlCol="0" anchor="t"/>
          <a:lstStyle/>
          <a:p>
            <a:pPr marL="0" indent="0">
              <a:buNone/>
            </a:pPr>
            <a:r>
              <a:rPr lang="en-US" sz="1700" b="1" dirty="0">
                <a:solidFill>
                  <a:schemeClr val="tx1"/>
                </a:solidFill>
              </a:rPr>
              <a:t>Citas anotadas a mano</a:t>
            </a:r>
            <a:endParaRPr lang="en-US" sz="1700" dirty="0"/>
          </a:p>
          <a:p>
            <a:pPr marL="0" indent="0">
              <a:buNone/>
            </a:pPr>
            <a:r>
              <a:rPr lang="en-US" sz="1400" dirty="0">
                <a:solidFill>
                  <a:schemeClr val="accent6"/>
                </a:solidFill>
              </a:rPr>
              <a:t>La agenda vive en un cuaderno</a:t>
            </a:r>
            <a:endParaRPr lang="en-US" sz="1700" dirty="0"/>
          </a:p>
        </p:txBody>
      </p:sp>
      <p:sp>
        <p:nvSpPr>
          <p:cNvPr id="11" name="Text 8"/>
          <p:cNvSpPr txBox="1"/>
          <p:nvPr/>
        </p:nvSpPr>
        <p:spPr>
          <a:xfrm>
            <a:off x="914400" y="3566160"/>
            <a:ext cx="4754880" cy="731520"/>
          </a:xfrm>
          <a:prstGeom prst="rect">
            <a:avLst/>
          </a:prstGeom>
          <a:noFill/>
          <a:ln/>
        </p:spPr>
        <p:txBody>
          <a:bodyPr wrap="square" lIns="0" tIns="0" rIns="0" bIns="0" rtlCol="0" anchor="t"/>
          <a:lstStyle/>
          <a:p>
            <a:pPr marL="0" indent="0">
              <a:buNone/>
            </a:pPr>
            <a:r>
              <a:rPr lang="en-US" sz="1700" b="1" dirty="0">
                <a:solidFill>
                  <a:schemeClr val="tx1"/>
                </a:solidFill>
              </a:rPr>
              <a:t>Disponibilidad por chat</a:t>
            </a:r>
            <a:endParaRPr lang="en-US" sz="1700" dirty="0"/>
          </a:p>
          <a:p>
            <a:pPr marL="0" indent="0">
              <a:buNone/>
            </a:pPr>
            <a:r>
              <a:rPr lang="en-US" sz="1400" dirty="0">
                <a:solidFill>
                  <a:schemeClr val="accent6"/>
                </a:solidFill>
              </a:rPr>
              <a:t>Se coordina con cada paciente por separado</a:t>
            </a:r>
            <a:endParaRPr lang="en-US" sz="1700" dirty="0"/>
          </a:p>
        </p:txBody>
      </p:sp>
      <p:sp>
        <p:nvSpPr>
          <p:cNvPr id="12" name="Text 9"/>
          <p:cNvSpPr txBox="1"/>
          <p:nvPr/>
        </p:nvSpPr>
        <p:spPr>
          <a:xfrm>
            <a:off x="914400" y="4389120"/>
            <a:ext cx="4754880" cy="731520"/>
          </a:xfrm>
          <a:prstGeom prst="rect">
            <a:avLst/>
          </a:prstGeom>
          <a:noFill/>
          <a:ln/>
        </p:spPr>
        <p:txBody>
          <a:bodyPr wrap="square" lIns="0" tIns="0" rIns="0" bIns="0" rtlCol="0" anchor="t"/>
          <a:lstStyle/>
          <a:p>
            <a:pPr marL="0" indent="0">
              <a:buNone/>
            </a:pPr>
            <a:r>
              <a:rPr lang="en-US" sz="1700" b="1" dirty="0">
                <a:solidFill>
                  <a:schemeClr val="tx1"/>
                </a:solidFill>
              </a:rPr>
              <a:t>Pagos por capturas</a:t>
            </a:r>
            <a:endParaRPr lang="en-US" sz="1700" dirty="0"/>
          </a:p>
          <a:p>
            <a:pPr marL="0" indent="0">
              <a:buNone/>
            </a:pPr>
            <a:r>
              <a:rPr lang="en-US" sz="1400" dirty="0">
                <a:solidFill>
                  <a:schemeClr val="accent6"/>
                </a:solidFill>
              </a:rPr>
              <a:t>Las constancias llegan por WhatsApp</a:t>
            </a:r>
            <a:endParaRPr lang="en-US" sz="1700" dirty="0"/>
          </a:p>
        </p:txBody>
      </p:sp>
      <p:sp>
        <p:nvSpPr>
          <p:cNvPr id="13" name="Text 10"/>
          <p:cNvSpPr txBox="1"/>
          <p:nvPr/>
        </p:nvSpPr>
        <p:spPr>
          <a:xfrm>
            <a:off x="914400" y="5212080"/>
            <a:ext cx="4754880" cy="731520"/>
          </a:xfrm>
          <a:prstGeom prst="rect">
            <a:avLst/>
          </a:prstGeom>
          <a:noFill/>
          <a:ln/>
        </p:spPr>
        <p:txBody>
          <a:bodyPr wrap="square" lIns="0" tIns="0" rIns="0" bIns="0" rtlCol="0" anchor="t"/>
          <a:lstStyle/>
          <a:p>
            <a:pPr marL="0" indent="0">
              <a:buNone/>
            </a:pPr>
            <a:r>
              <a:rPr lang="en-US" sz="1700" b="1" dirty="0">
                <a:solidFill>
                  <a:schemeClr val="tx1"/>
                </a:solidFill>
              </a:rPr>
              <a:t>Cruces de horario</a:t>
            </a:r>
            <a:endParaRPr lang="en-US" sz="1700" dirty="0"/>
          </a:p>
          <a:p>
            <a:pPr marL="0" indent="0">
              <a:buNone/>
            </a:pPr>
            <a:r>
              <a:rPr lang="en-US" sz="1400" dirty="0">
                <a:solidFill>
                  <a:schemeClr val="accent6"/>
                </a:solidFill>
              </a:rPr>
              <a:t>Nada impide dar el mismo bloque dos veces</a:t>
            </a:r>
            <a:endParaRPr lang="en-US" sz="1700" dirty="0"/>
          </a:p>
        </p:txBody>
      </p:sp>
      <p:sp>
        <p:nvSpPr>
          <p:cNvPr id="14" name="col-1"/>
          <p:cNvSpPr/>
          <p:nvPr/>
        </p:nvSpPr>
        <p:spPr>
          <a:xfrm>
            <a:off x="6172200" y="1645920"/>
            <a:ext cx="5440680" cy="4480560"/>
          </a:xfrm>
          <a:prstGeom prst="roundRect">
            <a:avLst>
              <a:gd name="adj" fmla="val 2449"/>
            </a:avLst>
          </a:prstGeom>
          <a:solidFill>
            <a:srgbClr val="ECFDF5"/>
          </a:solidFill>
          <a:ln w="12700">
            <a:solidFill>
              <a:srgbClr val="ECFDF5"/>
            </a:solidFill>
            <a:prstDash val="solid"/>
          </a:ln>
        </p:spPr>
        <p:txBody>
          <a:bodyPr/>
          <a:lstStyle/>
          <a:p>
            <a:endParaRPr lang="es-PE"/>
          </a:p>
        </p:txBody>
      </p:sp>
      <p:sp>
        <p:nvSpPr>
          <p:cNvPr id="15" name="icon-bg"/>
          <p:cNvSpPr/>
          <p:nvPr/>
        </p:nvSpPr>
        <p:spPr>
          <a:xfrm>
            <a:off x="6492240" y="1874520"/>
            <a:ext cx="594360" cy="594360"/>
          </a:xfrm>
          <a:prstGeom prst="ellipse">
            <a:avLst/>
          </a:prstGeom>
          <a:solidFill>
            <a:schemeClr val="bg1"/>
          </a:solidFill>
          <a:ln w="12700">
            <a:solidFill>
              <a:schemeClr val="bg1"/>
            </a:solidFill>
            <a:prstDash val="solid"/>
          </a:ln>
        </p:spPr>
        <p:txBody>
          <a:bodyPr/>
          <a:lstStyle/>
          <a:p>
            <a:endParaRPr lang="es-PE"/>
          </a:p>
        </p:txBody>
      </p:sp>
      <p:pic>
        <p:nvPicPr>
          <p:cNvPr id="16" name="icon" descr="preencoded.png"/>
          <p:cNvPicPr>
            <a:picLocks noChangeAspect="1"/>
          </p:cNvPicPr>
          <p:nvPr/>
        </p:nvPicPr>
        <p:blipFill>
          <a:blip r:embed="rId4"/>
          <a:stretch>
            <a:fillRect/>
          </a:stretch>
        </p:blipFill>
        <p:spPr>
          <a:xfrm>
            <a:off x="6640830" y="2023110"/>
            <a:ext cx="297180" cy="297180"/>
          </a:xfrm>
          <a:prstGeom prst="rect">
            <a:avLst/>
          </a:prstGeom>
        </p:spPr>
      </p:pic>
      <p:sp>
        <p:nvSpPr>
          <p:cNvPr id="17" name="Text 13"/>
          <p:cNvSpPr txBox="1"/>
          <p:nvPr/>
        </p:nvSpPr>
        <p:spPr>
          <a:xfrm>
            <a:off x="7223760" y="1874520"/>
            <a:ext cx="4114800" cy="594360"/>
          </a:xfrm>
          <a:prstGeom prst="rect">
            <a:avLst/>
          </a:prstGeom>
          <a:noFill/>
          <a:ln/>
        </p:spPr>
        <p:txBody>
          <a:bodyPr wrap="square" lIns="0" tIns="0" rIns="0" bIns="0" rtlCol="0" anchor="ctr"/>
          <a:lstStyle/>
          <a:p>
            <a:pPr marL="0" indent="0">
              <a:buNone/>
            </a:pPr>
            <a:r>
              <a:rPr lang="en-US" sz="2400" b="1" dirty="0">
                <a:solidFill>
                  <a:schemeClr val="tx2"/>
                </a:solidFill>
              </a:rPr>
              <a:t>Con MEDIFAST</a:t>
            </a:r>
            <a:endParaRPr lang="en-US" sz="2400" dirty="0"/>
          </a:p>
        </p:txBody>
      </p:sp>
      <p:sp>
        <p:nvSpPr>
          <p:cNvPr id="18" name="Text 14"/>
          <p:cNvSpPr txBox="1"/>
          <p:nvPr/>
        </p:nvSpPr>
        <p:spPr>
          <a:xfrm>
            <a:off x="6537960" y="2743200"/>
            <a:ext cx="4754880" cy="731520"/>
          </a:xfrm>
          <a:prstGeom prst="rect">
            <a:avLst/>
          </a:prstGeom>
          <a:noFill/>
          <a:ln/>
        </p:spPr>
        <p:txBody>
          <a:bodyPr wrap="square" lIns="0" tIns="0" rIns="0" bIns="0" rtlCol="0" anchor="t"/>
          <a:lstStyle/>
          <a:p>
            <a:pPr marL="0" indent="0">
              <a:buNone/>
            </a:pPr>
            <a:r>
              <a:rPr lang="en-US" sz="1700" b="1" dirty="0">
                <a:solidFill>
                  <a:schemeClr val="tx1"/>
                </a:solidFill>
              </a:rPr>
              <a:t>Agenda centralizada</a:t>
            </a:r>
            <a:endParaRPr lang="en-US" sz="1700" dirty="0"/>
          </a:p>
          <a:p>
            <a:pPr marL="0" indent="0">
              <a:buNone/>
            </a:pPr>
            <a:r>
              <a:rPr lang="en-US" sz="1400" dirty="0">
                <a:solidFill>
                  <a:schemeClr val="accent6"/>
                </a:solidFill>
              </a:rPr>
              <a:t>Pacientes y médico ven la misma información</a:t>
            </a:r>
            <a:endParaRPr lang="en-US" sz="1700" dirty="0"/>
          </a:p>
        </p:txBody>
      </p:sp>
      <p:sp>
        <p:nvSpPr>
          <p:cNvPr id="19" name="Text 15"/>
          <p:cNvSpPr txBox="1"/>
          <p:nvPr/>
        </p:nvSpPr>
        <p:spPr>
          <a:xfrm>
            <a:off x="6537960" y="3566160"/>
            <a:ext cx="4754880" cy="731520"/>
          </a:xfrm>
          <a:prstGeom prst="rect">
            <a:avLst/>
          </a:prstGeom>
          <a:noFill/>
          <a:ln/>
        </p:spPr>
        <p:txBody>
          <a:bodyPr wrap="square" lIns="0" tIns="0" rIns="0" bIns="0" rtlCol="0" anchor="t"/>
          <a:lstStyle/>
          <a:p>
            <a:pPr marL="0" indent="0">
              <a:buNone/>
            </a:pPr>
            <a:r>
              <a:rPr lang="en-US" sz="1700" b="1" dirty="0">
                <a:solidFill>
                  <a:schemeClr val="tx1"/>
                </a:solidFill>
              </a:rPr>
              <a:t>Horarios libres en línea</a:t>
            </a:r>
            <a:endParaRPr lang="en-US" sz="1700" dirty="0"/>
          </a:p>
          <a:p>
            <a:pPr marL="0" indent="0">
              <a:buNone/>
            </a:pPr>
            <a:r>
              <a:rPr lang="en-US" sz="1400" dirty="0">
                <a:solidFill>
                  <a:schemeClr val="accent6"/>
                </a:solidFill>
              </a:rPr>
              <a:t>Reserva de mañana a +30 días</a:t>
            </a:r>
            <a:endParaRPr lang="en-US" sz="1700" dirty="0"/>
          </a:p>
        </p:txBody>
      </p:sp>
      <p:sp>
        <p:nvSpPr>
          <p:cNvPr id="20" name="Text 16"/>
          <p:cNvSpPr txBox="1"/>
          <p:nvPr/>
        </p:nvSpPr>
        <p:spPr>
          <a:xfrm>
            <a:off x="6537960" y="4389120"/>
            <a:ext cx="4754880" cy="731520"/>
          </a:xfrm>
          <a:prstGeom prst="rect">
            <a:avLst/>
          </a:prstGeom>
          <a:noFill/>
          <a:ln/>
        </p:spPr>
        <p:txBody>
          <a:bodyPr wrap="square" lIns="0" tIns="0" rIns="0" bIns="0" rtlCol="0" anchor="t"/>
          <a:lstStyle/>
          <a:p>
            <a:pPr marL="0" indent="0">
              <a:buNone/>
            </a:pPr>
            <a:r>
              <a:rPr lang="en-US" sz="1700" b="1" dirty="0">
                <a:solidFill>
                  <a:schemeClr val="tx1"/>
                </a:solidFill>
              </a:rPr>
              <a:t>Constancia adjunta</a:t>
            </a:r>
            <a:endParaRPr lang="en-US" sz="1700" dirty="0"/>
          </a:p>
          <a:p>
            <a:pPr marL="0" indent="0">
              <a:buNone/>
            </a:pPr>
            <a:r>
              <a:rPr lang="en-US" sz="1400" dirty="0">
                <a:solidFill>
                  <a:schemeClr val="accent6"/>
                </a:solidFill>
              </a:rPr>
              <a:t>El médico valida o rechaza el pago</a:t>
            </a:r>
            <a:endParaRPr lang="en-US" sz="1700" dirty="0"/>
          </a:p>
        </p:txBody>
      </p:sp>
      <p:sp>
        <p:nvSpPr>
          <p:cNvPr id="21" name="Text 17"/>
          <p:cNvSpPr txBox="1"/>
          <p:nvPr/>
        </p:nvSpPr>
        <p:spPr>
          <a:xfrm>
            <a:off x="6537960" y="5212080"/>
            <a:ext cx="4754880" cy="731520"/>
          </a:xfrm>
          <a:prstGeom prst="rect">
            <a:avLst/>
          </a:prstGeom>
          <a:noFill/>
          <a:ln/>
        </p:spPr>
        <p:txBody>
          <a:bodyPr wrap="square" lIns="0" tIns="0" rIns="0" bIns="0" rtlCol="0" anchor="t"/>
          <a:lstStyle/>
          <a:p>
            <a:pPr marL="0" indent="0">
              <a:buNone/>
            </a:pPr>
            <a:r>
              <a:rPr lang="en-US" sz="1700" b="1" dirty="0">
                <a:solidFill>
                  <a:schemeClr val="tx1"/>
                </a:solidFill>
              </a:rPr>
              <a:t>Integridad en la BD</a:t>
            </a:r>
            <a:endParaRPr lang="en-US" sz="1700" dirty="0"/>
          </a:p>
          <a:p>
            <a:pPr marL="0" indent="0">
              <a:buNone/>
            </a:pPr>
            <a:r>
              <a:rPr lang="en-US" sz="1400" dirty="0">
                <a:solidFill>
                  <a:schemeClr val="accent6"/>
                </a:solidFill>
              </a:rPr>
              <a:t>Un bloque, una </a:t>
            </a:r>
            <a:r>
              <a:rPr lang="en-US" sz="1400" dirty="0" err="1">
                <a:solidFill>
                  <a:schemeClr val="accent6"/>
                </a:solidFill>
              </a:rPr>
              <a:t>cita</a:t>
            </a:r>
            <a:r>
              <a:rPr lang="en-US" sz="1400" dirty="0">
                <a:solidFill>
                  <a:schemeClr val="accent6"/>
                </a:solidFill>
              </a:rPr>
              <a:t> </a:t>
            </a:r>
            <a:r>
              <a:rPr lang="en-US" sz="1400" dirty="0" err="1">
                <a:solidFill>
                  <a:schemeClr val="accent6"/>
                </a:solidFill>
              </a:rPr>
              <a:t>activa</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ALCANCE COMPROMETIDO</a:t>
            </a:r>
            <a:endParaRPr lang="en-US" sz="1200" dirty="0"/>
          </a:p>
        </p:txBody>
      </p:sp>
      <p:sp>
        <p:nvSpPr>
          <p:cNvPr id="3" name="Text 0"/>
          <p:cNvSpPr>
            <a:spLocks noGrp="1"/>
          </p:cNvSpPr>
          <p:nvPr>
            <p:ph type="title" idx="101" hasCustomPrompt="1"/>
          </p:nvPr>
        </p:nvSpPr>
        <p:spPr>
          <a:xfrm>
            <a:off x="548640" y="640080"/>
            <a:ext cx="9144000" cy="731520"/>
          </a:xfrm>
          <a:prstGeom prst="rect">
            <a:avLst/>
          </a:prstGeom>
          <a:noFill/>
          <a:ln/>
        </p:spPr>
        <p:txBody>
          <a:bodyPr wrap="square" lIns="0" tIns="0" rIns="0" bIns="0" rtlCol="0" anchor="t"/>
          <a:lstStyle/>
          <a:p>
            <a:pPr marL="0" indent="0" algn="l">
              <a:buNone/>
            </a:pPr>
            <a:r>
              <a:rPr lang="en-US" sz="3600" b="1" dirty="0">
                <a:solidFill>
                  <a:schemeClr val="tx1"/>
                </a:solidFill>
              </a:rPr>
              <a:t>Qué incluye MEDIFAST y qué queda fuera</a:t>
            </a:r>
            <a:endParaRPr lang="en-US" sz="3600" dirty="0"/>
          </a:p>
        </p:txBody>
      </p:sp>
      <p:sp>
        <p:nvSpPr>
          <p:cNvPr id="6" name="stat-0"/>
          <p:cNvSpPr/>
          <p:nvPr/>
        </p:nvSpPr>
        <p:spPr>
          <a:xfrm>
            <a:off x="548640" y="1645920"/>
            <a:ext cx="2633472" cy="1463040"/>
          </a:xfrm>
          <a:prstGeom prst="roundRect">
            <a:avLst>
              <a:gd name="adj" fmla="val 7500"/>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7" name="Text 5"/>
          <p:cNvSpPr txBox="1"/>
          <p:nvPr/>
        </p:nvSpPr>
        <p:spPr>
          <a:xfrm>
            <a:off x="822960" y="1737360"/>
            <a:ext cx="2194560" cy="777240"/>
          </a:xfrm>
          <a:prstGeom prst="rect">
            <a:avLst/>
          </a:prstGeom>
          <a:noFill/>
          <a:ln/>
        </p:spPr>
        <p:txBody>
          <a:bodyPr wrap="square" lIns="0" tIns="0" rIns="0" bIns="0" rtlCol="0" anchor="ctr"/>
          <a:lstStyle/>
          <a:p>
            <a:pPr marL="0" indent="0">
              <a:buNone/>
            </a:pPr>
            <a:r>
              <a:rPr lang="en-US" sz="4800" b="1" dirty="0">
                <a:solidFill>
                  <a:schemeClr val="tx2"/>
                </a:solidFill>
              </a:rPr>
              <a:t>11</a:t>
            </a:r>
            <a:endParaRPr lang="en-US" sz="4800" dirty="0"/>
          </a:p>
        </p:txBody>
      </p:sp>
      <p:sp>
        <p:nvSpPr>
          <p:cNvPr id="8" name="Text 6"/>
          <p:cNvSpPr txBox="1"/>
          <p:nvPr/>
        </p:nvSpPr>
        <p:spPr>
          <a:xfrm>
            <a:off x="822960" y="2514600"/>
            <a:ext cx="2286000" cy="502920"/>
          </a:xfrm>
          <a:prstGeom prst="rect">
            <a:avLst/>
          </a:prstGeom>
          <a:noFill/>
          <a:ln/>
        </p:spPr>
        <p:txBody>
          <a:bodyPr wrap="square" lIns="0" tIns="0" rIns="0" bIns="0" rtlCol="0" anchor="ctr"/>
          <a:lstStyle/>
          <a:p>
            <a:pPr marL="0" indent="0">
              <a:buNone/>
            </a:pPr>
            <a:r>
              <a:rPr lang="en-US" sz="1400" b="1" dirty="0" err="1">
                <a:solidFill>
                  <a:schemeClr val="tx1"/>
                </a:solidFill>
              </a:rPr>
              <a:t>pantallas</a:t>
            </a:r>
            <a:endParaRPr lang="en-US" sz="1400" dirty="0"/>
          </a:p>
        </p:txBody>
      </p:sp>
      <p:sp>
        <p:nvSpPr>
          <p:cNvPr id="9" name="stat-1"/>
          <p:cNvSpPr/>
          <p:nvPr/>
        </p:nvSpPr>
        <p:spPr>
          <a:xfrm>
            <a:off x="3364992" y="1645920"/>
            <a:ext cx="2633472" cy="1463040"/>
          </a:xfrm>
          <a:prstGeom prst="roundRect">
            <a:avLst>
              <a:gd name="adj" fmla="val 7500"/>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10" name="Text 8"/>
          <p:cNvSpPr txBox="1"/>
          <p:nvPr/>
        </p:nvSpPr>
        <p:spPr>
          <a:xfrm>
            <a:off x="3639312" y="1737360"/>
            <a:ext cx="2194560" cy="777240"/>
          </a:xfrm>
          <a:prstGeom prst="rect">
            <a:avLst/>
          </a:prstGeom>
          <a:noFill/>
          <a:ln/>
        </p:spPr>
        <p:txBody>
          <a:bodyPr wrap="square" lIns="0" tIns="0" rIns="0" bIns="0" rtlCol="0" anchor="ctr"/>
          <a:lstStyle/>
          <a:p>
            <a:pPr marL="0" indent="0">
              <a:buNone/>
            </a:pPr>
            <a:r>
              <a:rPr lang="en-US" sz="4800" b="1" dirty="0">
                <a:solidFill>
                  <a:schemeClr val="tx2"/>
                </a:solidFill>
              </a:rPr>
              <a:t>16</a:t>
            </a:r>
            <a:endParaRPr lang="en-US" sz="4800" dirty="0"/>
          </a:p>
        </p:txBody>
      </p:sp>
      <p:sp>
        <p:nvSpPr>
          <p:cNvPr id="11" name="Text 9"/>
          <p:cNvSpPr txBox="1"/>
          <p:nvPr/>
        </p:nvSpPr>
        <p:spPr>
          <a:xfrm>
            <a:off x="3639312" y="2514600"/>
            <a:ext cx="2286000" cy="502920"/>
          </a:xfrm>
          <a:prstGeom prst="rect">
            <a:avLst/>
          </a:prstGeom>
          <a:noFill/>
          <a:ln/>
        </p:spPr>
        <p:txBody>
          <a:bodyPr wrap="square" lIns="0" tIns="0" rIns="0" bIns="0" rtlCol="0" anchor="ctr"/>
          <a:lstStyle/>
          <a:p>
            <a:pPr marL="0" indent="0">
              <a:buNone/>
            </a:pPr>
            <a:r>
              <a:rPr lang="en-US" sz="1400" b="1" dirty="0">
                <a:solidFill>
                  <a:schemeClr val="tx1"/>
                </a:solidFill>
              </a:rPr>
              <a:t>requerimientos</a:t>
            </a:r>
            <a:endParaRPr lang="en-US" sz="1400" dirty="0"/>
          </a:p>
          <a:p>
            <a:pPr marL="0" indent="0">
              <a:buNone/>
            </a:pPr>
            <a:r>
              <a:rPr lang="en-US" sz="1200" dirty="0" err="1">
                <a:solidFill>
                  <a:schemeClr val="accent6"/>
                </a:solidFill>
              </a:rPr>
              <a:t>funcionales</a:t>
            </a:r>
            <a:endParaRPr lang="en-US" sz="1400" dirty="0"/>
          </a:p>
        </p:txBody>
      </p:sp>
      <p:sp>
        <p:nvSpPr>
          <p:cNvPr id="12" name="stat-2"/>
          <p:cNvSpPr/>
          <p:nvPr/>
        </p:nvSpPr>
        <p:spPr>
          <a:xfrm>
            <a:off x="6181344" y="1645920"/>
            <a:ext cx="2633472" cy="1463040"/>
          </a:xfrm>
          <a:prstGeom prst="roundRect">
            <a:avLst>
              <a:gd name="adj" fmla="val 7500"/>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13" name="Text 11"/>
          <p:cNvSpPr txBox="1"/>
          <p:nvPr/>
        </p:nvSpPr>
        <p:spPr>
          <a:xfrm>
            <a:off x="6455664" y="1737360"/>
            <a:ext cx="2194560" cy="777240"/>
          </a:xfrm>
          <a:prstGeom prst="rect">
            <a:avLst/>
          </a:prstGeom>
          <a:noFill/>
          <a:ln/>
        </p:spPr>
        <p:txBody>
          <a:bodyPr wrap="square" lIns="0" tIns="0" rIns="0" bIns="0" rtlCol="0" anchor="ctr"/>
          <a:lstStyle/>
          <a:p>
            <a:pPr marL="0" indent="0">
              <a:buNone/>
            </a:pPr>
            <a:r>
              <a:rPr lang="en-US" sz="4800" b="1" dirty="0">
                <a:solidFill>
                  <a:schemeClr val="tx2"/>
                </a:solidFill>
              </a:rPr>
              <a:t>14</a:t>
            </a:r>
            <a:endParaRPr lang="en-US" sz="4800" dirty="0"/>
          </a:p>
        </p:txBody>
      </p:sp>
      <p:sp>
        <p:nvSpPr>
          <p:cNvPr id="14" name="Text 12"/>
          <p:cNvSpPr txBox="1"/>
          <p:nvPr/>
        </p:nvSpPr>
        <p:spPr>
          <a:xfrm>
            <a:off x="6455664" y="2514600"/>
            <a:ext cx="2286000" cy="502920"/>
          </a:xfrm>
          <a:prstGeom prst="rect">
            <a:avLst/>
          </a:prstGeom>
          <a:noFill/>
          <a:ln/>
        </p:spPr>
        <p:txBody>
          <a:bodyPr wrap="square" lIns="0" tIns="0" rIns="0" bIns="0" rtlCol="0" anchor="ctr"/>
          <a:lstStyle/>
          <a:p>
            <a:pPr marL="0" indent="0">
              <a:buNone/>
            </a:pPr>
            <a:r>
              <a:rPr lang="en-US" sz="1400" b="1" dirty="0">
                <a:solidFill>
                  <a:schemeClr val="tx1"/>
                </a:solidFill>
              </a:rPr>
              <a:t>reglas de </a:t>
            </a:r>
            <a:r>
              <a:rPr lang="en-US" sz="1400" b="1" dirty="0" err="1">
                <a:solidFill>
                  <a:schemeClr val="tx1"/>
                </a:solidFill>
              </a:rPr>
              <a:t>negocio</a:t>
            </a:r>
            <a:endParaRPr lang="en-US" sz="1400" dirty="0"/>
          </a:p>
        </p:txBody>
      </p:sp>
      <p:sp>
        <p:nvSpPr>
          <p:cNvPr id="15" name="stat-3"/>
          <p:cNvSpPr/>
          <p:nvPr/>
        </p:nvSpPr>
        <p:spPr>
          <a:xfrm>
            <a:off x="8997696" y="1645920"/>
            <a:ext cx="2633472" cy="1463040"/>
          </a:xfrm>
          <a:prstGeom prst="roundRect">
            <a:avLst>
              <a:gd name="adj" fmla="val 7500"/>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16" name="Text 14"/>
          <p:cNvSpPr txBox="1"/>
          <p:nvPr/>
        </p:nvSpPr>
        <p:spPr>
          <a:xfrm>
            <a:off x="9272016" y="1737360"/>
            <a:ext cx="2194560" cy="777240"/>
          </a:xfrm>
          <a:prstGeom prst="rect">
            <a:avLst/>
          </a:prstGeom>
          <a:noFill/>
          <a:ln/>
        </p:spPr>
        <p:txBody>
          <a:bodyPr wrap="square" lIns="0" tIns="0" rIns="0" bIns="0" rtlCol="0" anchor="ctr"/>
          <a:lstStyle/>
          <a:p>
            <a:pPr marL="0" indent="0">
              <a:buNone/>
            </a:pPr>
            <a:r>
              <a:rPr lang="en-US" sz="4800" b="1" dirty="0">
                <a:solidFill>
                  <a:schemeClr val="tx2"/>
                </a:solidFill>
              </a:rPr>
              <a:t>2</a:t>
            </a:r>
            <a:endParaRPr lang="en-US" sz="4800" dirty="0"/>
          </a:p>
        </p:txBody>
      </p:sp>
      <p:sp>
        <p:nvSpPr>
          <p:cNvPr id="17" name="Text 15"/>
          <p:cNvSpPr txBox="1"/>
          <p:nvPr/>
        </p:nvSpPr>
        <p:spPr>
          <a:xfrm>
            <a:off x="9272016" y="2514600"/>
            <a:ext cx="2286000" cy="502920"/>
          </a:xfrm>
          <a:prstGeom prst="rect">
            <a:avLst/>
          </a:prstGeom>
          <a:noFill/>
          <a:ln/>
        </p:spPr>
        <p:txBody>
          <a:bodyPr wrap="square" lIns="0" tIns="0" rIns="0" bIns="0" rtlCol="0" anchor="ctr"/>
          <a:lstStyle/>
          <a:p>
            <a:pPr marL="0" indent="0">
              <a:buNone/>
            </a:pPr>
            <a:r>
              <a:rPr lang="en-US" sz="1400" b="1" dirty="0">
                <a:solidFill>
                  <a:schemeClr val="tx1"/>
                </a:solidFill>
              </a:rPr>
              <a:t>roles</a:t>
            </a:r>
            <a:endParaRPr lang="en-US" sz="1400" dirty="0"/>
          </a:p>
          <a:p>
            <a:pPr marL="0" indent="0">
              <a:buNone/>
            </a:pPr>
            <a:r>
              <a:rPr lang="en-US" sz="1200" dirty="0">
                <a:solidFill>
                  <a:schemeClr val="accent6"/>
                </a:solidFill>
              </a:rPr>
              <a:t>paciente y médico</a:t>
            </a:r>
            <a:endParaRPr lang="en-US" sz="1400" dirty="0"/>
          </a:p>
        </p:txBody>
      </p:sp>
      <p:sp>
        <p:nvSpPr>
          <p:cNvPr id="18" name="incluye"/>
          <p:cNvSpPr/>
          <p:nvPr/>
        </p:nvSpPr>
        <p:spPr>
          <a:xfrm>
            <a:off x="548640" y="3383280"/>
            <a:ext cx="6949440" cy="2743200"/>
          </a:xfrm>
          <a:prstGeom prst="roundRect">
            <a:avLst>
              <a:gd name="adj" fmla="val 4000"/>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19" name="Text 17"/>
          <p:cNvSpPr txBox="1"/>
          <p:nvPr/>
        </p:nvSpPr>
        <p:spPr>
          <a:xfrm>
            <a:off x="822960" y="3520440"/>
            <a:ext cx="3657600" cy="411480"/>
          </a:xfrm>
          <a:prstGeom prst="rect">
            <a:avLst/>
          </a:prstGeom>
          <a:noFill/>
          <a:ln/>
        </p:spPr>
        <p:txBody>
          <a:bodyPr wrap="square" lIns="0" tIns="0" rIns="0" bIns="0" rtlCol="0" anchor="ctr"/>
          <a:lstStyle/>
          <a:p>
            <a:pPr marL="0" indent="0">
              <a:buNone/>
            </a:pPr>
            <a:r>
              <a:rPr lang="en-US" sz="2000" b="1" dirty="0">
                <a:solidFill>
                  <a:schemeClr val="tx2"/>
                </a:solidFill>
              </a:rPr>
              <a:t>Incluye</a:t>
            </a:r>
            <a:endParaRPr lang="en-US" sz="2000" dirty="0"/>
          </a:p>
        </p:txBody>
      </p:sp>
      <p:sp>
        <p:nvSpPr>
          <p:cNvPr id="20" name="Text 18"/>
          <p:cNvSpPr txBox="1"/>
          <p:nvPr/>
        </p:nvSpPr>
        <p:spPr>
          <a:xfrm>
            <a:off x="822960" y="3977640"/>
            <a:ext cx="6492240" cy="2011680"/>
          </a:xfrm>
          <a:prstGeom prst="rect">
            <a:avLst/>
          </a:prstGeom>
          <a:noFill/>
          <a:ln/>
        </p:spPr>
        <p:txBody>
          <a:bodyPr wrap="square" lIns="0" tIns="0" rIns="0" bIns="0" rtlCol="0" anchor="t"/>
          <a:lstStyle/>
          <a:p>
            <a:pPr marL="342900" indent="-342900">
              <a:spcAft>
                <a:spcPts val="500"/>
              </a:spcAft>
              <a:buSzPct val="100000"/>
              <a:buChar char="•"/>
            </a:pPr>
            <a:r>
              <a:rPr lang="en-US" sz="1400" b="1" dirty="0">
                <a:solidFill>
                  <a:schemeClr val="tx1"/>
                </a:solidFill>
              </a:rPr>
              <a:t>Cuentas: </a:t>
            </a:r>
            <a:r>
              <a:rPr lang="en-US" sz="1400" dirty="0">
                <a:solidFill>
                  <a:schemeClr val="tx1"/>
                </a:solidFill>
              </a:rPr>
              <a:t>registro con DNI/CE, login por documento, perfil</a:t>
            </a:r>
            <a:endParaRPr lang="en-US" sz="1400" dirty="0"/>
          </a:p>
          <a:p>
            <a:pPr marL="342900" indent="-342900">
              <a:spcAft>
                <a:spcPts val="500"/>
              </a:spcAft>
              <a:buSzPct val="100000"/>
              <a:buChar char="•"/>
            </a:pPr>
            <a:r>
              <a:rPr lang="en-US" sz="1400" b="1" dirty="0">
                <a:solidFill>
                  <a:schemeClr val="tx1"/>
                </a:solidFill>
              </a:rPr>
              <a:t>Citas: </a:t>
            </a:r>
            <a:r>
              <a:rPr lang="en-US" sz="1400" dirty="0">
                <a:solidFill>
                  <a:schemeClr val="tx1"/>
                </a:solidFill>
              </a:rPr>
              <a:t>reserva con apartado de 15 min, nuevo (S/ 150) o control (S/ 80)</a:t>
            </a:r>
            <a:endParaRPr lang="en-US" sz="1400" dirty="0"/>
          </a:p>
          <a:p>
            <a:pPr marL="342900" indent="-342900">
              <a:spcAft>
                <a:spcPts val="500"/>
              </a:spcAft>
              <a:buSzPct val="100000"/>
              <a:buChar char="•"/>
            </a:pPr>
            <a:r>
              <a:rPr lang="en-US" sz="1400" b="1" dirty="0">
                <a:solidFill>
                  <a:schemeClr val="tx1"/>
                </a:solidFill>
              </a:rPr>
              <a:t>Pago Yape simulado: </a:t>
            </a:r>
            <a:r>
              <a:rPr lang="en-US" sz="1400" dirty="0">
                <a:solidFill>
                  <a:schemeClr val="tx1"/>
                </a:solidFill>
              </a:rPr>
              <a:t>constancia JPG/PNG/PDF ≤ 5 MB</a:t>
            </a:r>
            <a:endParaRPr lang="en-US" sz="1400" dirty="0"/>
          </a:p>
          <a:p>
            <a:pPr marL="342900" indent="-342900">
              <a:spcAft>
                <a:spcPts val="500"/>
              </a:spcAft>
              <a:buSzPct val="100000"/>
              <a:buChar char="•"/>
            </a:pPr>
            <a:r>
              <a:rPr lang="en-US" sz="1400" b="1" dirty="0">
                <a:solidFill>
                  <a:schemeClr val="tx1"/>
                </a:solidFill>
              </a:rPr>
              <a:t>Gestión médica: </a:t>
            </a:r>
            <a:r>
              <a:rPr lang="en-US" sz="1400" dirty="0">
                <a:solidFill>
                  <a:schemeClr val="tx1"/>
                </a:solidFill>
              </a:rPr>
              <a:t>agenda, validar/rechazar pago, atendida/no asistió</a:t>
            </a:r>
            <a:endParaRPr lang="en-US" sz="1400" dirty="0"/>
          </a:p>
          <a:p>
            <a:pPr marL="342900" indent="-342900">
              <a:spcAft>
                <a:spcPts val="500"/>
              </a:spcAft>
              <a:buSzPct val="100000"/>
              <a:buChar char="•"/>
            </a:pPr>
            <a:r>
              <a:rPr lang="en-US" sz="1400" b="1" dirty="0">
                <a:solidFill>
                  <a:schemeClr val="tx1"/>
                </a:solidFill>
              </a:rPr>
              <a:t>Reportes: </a:t>
            </a:r>
            <a:r>
              <a:rPr lang="en-US" sz="1400" dirty="0">
                <a:solidFill>
                  <a:schemeClr val="tx1"/>
                </a:solidFill>
              </a:rPr>
              <a:t>citas y pagos con indicadores, exportables a .xlsx</a:t>
            </a:r>
            <a:endParaRPr lang="en-US" sz="1400" dirty="0"/>
          </a:p>
        </p:txBody>
      </p:sp>
      <p:sp>
        <p:nvSpPr>
          <p:cNvPr id="21" name="fuera"/>
          <p:cNvSpPr/>
          <p:nvPr/>
        </p:nvSpPr>
        <p:spPr>
          <a:xfrm>
            <a:off x="7726680" y="3383280"/>
            <a:ext cx="3913632" cy="2743200"/>
          </a:xfrm>
          <a:prstGeom prst="roundRect">
            <a:avLst>
              <a:gd name="adj" fmla="val 4000"/>
            </a:avLst>
          </a:prstGeom>
          <a:solidFill>
            <a:schemeClr val="bg2"/>
          </a:solidFill>
          <a:ln w="12700">
            <a:solidFill>
              <a:schemeClr val="bg2"/>
            </a:solidFill>
            <a:prstDash val="solid"/>
          </a:ln>
        </p:spPr>
        <p:txBody>
          <a:bodyPr/>
          <a:lstStyle/>
          <a:p>
            <a:endParaRPr lang="es-PE"/>
          </a:p>
        </p:txBody>
      </p:sp>
      <p:sp>
        <p:nvSpPr>
          <p:cNvPr id="22" name="Text 20"/>
          <p:cNvSpPr txBox="1"/>
          <p:nvPr/>
        </p:nvSpPr>
        <p:spPr>
          <a:xfrm>
            <a:off x="8001000" y="3520440"/>
            <a:ext cx="3474720" cy="411480"/>
          </a:xfrm>
          <a:prstGeom prst="rect">
            <a:avLst/>
          </a:prstGeom>
          <a:noFill/>
          <a:ln/>
        </p:spPr>
        <p:txBody>
          <a:bodyPr wrap="square" lIns="0" tIns="0" rIns="0" bIns="0" rtlCol="0" anchor="ctr"/>
          <a:lstStyle/>
          <a:p>
            <a:pPr marL="0" indent="0">
              <a:buNone/>
            </a:pPr>
            <a:r>
              <a:rPr lang="en-US" sz="2000" b="1" dirty="0">
                <a:solidFill>
                  <a:schemeClr val="accent6"/>
                </a:solidFill>
              </a:rPr>
              <a:t>Fuera del alcance</a:t>
            </a:r>
            <a:endParaRPr lang="en-US" sz="2000" dirty="0"/>
          </a:p>
        </p:txBody>
      </p:sp>
      <p:sp>
        <p:nvSpPr>
          <p:cNvPr id="23" name="Text 21"/>
          <p:cNvSpPr txBox="1"/>
          <p:nvPr/>
        </p:nvSpPr>
        <p:spPr>
          <a:xfrm>
            <a:off x="8001000" y="3977640"/>
            <a:ext cx="3474720" cy="20116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Pagos reales e integración con Yape</a:t>
            </a:r>
            <a:endParaRPr lang="en-US" sz="1400" dirty="0"/>
          </a:p>
          <a:p>
            <a:pPr marL="342900" indent="-342900">
              <a:spcAft>
                <a:spcPts val="500"/>
              </a:spcAft>
              <a:buSzPct val="100000"/>
              <a:buChar char="•"/>
            </a:pPr>
            <a:r>
              <a:rPr lang="en-US" sz="1400" dirty="0">
                <a:solidFill>
                  <a:schemeClr val="tx1"/>
                </a:solidFill>
              </a:rPr>
              <a:t>Historia clínica y diagnósticos</a:t>
            </a:r>
            <a:endParaRPr lang="en-US" sz="1400" dirty="0"/>
          </a:p>
          <a:p>
            <a:pPr marL="342900" indent="-342900">
              <a:spcAft>
                <a:spcPts val="500"/>
              </a:spcAft>
              <a:buSzPct val="100000"/>
              <a:buChar char="•"/>
            </a:pPr>
            <a:r>
              <a:rPr lang="en-US" sz="1400" dirty="0">
                <a:solidFill>
                  <a:schemeClr val="tx1"/>
                </a:solidFill>
              </a:rPr>
              <a:t>Notificaciones por correo o SMS</a:t>
            </a:r>
            <a:endParaRPr lang="en-US" sz="1400" dirty="0"/>
          </a:p>
          <a:p>
            <a:pPr marL="342900" indent="-342900">
              <a:spcAft>
                <a:spcPts val="500"/>
              </a:spcAft>
              <a:buSzPct val="100000"/>
              <a:buChar char="•"/>
            </a:pPr>
            <a:r>
              <a:rPr lang="en-US" sz="1400" dirty="0">
                <a:solidFill>
                  <a:schemeClr val="tx1"/>
                </a:solidFill>
              </a:rPr>
              <a:t>Cancelación o reprogramación por el paciente</a:t>
            </a:r>
            <a:endParaRPr lang="en-US" sz="1400" dirty="0"/>
          </a:p>
          <a:p>
            <a:pPr marL="342900" indent="-342900">
              <a:spcAft>
                <a:spcPts val="500"/>
              </a:spcAft>
              <a:buSzPct val="100000"/>
              <a:buChar char="•"/>
            </a:pPr>
            <a:r>
              <a:rPr lang="en-US" sz="1400" dirty="0">
                <a:solidFill>
                  <a:schemeClr val="tx1"/>
                </a:solidFill>
              </a:rPr>
              <a:t>Despliegue en la nube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PLANIFICACIÓN</a:t>
            </a:r>
            <a:endParaRPr lang="en-US" sz="1200" dirty="0"/>
          </a:p>
        </p:txBody>
      </p:sp>
      <p:sp>
        <p:nvSpPr>
          <p:cNvPr id="3" name="Text 0"/>
          <p:cNvSpPr>
            <a:spLocks noGrp="1"/>
          </p:cNvSpPr>
          <p:nvPr>
            <p:ph type="title" idx="101" hasCustomPrompt="1"/>
          </p:nvPr>
        </p:nvSpPr>
        <p:spPr>
          <a:xfrm>
            <a:off x="548640" y="640080"/>
            <a:ext cx="9144000" cy="731520"/>
          </a:xfrm>
          <a:prstGeom prst="rect">
            <a:avLst/>
          </a:prstGeom>
          <a:noFill/>
          <a:ln/>
        </p:spPr>
        <p:txBody>
          <a:bodyPr wrap="square" lIns="0" tIns="0" rIns="0" bIns="0" rtlCol="0" anchor="t"/>
          <a:lstStyle/>
          <a:p>
            <a:pPr marL="0" indent="0" algn="l">
              <a:buNone/>
            </a:pPr>
            <a:r>
              <a:rPr lang="en-US" sz="3600" b="1" dirty="0">
                <a:solidFill>
                  <a:schemeClr val="tx1"/>
                </a:solidFill>
              </a:rPr>
              <a:t>Ruta de </a:t>
            </a:r>
            <a:r>
              <a:rPr lang="en-US" sz="3600" b="1" dirty="0" err="1">
                <a:solidFill>
                  <a:schemeClr val="tx1"/>
                </a:solidFill>
              </a:rPr>
              <a:t>trabajo</a:t>
            </a:r>
            <a:endParaRPr lang="en-US" sz="3600" dirty="0"/>
          </a:p>
        </p:txBody>
      </p:sp>
      <p:sp>
        <p:nvSpPr>
          <p:cNvPr id="6" name="timeline"/>
          <p:cNvSpPr/>
          <p:nvPr/>
        </p:nvSpPr>
        <p:spPr>
          <a:xfrm>
            <a:off x="1059221" y="2926080"/>
            <a:ext cx="10149840" cy="0"/>
          </a:xfrm>
          <a:prstGeom prst="line">
            <a:avLst/>
          </a:prstGeom>
          <a:noFill/>
          <a:ln w="38100">
            <a:solidFill>
              <a:srgbClr val="E2E8F0"/>
            </a:solidFill>
            <a:prstDash val="solid"/>
          </a:ln>
        </p:spPr>
        <p:txBody>
          <a:bodyPr/>
          <a:lstStyle/>
          <a:p>
            <a:endParaRPr lang="es-PE"/>
          </a:p>
        </p:txBody>
      </p:sp>
      <p:sp>
        <p:nvSpPr>
          <p:cNvPr id="7" name="milestone"/>
          <p:cNvSpPr/>
          <p:nvPr/>
        </p:nvSpPr>
        <p:spPr>
          <a:xfrm>
            <a:off x="876341" y="2697480"/>
            <a:ext cx="457200" cy="457200"/>
          </a:xfrm>
          <a:prstGeom prst="ellipse">
            <a:avLst/>
          </a:prstGeom>
          <a:solidFill>
            <a:schemeClr val="tx2"/>
          </a:solidFill>
          <a:ln w="25400">
            <a:solidFill>
              <a:schemeClr val="tx2"/>
            </a:solidFill>
            <a:prstDash val="solid"/>
          </a:ln>
        </p:spPr>
        <p:txBody>
          <a:bodyPr/>
          <a:lstStyle/>
          <a:p>
            <a:endParaRPr lang="es-PE"/>
          </a:p>
        </p:txBody>
      </p:sp>
      <p:sp>
        <p:nvSpPr>
          <p:cNvPr id="8" name="Text 6"/>
          <p:cNvSpPr txBox="1"/>
          <p:nvPr/>
        </p:nvSpPr>
        <p:spPr>
          <a:xfrm>
            <a:off x="876341" y="2194560"/>
            <a:ext cx="2194560" cy="365760"/>
          </a:xfrm>
          <a:prstGeom prst="rect">
            <a:avLst/>
          </a:prstGeom>
          <a:noFill/>
          <a:ln/>
        </p:spPr>
        <p:txBody>
          <a:bodyPr wrap="square" lIns="0" tIns="0" rIns="0" bIns="0" rtlCol="0" anchor="ctr"/>
          <a:lstStyle/>
          <a:p>
            <a:pPr marL="0" indent="0">
              <a:buNone/>
            </a:pPr>
            <a:r>
              <a:rPr lang="en-US" sz="1400" b="1" dirty="0">
                <a:solidFill>
                  <a:schemeClr val="accent6"/>
                </a:solidFill>
              </a:rPr>
              <a:t>APF1</a:t>
            </a:r>
            <a:endParaRPr lang="en-US" sz="1400" dirty="0"/>
          </a:p>
        </p:txBody>
      </p:sp>
      <p:sp>
        <p:nvSpPr>
          <p:cNvPr id="9" name="ms-APF1"/>
          <p:cNvSpPr/>
          <p:nvPr/>
        </p:nvSpPr>
        <p:spPr>
          <a:xfrm>
            <a:off x="602021" y="3429000"/>
            <a:ext cx="2633472" cy="1645920"/>
          </a:xfrm>
          <a:prstGeom prst="roundRect">
            <a:avLst>
              <a:gd name="adj" fmla="val 6667"/>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10" name="Text 8"/>
          <p:cNvSpPr txBox="1"/>
          <p:nvPr/>
        </p:nvSpPr>
        <p:spPr>
          <a:xfrm>
            <a:off x="830621" y="3566160"/>
            <a:ext cx="2240280" cy="1417320"/>
          </a:xfrm>
          <a:prstGeom prst="rect">
            <a:avLst/>
          </a:prstGeom>
          <a:noFill/>
          <a:ln/>
        </p:spPr>
        <p:txBody>
          <a:bodyPr wrap="square" lIns="0" tIns="0" rIns="0" bIns="0" rtlCol="0" anchor="t"/>
          <a:lstStyle/>
          <a:p>
            <a:pPr marL="0" indent="0">
              <a:buNone/>
            </a:pPr>
            <a:r>
              <a:rPr lang="en-US" sz="2000" b="1" dirty="0">
                <a:solidFill>
                  <a:schemeClr val="tx1"/>
                </a:solidFill>
              </a:rPr>
              <a:t>Análisis</a:t>
            </a:r>
            <a:endParaRPr lang="en-US" sz="2000" dirty="0"/>
          </a:p>
          <a:p>
            <a:pPr marL="0" indent="0">
              <a:buNone/>
            </a:pPr>
            <a:r>
              <a:rPr lang="en-US" sz="1400" dirty="0">
                <a:solidFill>
                  <a:schemeClr val="accent6"/>
                </a:solidFill>
              </a:rPr>
              <a:t>Contexto del consultorio, entrevista al Dr. Barrantes, procesos y necesidades</a:t>
            </a:r>
            <a:endParaRPr lang="en-US" sz="2000" dirty="0"/>
          </a:p>
        </p:txBody>
      </p:sp>
      <p:sp>
        <p:nvSpPr>
          <p:cNvPr id="11" name="milestone"/>
          <p:cNvSpPr/>
          <p:nvPr/>
        </p:nvSpPr>
        <p:spPr>
          <a:xfrm>
            <a:off x="3692693" y="2697480"/>
            <a:ext cx="457200" cy="457200"/>
          </a:xfrm>
          <a:prstGeom prst="ellipse">
            <a:avLst/>
          </a:prstGeom>
          <a:solidFill>
            <a:schemeClr val="tx2"/>
          </a:solidFill>
          <a:ln w="25400">
            <a:solidFill>
              <a:schemeClr val="tx2"/>
            </a:solidFill>
            <a:prstDash val="solid"/>
          </a:ln>
        </p:spPr>
        <p:txBody>
          <a:bodyPr/>
          <a:lstStyle/>
          <a:p>
            <a:endParaRPr lang="es-PE"/>
          </a:p>
        </p:txBody>
      </p:sp>
      <p:sp>
        <p:nvSpPr>
          <p:cNvPr id="12" name="Text 10"/>
          <p:cNvSpPr txBox="1"/>
          <p:nvPr/>
        </p:nvSpPr>
        <p:spPr>
          <a:xfrm>
            <a:off x="3692693" y="2194560"/>
            <a:ext cx="2194560" cy="365760"/>
          </a:xfrm>
          <a:prstGeom prst="rect">
            <a:avLst/>
          </a:prstGeom>
          <a:noFill/>
          <a:ln/>
        </p:spPr>
        <p:txBody>
          <a:bodyPr wrap="square" lIns="0" tIns="0" rIns="0" bIns="0" rtlCol="0" anchor="ctr"/>
          <a:lstStyle/>
          <a:p>
            <a:pPr marL="0" indent="0">
              <a:buNone/>
            </a:pPr>
            <a:r>
              <a:rPr lang="en-US" sz="1400" b="1" dirty="0">
                <a:solidFill>
                  <a:schemeClr val="accent6"/>
                </a:solidFill>
              </a:rPr>
              <a:t>APF2</a:t>
            </a:r>
            <a:endParaRPr lang="en-US" sz="1400" dirty="0"/>
          </a:p>
        </p:txBody>
      </p:sp>
      <p:sp>
        <p:nvSpPr>
          <p:cNvPr id="13" name="ms-APF2"/>
          <p:cNvSpPr/>
          <p:nvPr/>
        </p:nvSpPr>
        <p:spPr>
          <a:xfrm>
            <a:off x="3418373" y="3429000"/>
            <a:ext cx="2633472" cy="1645920"/>
          </a:xfrm>
          <a:prstGeom prst="roundRect">
            <a:avLst>
              <a:gd name="adj" fmla="val 6667"/>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14" name="Text 12"/>
          <p:cNvSpPr txBox="1"/>
          <p:nvPr/>
        </p:nvSpPr>
        <p:spPr>
          <a:xfrm>
            <a:off x="3646973" y="3566160"/>
            <a:ext cx="2240280" cy="1417320"/>
          </a:xfrm>
          <a:prstGeom prst="rect">
            <a:avLst/>
          </a:prstGeom>
          <a:noFill/>
          <a:ln/>
        </p:spPr>
        <p:txBody>
          <a:bodyPr wrap="square" lIns="0" tIns="0" rIns="0" bIns="0" rtlCol="0" anchor="t"/>
          <a:lstStyle/>
          <a:p>
            <a:pPr marL="0" indent="0">
              <a:buNone/>
            </a:pPr>
            <a:r>
              <a:rPr lang="en-US" sz="2000" b="1" dirty="0">
                <a:solidFill>
                  <a:schemeClr val="tx1"/>
                </a:solidFill>
              </a:rPr>
              <a:t>Diseño</a:t>
            </a:r>
            <a:endParaRPr lang="en-US" sz="2000" dirty="0"/>
          </a:p>
          <a:p>
            <a:pPr marL="0" indent="0">
              <a:buNone/>
            </a:pPr>
            <a:r>
              <a:rPr lang="en-US" sz="1400" dirty="0">
                <a:solidFill>
                  <a:schemeClr val="accent6"/>
                </a:solidFill>
              </a:rPr>
              <a:t>Requerimientos, modelo lógico, arquitectura y prototipo UX/UI</a:t>
            </a:r>
            <a:endParaRPr lang="en-US" sz="2000" dirty="0"/>
          </a:p>
        </p:txBody>
      </p:sp>
      <p:sp>
        <p:nvSpPr>
          <p:cNvPr id="15" name="milestone"/>
          <p:cNvSpPr/>
          <p:nvPr/>
        </p:nvSpPr>
        <p:spPr>
          <a:xfrm>
            <a:off x="6509045" y="2697480"/>
            <a:ext cx="457200" cy="457200"/>
          </a:xfrm>
          <a:prstGeom prst="ellipse">
            <a:avLst/>
          </a:prstGeom>
          <a:solidFill>
            <a:schemeClr val="accent2"/>
          </a:solidFill>
          <a:ln w="25400">
            <a:solidFill>
              <a:schemeClr val="accent2"/>
            </a:solidFill>
            <a:prstDash val="solid"/>
          </a:ln>
        </p:spPr>
        <p:txBody>
          <a:bodyPr/>
          <a:lstStyle/>
          <a:p>
            <a:endParaRPr lang="es-PE"/>
          </a:p>
        </p:txBody>
      </p:sp>
      <p:sp>
        <p:nvSpPr>
          <p:cNvPr id="16" name="Text 14"/>
          <p:cNvSpPr txBox="1"/>
          <p:nvPr/>
        </p:nvSpPr>
        <p:spPr>
          <a:xfrm>
            <a:off x="6509045" y="2194560"/>
            <a:ext cx="2194560" cy="365760"/>
          </a:xfrm>
          <a:prstGeom prst="rect">
            <a:avLst/>
          </a:prstGeom>
          <a:noFill/>
          <a:ln/>
        </p:spPr>
        <p:txBody>
          <a:bodyPr wrap="square" lIns="0" tIns="0" rIns="0" bIns="0" rtlCol="0" anchor="ctr"/>
          <a:lstStyle/>
          <a:p>
            <a:pPr marL="0" indent="0">
              <a:buNone/>
            </a:pPr>
            <a:r>
              <a:rPr lang="en-US" sz="1400" b="1" dirty="0">
                <a:solidFill>
                  <a:schemeClr val="accent2"/>
                </a:solidFill>
              </a:rPr>
              <a:t>APF3</a:t>
            </a:r>
            <a:endParaRPr lang="en-US" sz="1400" dirty="0"/>
          </a:p>
        </p:txBody>
      </p:sp>
      <p:sp>
        <p:nvSpPr>
          <p:cNvPr id="17" name="ms-APF3"/>
          <p:cNvSpPr/>
          <p:nvPr/>
        </p:nvSpPr>
        <p:spPr>
          <a:xfrm>
            <a:off x="6234725" y="3429000"/>
            <a:ext cx="2633472" cy="1645920"/>
          </a:xfrm>
          <a:prstGeom prst="roundRect">
            <a:avLst>
              <a:gd name="adj" fmla="val 6667"/>
            </a:avLst>
          </a:prstGeom>
          <a:solidFill>
            <a:srgbClr val="ECFDF5"/>
          </a:solidFill>
          <a:ln w="12700">
            <a:solidFill>
              <a:schemeClr val="accent2"/>
            </a:solidFill>
            <a:prstDash val="solid"/>
          </a:ln>
          <a:effectLst>
            <a:outerShdw blurRad="127000" dist="25400" dir="5400000" algn="bl" rotWithShape="0">
              <a:srgbClr val="0F172A">
                <a:alpha val="12000"/>
              </a:srgbClr>
            </a:outerShdw>
          </a:effectLst>
        </p:spPr>
        <p:txBody>
          <a:bodyPr/>
          <a:lstStyle/>
          <a:p>
            <a:endParaRPr lang="es-PE"/>
          </a:p>
        </p:txBody>
      </p:sp>
      <p:sp>
        <p:nvSpPr>
          <p:cNvPr id="18" name="Text 16"/>
          <p:cNvSpPr txBox="1"/>
          <p:nvPr/>
        </p:nvSpPr>
        <p:spPr>
          <a:xfrm>
            <a:off x="6463325" y="3566160"/>
            <a:ext cx="2240280" cy="1417320"/>
          </a:xfrm>
          <a:prstGeom prst="rect">
            <a:avLst/>
          </a:prstGeom>
          <a:noFill/>
          <a:ln/>
        </p:spPr>
        <p:txBody>
          <a:bodyPr wrap="square" lIns="0" tIns="0" rIns="0" bIns="0" rtlCol="0" anchor="t"/>
          <a:lstStyle/>
          <a:p>
            <a:pPr marL="0" indent="0">
              <a:buNone/>
            </a:pPr>
            <a:r>
              <a:rPr lang="en-US" sz="2000" b="1" dirty="0">
                <a:solidFill>
                  <a:schemeClr val="tx1"/>
                </a:solidFill>
              </a:rPr>
              <a:t>Construcción</a:t>
            </a:r>
            <a:endParaRPr lang="en-US" sz="2000" dirty="0"/>
          </a:p>
          <a:p>
            <a:pPr marL="0" indent="0">
              <a:buNone/>
            </a:pPr>
            <a:r>
              <a:rPr lang="en-US" sz="1400" dirty="0">
                <a:solidFill>
                  <a:schemeClr val="accent6"/>
                </a:solidFill>
              </a:rPr>
              <a:t>Arquitectura inicial, librerías, seguridad, pantallas y pruebas</a:t>
            </a:r>
            <a:endParaRPr lang="en-US" sz="2000" dirty="0"/>
          </a:p>
        </p:txBody>
      </p:sp>
      <p:sp>
        <p:nvSpPr>
          <p:cNvPr id="19" name="Text 17"/>
          <p:cNvSpPr txBox="1"/>
          <p:nvPr/>
        </p:nvSpPr>
        <p:spPr>
          <a:xfrm>
            <a:off x="7057685" y="2743200"/>
            <a:ext cx="1645920" cy="365760"/>
          </a:xfrm>
          <a:prstGeom prst="rect">
            <a:avLst/>
          </a:prstGeom>
          <a:noFill/>
          <a:ln/>
        </p:spPr>
        <p:txBody>
          <a:bodyPr wrap="square" lIns="0" tIns="0" rIns="0" bIns="0" rtlCol="0" anchor="ctr"/>
          <a:lstStyle/>
          <a:p>
            <a:pPr marL="0" indent="0">
              <a:buNone/>
            </a:pPr>
            <a:r>
              <a:rPr lang="en-US" sz="1200" b="1" i="1" dirty="0">
                <a:solidFill>
                  <a:schemeClr val="accent2"/>
                </a:solidFill>
              </a:rPr>
              <a:t>Estamos aquí</a:t>
            </a:r>
            <a:endParaRPr lang="en-US" sz="1200" dirty="0"/>
          </a:p>
        </p:txBody>
      </p:sp>
      <p:sp>
        <p:nvSpPr>
          <p:cNvPr id="20" name="milestone"/>
          <p:cNvSpPr/>
          <p:nvPr/>
        </p:nvSpPr>
        <p:spPr>
          <a:xfrm>
            <a:off x="9325397" y="2697480"/>
            <a:ext cx="457200" cy="457200"/>
          </a:xfrm>
          <a:prstGeom prst="ellipse">
            <a:avLst/>
          </a:prstGeom>
          <a:solidFill>
            <a:schemeClr val="bg1"/>
          </a:solidFill>
          <a:ln w="25400">
            <a:solidFill>
              <a:schemeClr val="accent6"/>
            </a:solidFill>
            <a:prstDash val="solid"/>
          </a:ln>
        </p:spPr>
        <p:txBody>
          <a:bodyPr/>
          <a:lstStyle/>
          <a:p>
            <a:endParaRPr lang="es-PE"/>
          </a:p>
        </p:txBody>
      </p:sp>
      <p:sp>
        <p:nvSpPr>
          <p:cNvPr id="21" name="Text 19"/>
          <p:cNvSpPr txBox="1"/>
          <p:nvPr/>
        </p:nvSpPr>
        <p:spPr>
          <a:xfrm>
            <a:off x="9325397" y="2194560"/>
            <a:ext cx="2194560" cy="365760"/>
          </a:xfrm>
          <a:prstGeom prst="rect">
            <a:avLst/>
          </a:prstGeom>
          <a:noFill/>
          <a:ln/>
        </p:spPr>
        <p:txBody>
          <a:bodyPr wrap="square" lIns="0" tIns="0" rIns="0" bIns="0" rtlCol="0" anchor="ctr"/>
          <a:lstStyle/>
          <a:p>
            <a:pPr marL="0" indent="0">
              <a:buNone/>
            </a:pPr>
            <a:r>
              <a:rPr lang="en-US" sz="1400" b="1" dirty="0">
                <a:solidFill>
                  <a:schemeClr val="accent6"/>
                </a:solidFill>
              </a:rPr>
              <a:t>Final</a:t>
            </a:r>
            <a:endParaRPr lang="en-US" sz="1400" dirty="0"/>
          </a:p>
        </p:txBody>
      </p:sp>
      <p:sp>
        <p:nvSpPr>
          <p:cNvPr id="22" name="ms-Final"/>
          <p:cNvSpPr/>
          <p:nvPr/>
        </p:nvSpPr>
        <p:spPr>
          <a:xfrm>
            <a:off x="9051077" y="3429000"/>
            <a:ext cx="2633472" cy="1645920"/>
          </a:xfrm>
          <a:prstGeom prst="roundRect">
            <a:avLst>
              <a:gd name="adj" fmla="val 6667"/>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23" name="Text 21"/>
          <p:cNvSpPr txBox="1"/>
          <p:nvPr/>
        </p:nvSpPr>
        <p:spPr>
          <a:xfrm>
            <a:off x="9279677" y="3566160"/>
            <a:ext cx="2240280" cy="1417320"/>
          </a:xfrm>
          <a:prstGeom prst="rect">
            <a:avLst/>
          </a:prstGeom>
          <a:noFill/>
          <a:ln/>
        </p:spPr>
        <p:txBody>
          <a:bodyPr wrap="square" lIns="0" tIns="0" rIns="0" bIns="0" rtlCol="0" anchor="t"/>
          <a:lstStyle/>
          <a:p>
            <a:pPr marL="0" indent="0">
              <a:buNone/>
            </a:pPr>
            <a:r>
              <a:rPr lang="en-US" sz="2000" b="1" dirty="0">
                <a:solidFill>
                  <a:schemeClr val="tx1"/>
                </a:solidFill>
              </a:rPr>
              <a:t>Cierre</a:t>
            </a:r>
            <a:endParaRPr lang="en-US" sz="2000" dirty="0"/>
          </a:p>
          <a:p>
            <a:pPr marL="0" indent="0">
              <a:buNone/>
            </a:pPr>
            <a:r>
              <a:rPr lang="en-US" sz="1400" dirty="0">
                <a:solidFill>
                  <a:schemeClr val="accent6"/>
                </a:solidFill>
              </a:rPr>
              <a:t>Alcance al 100 %, usabilidad, validación del cliente y manual</a:t>
            </a:r>
            <a:endParaRPr lang="en-US" sz="2000" dirty="0"/>
          </a:p>
        </p:txBody>
      </p:sp>
      <p:sp>
        <p:nvSpPr>
          <p:cNvPr id="40"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ARQUITECTURA</a:t>
            </a:r>
            <a:endParaRPr lang="en-US" sz="1200" dirty="0"/>
          </a:p>
        </p:txBody>
      </p:sp>
      <p:sp>
        <p:nvSpPr>
          <p:cNvPr id="3" name="Text 0"/>
          <p:cNvSpPr>
            <a:spLocks noGrp="1"/>
          </p:cNvSpPr>
          <p:nvPr>
            <p:ph type="title" idx="101" hasCustomPrompt="1"/>
          </p:nvPr>
        </p:nvSpPr>
        <p:spPr>
          <a:xfrm>
            <a:off x="548640" y="640080"/>
            <a:ext cx="9144000" cy="731520"/>
          </a:xfrm>
          <a:prstGeom prst="rect">
            <a:avLst/>
          </a:prstGeom>
          <a:noFill/>
          <a:ln/>
        </p:spPr>
        <p:txBody>
          <a:bodyPr wrap="square" lIns="0" tIns="0" rIns="0" bIns="0" rtlCol="0" anchor="t"/>
          <a:lstStyle/>
          <a:p>
            <a:pPr marL="0" indent="0" algn="l">
              <a:buNone/>
            </a:pPr>
            <a:r>
              <a:rPr lang="en-US" sz="3600" b="1" dirty="0">
                <a:solidFill>
                  <a:schemeClr val="tx1"/>
                </a:solidFill>
              </a:rPr>
              <a:t>Spring Boot en capas: MVC + DAO</a:t>
            </a:r>
            <a:endParaRPr lang="en-US" sz="3600" dirty="0"/>
          </a:p>
        </p:txBody>
      </p:sp>
      <p:sp>
        <p:nvSpPr>
          <p:cNvPr id="6" name="layer-0"/>
          <p:cNvSpPr/>
          <p:nvPr/>
        </p:nvSpPr>
        <p:spPr>
          <a:xfrm>
            <a:off x="548640" y="1600200"/>
            <a:ext cx="6766560" cy="658368"/>
          </a:xfrm>
          <a:prstGeom prst="roundRect">
            <a:avLst>
              <a:gd name="adj" fmla="val 13889"/>
            </a:avLst>
          </a:prstGeom>
          <a:solidFill>
            <a:srgbClr val="F1F5F9"/>
          </a:solidFill>
          <a:ln w="12700">
            <a:solidFill>
              <a:srgbClr val="F1F5F9"/>
            </a:solidFill>
            <a:prstDash val="solid"/>
          </a:ln>
        </p:spPr>
        <p:txBody>
          <a:bodyPr/>
          <a:lstStyle/>
          <a:p>
            <a:endParaRPr lang="es-PE"/>
          </a:p>
        </p:txBody>
      </p:sp>
      <p:pic>
        <p:nvPicPr>
          <p:cNvPr id="7" name="layer-icon" descr="preencoded.png"/>
          <p:cNvPicPr>
            <a:picLocks noChangeAspect="1"/>
          </p:cNvPicPr>
          <p:nvPr/>
        </p:nvPicPr>
        <p:blipFill>
          <a:blip r:embed="rId3"/>
          <a:stretch>
            <a:fillRect/>
          </a:stretch>
        </p:blipFill>
        <p:spPr>
          <a:xfrm>
            <a:off x="777240" y="1773936"/>
            <a:ext cx="310896" cy="310896"/>
          </a:xfrm>
          <a:prstGeom prst="rect">
            <a:avLst/>
          </a:prstGeom>
        </p:spPr>
      </p:pic>
      <p:sp>
        <p:nvSpPr>
          <p:cNvPr id="8" name="Text 5"/>
          <p:cNvSpPr txBox="1"/>
          <p:nvPr/>
        </p:nvSpPr>
        <p:spPr>
          <a:xfrm>
            <a:off x="1280160" y="1600200"/>
            <a:ext cx="5852160" cy="658368"/>
          </a:xfrm>
          <a:prstGeom prst="rect">
            <a:avLst/>
          </a:prstGeom>
          <a:noFill/>
          <a:ln/>
        </p:spPr>
        <p:txBody>
          <a:bodyPr wrap="square" lIns="0" tIns="0" rIns="0" bIns="0" rtlCol="0" anchor="ctr"/>
          <a:lstStyle/>
          <a:p>
            <a:pPr marL="0" indent="0">
              <a:buNone/>
            </a:pPr>
            <a:r>
              <a:rPr lang="en-US" sz="1600" b="1" dirty="0">
                <a:solidFill>
                  <a:schemeClr val="tx1"/>
                </a:solidFill>
              </a:rPr>
              <a:t>Navegador</a:t>
            </a:r>
            <a:endParaRPr lang="en-US" sz="1600" dirty="0"/>
          </a:p>
          <a:p>
            <a:pPr marL="0" indent="0">
              <a:buNone/>
            </a:pPr>
            <a:r>
              <a:rPr lang="en-US" sz="1200" dirty="0">
                <a:solidFill>
                  <a:schemeClr val="accent6"/>
                </a:solidFill>
              </a:rPr>
              <a:t>Paciente / Médico</a:t>
            </a:r>
            <a:endParaRPr lang="en-US" sz="1600" dirty="0"/>
          </a:p>
        </p:txBody>
      </p:sp>
      <p:sp>
        <p:nvSpPr>
          <p:cNvPr id="9" name="layer-1"/>
          <p:cNvSpPr/>
          <p:nvPr/>
        </p:nvSpPr>
        <p:spPr>
          <a:xfrm>
            <a:off x="548640" y="2368296"/>
            <a:ext cx="6766560" cy="658368"/>
          </a:xfrm>
          <a:prstGeom prst="roundRect">
            <a:avLst>
              <a:gd name="adj" fmla="val 13889"/>
            </a:avLst>
          </a:prstGeom>
          <a:solidFill>
            <a:srgbClr val="FEF3C7"/>
          </a:solidFill>
          <a:ln w="12700">
            <a:solidFill>
              <a:srgbClr val="FEF3C7"/>
            </a:solidFill>
            <a:prstDash val="solid"/>
          </a:ln>
        </p:spPr>
        <p:txBody>
          <a:bodyPr/>
          <a:lstStyle/>
          <a:p>
            <a:endParaRPr lang="es-PE"/>
          </a:p>
        </p:txBody>
      </p:sp>
      <p:pic>
        <p:nvPicPr>
          <p:cNvPr id="10" name="layer-icon" descr="preencoded.png"/>
          <p:cNvPicPr>
            <a:picLocks noChangeAspect="1"/>
          </p:cNvPicPr>
          <p:nvPr/>
        </p:nvPicPr>
        <p:blipFill>
          <a:blip r:embed="rId4"/>
          <a:stretch>
            <a:fillRect/>
          </a:stretch>
        </p:blipFill>
        <p:spPr>
          <a:xfrm>
            <a:off x="777240" y="2542032"/>
            <a:ext cx="310896" cy="310896"/>
          </a:xfrm>
          <a:prstGeom prst="rect">
            <a:avLst/>
          </a:prstGeom>
        </p:spPr>
      </p:pic>
      <p:sp>
        <p:nvSpPr>
          <p:cNvPr id="11" name="Text 7"/>
          <p:cNvSpPr txBox="1"/>
          <p:nvPr/>
        </p:nvSpPr>
        <p:spPr>
          <a:xfrm>
            <a:off x="1280160" y="2368296"/>
            <a:ext cx="5852160" cy="658368"/>
          </a:xfrm>
          <a:prstGeom prst="rect">
            <a:avLst/>
          </a:prstGeom>
          <a:noFill/>
          <a:ln/>
        </p:spPr>
        <p:txBody>
          <a:bodyPr wrap="square" lIns="0" tIns="0" rIns="0" bIns="0" rtlCol="0" anchor="ctr"/>
          <a:lstStyle/>
          <a:p>
            <a:pPr marL="0" indent="0">
              <a:buNone/>
            </a:pPr>
            <a:r>
              <a:rPr lang="en-US" sz="1600" b="1" dirty="0">
                <a:solidFill>
                  <a:schemeClr val="tx1"/>
                </a:solidFill>
              </a:rPr>
              <a:t>Spring Security</a:t>
            </a:r>
            <a:endParaRPr lang="en-US" sz="1600" dirty="0"/>
          </a:p>
          <a:p>
            <a:pPr marL="0" indent="0">
              <a:buNone/>
            </a:pPr>
            <a:r>
              <a:rPr lang="en-US" sz="1200" dirty="0" err="1">
                <a:solidFill>
                  <a:schemeClr val="accent6"/>
                </a:solidFill>
              </a:rPr>
              <a:t>Inicio</a:t>
            </a:r>
            <a:r>
              <a:rPr lang="en-US" sz="1200" dirty="0">
                <a:solidFill>
                  <a:schemeClr val="accent6"/>
                </a:solidFill>
              </a:rPr>
              <a:t> de </a:t>
            </a:r>
            <a:r>
              <a:rPr lang="en-US" sz="1200" dirty="0" err="1">
                <a:solidFill>
                  <a:schemeClr val="accent6"/>
                </a:solidFill>
              </a:rPr>
              <a:t>sesión</a:t>
            </a:r>
            <a:r>
              <a:rPr lang="en-US" sz="1200" dirty="0">
                <a:solidFill>
                  <a:schemeClr val="accent6"/>
                </a:solidFill>
              </a:rPr>
              <a:t> por documento · roles · </a:t>
            </a:r>
            <a:r>
              <a:rPr lang="en-US" sz="1200" dirty="0" err="1">
                <a:solidFill>
                  <a:schemeClr val="accent6"/>
                </a:solidFill>
              </a:rPr>
              <a:t>bcrypt</a:t>
            </a:r>
            <a:endParaRPr lang="en-US" sz="1600" dirty="0"/>
          </a:p>
        </p:txBody>
      </p:sp>
      <p:sp>
        <p:nvSpPr>
          <p:cNvPr id="12" name="layer-2"/>
          <p:cNvSpPr/>
          <p:nvPr/>
        </p:nvSpPr>
        <p:spPr>
          <a:xfrm>
            <a:off x="548640" y="3136392"/>
            <a:ext cx="6766560" cy="658368"/>
          </a:xfrm>
          <a:prstGeom prst="roundRect">
            <a:avLst>
              <a:gd name="adj" fmla="val 13889"/>
            </a:avLst>
          </a:prstGeom>
          <a:solidFill>
            <a:srgbClr val="D1FAE5"/>
          </a:solidFill>
          <a:ln w="12700">
            <a:solidFill>
              <a:srgbClr val="D1FAE5"/>
            </a:solidFill>
            <a:prstDash val="solid"/>
          </a:ln>
        </p:spPr>
        <p:txBody>
          <a:bodyPr/>
          <a:lstStyle/>
          <a:p>
            <a:endParaRPr lang="es-PE"/>
          </a:p>
        </p:txBody>
      </p:sp>
      <p:pic>
        <p:nvPicPr>
          <p:cNvPr id="13" name="layer-icon" descr="preencoded.png"/>
          <p:cNvPicPr>
            <a:picLocks noChangeAspect="1"/>
          </p:cNvPicPr>
          <p:nvPr/>
        </p:nvPicPr>
        <p:blipFill>
          <a:blip r:embed="rId5"/>
          <a:stretch>
            <a:fillRect/>
          </a:stretch>
        </p:blipFill>
        <p:spPr>
          <a:xfrm>
            <a:off x="777240" y="3310128"/>
            <a:ext cx="310896" cy="310896"/>
          </a:xfrm>
          <a:prstGeom prst="rect">
            <a:avLst/>
          </a:prstGeom>
        </p:spPr>
      </p:pic>
      <p:sp>
        <p:nvSpPr>
          <p:cNvPr id="14" name="Text 9"/>
          <p:cNvSpPr txBox="1"/>
          <p:nvPr/>
        </p:nvSpPr>
        <p:spPr>
          <a:xfrm>
            <a:off x="1280160" y="3136392"/>
            <a:ext cx="5852160" cy="658368"/>
          </a:xfrm>
          <a:prstGeom prst="rect">
            <a:avLst/>
          </a:prstGeom>
          <a:noFill/>
          <a:ln/>
        </p:spPr>
        <p:txBody>
          <a:bodyPr wrap="square" lIns="0" tIns="0" rIns="0" bIns="0" rtlCol="0" anchor="ctr"/>
          <a:lstStyle/>
          <a:p>
            <a:pPr marL="0" indent="0">
              <a:buNone/>
            </a:pPr>
            <a:r>
              <a:rPr lang="en-US" sz="1600" b="1" dirty="0">
                <a:solidFill>
                  <a:schemeClr val="tx1"/>
                </a:solidFill>
              </a:rPr>
              <a:t>Controladores (Spring MVC)</a:t>
            </a:r>
            <a:endParaRPr lang="en-US" sz="1600" dirty="0"/>
          </a:p>
          <a:p>
            <a:pPr marL="0" indent="0">
              <a:buNone/>
            </a:pPr>
            <a:r>
              <a:rPr lang="en-US" sz="1200" dirty="0">
                <a:solidFill>
                  <a:schemeClr val="accent6"/>
                </a:solidFill>
              </a:rPr>
              <a:t>7 controladores: Auth, Reserva, Pago, MisCitas, Perfil, Agenda, Reporte</a:t>
            </a:r>
            <a:endParaRPr lang="en-US" sz="1600" dirty="0"/>
          </a:p>
        </p:txBody>
      </p:sp>
      <p:sp>
        <p:nvSpPr>
          <p:cNvPr id="15" name="layer-3"/>
          <p:cNvSpPr/>
          <p:nvPr/>
        </p:nvSpPr>
        <p:spPr>
          <a:xfrm>
            <a:off x="548640" y="3904488"/>
            <a:ext cx="6766560" cy="658368"/>
          </a:xfrm>
          <a:prstGeom prst="roundRect">
            <a:avLst>
              <a:gd name="adj" fmla="val 13889"/>
            </a:avLst>
          </a:prstGeom>
          <a:solidFill>
            <a:srgbClr val="D1FAE5"/>
          </a:solidFill>
          <a:ln w="12700">
            <a:solidFill>
              <a:srgbClr val="D1FAE5"/>
            </a:solidFill>
            <a:prstDash val="solid"/>
          </a:ln>
        </p:spPr>
        <p:txBody>
          <a:bodyPr/>
          <a:lstStyle/>
          <a:p>
            <a:endParaRPr lang="es-PE"/>
          </a:p>
        </p:txBody>
      </p:sp>
      <p:pic>
        <p:nvPicPr>
          <p:cNvPr id="16" name="layer-icon" descr="preencoded.png"/>
          <p:cNvPicPr>
            <a:picLocks noChangeAspect="1"/>
          </p:cNvPicPr>
          <p:nvPr/>
        </p:nvPicPr>
        <p:blipFill>
          <a:blip r:embed="rId6"/>
          <a:stretch>
            <a:fillRect/>
          </a:stretch>
        </p:blipFill>
        <p:spPr>
          <a:xfrm>
            <a:off x="777240" y="4078224"/>
            <a:ext cx="310896" cy="310896"/>
          </a:xfrm>
          <a:prstGeom prst="rect">
            <a:avLst/>
          </a:prstGeom>
        </p:spPr>
      </p:pic>
      <p:sp>
        <p:nvSpPr>
          <p:cNvPr id="17" name="Text 11"/>
          <p:cNvSpPr txBox="1"/>
          <p:nvPr/>
        </p:nvSpPr>
        <p:spPr>
          <a:xfrm>
            <a:off x="1280160" y="3904488"/>
            <a:ext cx="5852160" cy="658368"/>
          </a:xfrm>
          <a:prstGeom prst="rect">
            <a:avLst/>
          </a:prstGeom>
          <a:noFill/>
          <a:ln/>
        </p:spPr>
        <p:txBody>
          <a:bodyPr wrap="square" lIns="0" tIns="0" rIns="0" bIns="0" rtlCol="0" anchor="ctr"/>
          <a:lstStyle/>
          <a:p>
            <a:pPr marL="0" indent="0">
              <a:buNone/>
            </a:pPr>
            <a:r>
              <a:rPr lang="en-US" sz="1600" b="1" dirty="0">
                <a:solidFill>
                  <a:schemeClr val="tx1"/>
                </a:solidFill>
              </a:rPr>
              <a:t>Servicios (interfaces + impl/)</a:t>
            </a:r>
            <a:endParaRPr lang="en-US" sz="1600" dirty="0"/>
          </a:p>
          <a:p>
            <a:pPr marL="0" indent="0">
              <a:buNone/>
            </a:pPr>
            <a:r>
              <a:rPr lang="en-US" sz="1200" dirty="0">
                <a:solidFill>
                  <a:schemeClr val="accent6"/>
                </a:solidFill>
              </a:rPr>
              <a:t>9 servicios: Reserva, Pago, GestionCita, Reporte, ConfirmacionPdf, Constancia…</a:t>
            </a:r>
            <a:endParaRPr lang="en-US" sz="1600" dirty="0"/>
          </a:p>
        </p:txBody>
      </p:sp>
      <p:sp>
        <p:nvSpPr>
          <p:cNvPr id="18" name="layer-4"/>
          <p:cNvSpPr/>
          <p:nvPr/>
        </p:nvSpPr>
        <p:spPr>
          <a:xfrm>
            <a:off x="548640" y="4672584"/>
            <a:ext cx="6766560" cy="658368"/>
          </a:xfrm>
          <a:prstGeom prst="roundRect">
            <a:avLst>
              <a:gd name="adj" fmla="val 13889"/>
            </a:avLst>
          </a:prstGeom>
          <a:solidFill>
            <a:srgbClr val="D1FAE5"/>
          </a:solidFill>
          <a:ln w="12700">
            <a:solidFill>
              <a:srgbClr val="D1FAE5"/>
            </a:solidFill>
            <a:prstDash val="solid"/>
          </a:ln>
        </p:spPr>
        <p:txBody>
          <a:bodyPr/>
          <a:lstStyle/>
          <a:p>
            <a:endParaRPr lang="es-PE"/>
          </a:p>
        </p:txBody>
      </p:sp>
      <p:pic>
        <p:nvPicPr>
          <p:cNvPr id="19" name="layer-icon" descr="preencoded.png"/>
          <p:cNvPicPr>
            <a:picLocks noChangeAspect="1"/>
          </p:cNvPicPr>
          <p:nvPr/>
        </p:nvPicPr>
        <p:blipFill>
          <a:blip r:embed="rId7"/>
          <a:stretch>
            <a:fillRect/>
          </a:stretch>
        </p:blipFill>
        <p:spPr>
          <a:xfrm>
            <a:off x="777240" y="4846320"/>
            <a:ext cx="310896" cy="310896"/>
          </a:xfrm>
          <a:prstGeom prst="rect">
            <a:avLst/>
          </a:prstGeom>
        </p:spPr>
      </p:pic>
      <p:sp>
        <p:nvSpPr>
          <p:cNvPr id="20" name="Text 13"/>
          <p:cNvSpPr txBox="1"/>
          <p:nvPr/>
        </p:nvSpPr>
        <p:spPr>
          <a:xfrm>
            <a:off x="1280160" y="4672584"/>
            <a:ext cx="5852160" cy="658368"/>
          </a:xfrm>
          <a:prstGeom prst="rect">
            <a:avLst/>
          </a:prstGeom>
          <a:noFill/>
          <a:ln/>
        </p:spPr>
        <p:txBody>
          <a:bodyPr wrap="square" lIns="0" tIns="0" rIns="0" bIns="0" rtlCol="0" anchor="ctr"/>
          <a:lstStyle/>
          <a:p>
            <a:pPr marL="0" indent="0">
              <a:buNone/>
            </a:pPr>
            <a:r>
              <a:rPr lang="en-US" sz="1600" b="1" dirty="0">
                <a:solidFill>
                  <a:schemeClr val="tx1"/>
                </a:solidFill>
              </a:rPr>
              <a:t>DAO (Spring Data JPA)</a:t>
            </a:r>
            <a:endParaRPr lang="en-US" sz="1600" dirty="0"/>
          </a:p>
          <a:p>
            <a:pPr marL="0" indent="0">
              <a:buNone/>
            </a:pPr>
            <a:r>
              <a:rPr lang="en-US" sz="1200" dirty="0">
                <a:solidFill>
                  <a:schemeClr val="accent6"/>
                </a:solidFill>
              </a:rPr>
              <a:t>11 interfaces *Dao: Usuario, Paciente, Cita, Pago, Horario…</a:t>
            </a:r>
            <a:endParaRPr lang="en-US" sz="1600" dirty="0"/>
          </a:p>
        </p:txBody>
      </p:sp>
      <p:sp>
        <p:nvSpPr>
          <p:cNvPr id="21" name="layer-5"/>
          <p:cNvSpPr/>
          <p:nvPr/>
        </p:nvSpPr>
        <p:spPr>
          <a:xfrm>
            <a:off x="548640" y="5440680"/>
            <a:ext cx="6766560" cy="658368"/>
          </a:xfrm>
          <a:prstGeom prst="roundRect">
            <a:avLst>
              <a:gd name="adj" fmla="val 13889"/>
            </a:avLst>
          </a:prstGeom>
          <a:solidFill>
            <a:srgbClr val="E0F2FE"/>
          </a:solidFill>
          <a:ln w="12700">
            <a:solidFill>
              <a:srgbClr val="E0F2FE"/>
            </a:solidFill>
            <a:prstDash val="solid"/>
          </a:ln>
        </p:spPr>
        <p:txBody>
          <a:bodyPr/>
          <a:lstStyle/>
          <a:p>
            <a:endParaRPr lang="es-PE"/>
          </a:p>
        </p:txBody>
      </p:sp>
      <p:pic>
        <p:nvPicPr>
          <p:cNvPr id="22" name="layer-icon" descr="preencoded.png"/>
          <p:cNvPicPr>
            <a:picLocks noChangeAspect="1"/>
          </p:cNvPicPr>
          <p:nvPr/>
        </p:nvPicPr>
        <p:blipFill>
          <a:blip r:embed="rId8"/>
          <a:stretch>
            <a:fillRect/>
          </a:stretch>
        </p:blipFill>
        <p:spPr>
          <a:xfrm>
            <a:off x="777240" y="5614416"/>
            <a:ext cx="310896" cy="310896"/>
          </a:xfrm>
          <a:prstGeom prst="rect">
            <a:avLst/>
          </a:prstGeom>
        </p:spPr>
      </p:pic>
      <p:sp>
        <p:nvSpPr>
          <p:cNvPr id="23" name="Text 15"/>
          <p:cNvSpPr txBox="1"/>
          <p:nvPr/>
        </p:nvSpPr>
        <p:spPr>
          <a:xfrm>
            <a:off x="1280160" y="5440680"/>
            <a:ext cx="5852160" cy="658368"/>
          </a:xfrm>
          <a:prstGeom prst="rect">
            <a:avLst/>
          </a:prstGeom>
          <a:noFill/>
          <a:ln/>
        </p:spPr>
        <p:txBody>
          <a:bodyPr wrap="square" lIns="0" tIns="0" rIns="0" bIns="0" rtlCol="0" anchor="ctr"/>
          <a:lstStyle/>
          <a:p>
            <a:pPr marL="0" indent="0">
              <a:buNone/>
            </a:pPr>
            <a:r>
              <a:rPr lang="en-US" sz="1600" b="1" dirty="0">
                <a:solidFill>
                  <a:schemeClr val="tx1"/>
                </a:solidFill>
              </a:rPr>
              <a:t>MySQL 8.4</a:t>
            </a:r>
            <a:endParaRPr lang="en-US" sz="1600" dirty="0"/>
          </a:p>
          <a:p>
            <a:pPr marL="0" indent="0">
              <a:buNone/>
            </a:pPr>
            <a:r>
              <a:rPr lang="en-US" sz="1200" dirty="0">
                <a:solidFill>
                  <a:schemeClr val="accent6"/>
                </a:solidFill>
              </a:rPr>
              <a:t>Restricciones únicas + eventos (vencimiento 15 min)</a:t>
            </a:r>
            <a:endParaRPr lang="en-US" sz="1600" dirty="0"/>
          </a:p>
        </p:txBody>
      </p:sp>
      <p:sp>
        <p:nvSpPr>
          <p:cNvPr id="24" name="vistas"/>
          <p:cNvSpPr/>
          <p:nvPr/>
        </p:nvSpPr>
        <p:spPr>
          <a:xfrm>
            <a:off x="7635240" y="1600200"/>
            <a:ext cx="4005072" cy="2011680"/>
          </a:xfrm>
          <a:prstGeom prst="roundRect">
            <a:avLst>
              <a:gd name="adj" fmla="val 5455"/>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25" name="icon-bg"/>
          <p:cNvSpPr/>
          <p:nvPr/>
        </p:nvSpPr>
        <p:spPr>
          <a:xfrm>
            <a:off x="7863840" y="1783080"/>
            <a:ext cx="502920" cy="502920"/>
          </a:xfrm>
          <a:prstGeom prst="ellipse">
            <a:avLst/>
          </a:prstGeom>
          <a:solidFill>
            <a:schemeClr val="bg2"/>
          </a:solidFill>
          <a:ln w="12700">
            <a:solidFill>
              <a:schemeClr val="bg2"/>
            </a:solidFill>
            <a:prstDash val="solid"/>
          </a:ln>
        </p:spPr>
        <p:txBody>
          <a:bodyPr/>
          <a:lstStyle/>
          <a:p>
            <a:endParaRPr lang="es-PE"/>
          </a:p>
        </p:txBody>
      </p:sp>
      <p:pic>
        <p:nvPicPr>
          <p:cNvPr id="26" name="icon" descr="preencoded.png"/>
          <p:cNvPicPr>
            <a:picLocks noChangeAspect="1"/>
          </p:cNvPicPr>
          <p:nvPr/>
        </p:nvPicPr>
        <p:blipFill>
          <a:blip r:embed="rId9"/>
          <a:stretch>
            <a:fillRect/>
          </a:stretch>
        </p:blipFill>
        <p:spPr>
          <a:xfrm>
            <a:off x="7989570" y="1908810"/>
            <a:ext cx="251460" cy="251460"/>
          </a:xfrm>
          <a:prstGeom prst="rect">
            <a:avLst/>
          </a:prstGeom>
        </p:spPr>
      </p:pic>
      <p:sp>
        <p:nvSpPr>
          <p:cNvPr id="27" name="Text 18"/>
          <p:cNvSpPr txBox="1"/>
          <p:nvPr/>
        </p:nvSpPr>
        <p:spPr>
          <a:xfrm>
            <a:off x="8503920" y="1783080"/>
            <a:ext cx="3017520" cy="502920"/>
          </a:xfrm>
          <a:prstGeom prst="rect">
            <a:avLst/>
          </a:prstGeom>
          <a:noFill/>
          <a:ln/>
        </p:spPr>
        <p:txBody>
          <a:bodyPr wrap="square" lIns="0" tIns="0" rIns="0" bIns="0" rtlCol="0" anchor="ctr"/>
          <a:lstStyle/>
          <a:p>
            <a:pPr marL="0" indent="0">
              <a:buNone/>
            </a:pPr>
            <a:r>
              <a:rPr lang="en-US" sz="1800" b="1" dirty="0">
                <a:solidFill>
                  <a:schemeClr val="tx1"/>
                </a:solidFill>
              </a:rPr>
              <a:t>Vistas Thymeleaf</a:t>
            </a:r>
            <a:endParaRPr lang="en-US" sz="1800" dirty="0"/>
          </a:p>
        </p:txBody>
      </p:sp>
      <p:sp>
        <p:nvSpPr>
          <p:cNvPr id="28" name="Text 19"/>
          <p:cNvSpPr txBox="1"/>
          <p:nvPr/>
        </p:nvSpPr>
        <p:spPr>
          <a:xfrm>
            <a:off x="7863840" y="2377440"/>
            <a:ext cx="3611880" cy="1097280"/>
          </a:xfrm>
          <a:prstGeom prst="rect">
            <a:avLst/>
          </a:prstGeom>
          <a:noFill/>
          <a:ln/>
        </p:spPr>
        <p:txBody>
          <a:bodyPr wrap="square" lIns="0" tIns="0" rIns="0" bIns="0" rtlCol="0" anchor="t"/>
          <a:lstStyle/>
          <a:p>
            <a:pPr marL="0" indent="0">
              <a:buNone/>
            </a:pPr>
            <a:r>
              <a:rPr lang="en-US" sz="1400" dirty="0">
                <a:solidFill>
                  <a:schemeClr val="accent6"/>
                </a:solidFill>
              </a:rPr>
              <a:t>El controlador arma el modelo y la plantilla lo muestra: </a:t>
            </a:r>
            <a:r>
              <a:rPr lang="en-US" sz="1400" dirty="0" err="1">
                <a:solidFill>
                  <a:schemeClr val="accent6"/>
                </a:solidFill>
              </a:rPr>
              <a:t>inicio</a:t>
            </a:r>
            <a:r>
              <a:rPr lang="en-US" sz="1400" dirty="0">
                <a:solidFill>
                  <a:schemeClr val="accent6"/>
                </a:solidFill>
              </a:rPr>
              <a:t> de </a:t>
            </a:r>
            <a:r>
              <a:rPr lang="en-US" sz="1400" dirty="0" err="1">
                <a:solidFill>
                  <a:schemeClr val="accent6"/>
                </a:solidFill>
              </a:rPr>
              <a:t>sesión</a:t>
            </a:r>
            <a:r>
              <a:rPr lang="en-US" sz="1400" dirty="0">
                <a:solidFill>
                  <a:schemeClr val="accent6"/>
                </a:solidFill>
              </a:rPr>
              <a:t>, registro, reservar, pago, confirmación, mis citas, perfil, agenda, reportes y errores 403/404.</a:t>
            </a:r>
            <a:endParaRPr lang="en-US" sz="1400" dirty="0"/>
          </a:p>
        </p:txBody>
      </p:sp>
      <p:sp>
        <p:nvSpPr>
          <p:cNvPr id="29" name="transversal"/>
          <p:cNvSpPr/>
          <p:nvPr/>
        </p:nvSpPr>
        <p:spPr>
          <a:xfrm>
            <a:off x="7635240" y="3794760"/>
            <a:ext cx="4005072" cy="2331720"/>
          </a:xfrm>
          <a:prstGeom prst="roundRect">
            <a:avLst>
              <a:gd name="adj" fmla="val 4706"/>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30" name="icon-bg"/>
          <p:cNvSpPr/>
          <p:nvPr/>
        </p:nvSpPr>
        <p:spPr>
          <a:xfrm>
            <a:off x="7863840" y="3977640"/>
            <a:ext cx="502920" cy="502920"/>
          </a:xfrm>
          <a:prstGeom prst="ellipse">
            <a:avLst/>
          </a:prstGeom>
          <a:solidFill>
            <a:schemeClr val="bg2"/>
          </a:solidFill>
          <a:ln w="12700">
            <a:solidFill>
              <a:schemeClr val="bg2"/>
            </a:solidFill>
            <a:prstDash val="solid"/>
          </a:ln>
        </p:spPr>
        <p:txBody>
          <a:bodyPr/>
          <a:lstStyle/>
          <a:p>
            <a:endParaRPr lang="es-PE"/>
          </a:p>
        </p:txBody>
      </p:sp>
      <p:pic>
        <p:nvPicPr>
          <p:cNvPr id="31" name="icon" descr="preencoded.png"/>
          <p:cNvPicPr>
            <a:picLocks noChangeAspect="1"/>
          </p:cNvPicPr>
          <p:nvPr/>
        </p:nvPicPr>
        <p:blipFill>
          <a:blip r:embed="rId10"/>
          <a:stretch>
            <a:fillRect/>
          </a:stretch>
        </p:blipFill>
        <p:spPr>
          <a:xfrm>
            <a:off x="7989570" y="4103370"/>
            <a:ext cx="251460" cy="251460"/>
          </a:xfrm>
          <a:prstGeom prst="rect">
            <a:avLst/>
          </a:prstGeom>
        </p:spPr>
      </p:pic>
      <p:sp>
        <p:nvSpPr>
          <p:cNvPr id="32" name="Text 22"/>
          <p:cNvSpPr txBox="1"/>
          <p:nvPr/>
        </p:nvSpPr>
        <p:spPr>
          <a:xfrm>
            <a:off x="8503920" y="3977640"/>
            <a:ext cx="3017520" cy="502920"/>
          </a:xfrm>
          <a:prstGeom prst="rect">
            <a:avLst/>
          </a:prstGeom>
          <a:noFill/>
          <a:ln/>
        </p:spPr>
        <p:txBody>
          <a:bodyPr wrap="square" lIns="0" tIns="0" rIns="0" bIns="0" rtlCol="0" anchor="ctr"/>
          <a:lstStyle/>
          <a:p>
            <a:pPr marL="0" indent="0">
              <a:buNone/>
            </a:pPr>
            <a:r>
              <a:rPr lang="en-US" sz="1800" b="1" dirty="0">
                <a:solidFill>
                  <a:schemeClr val="tx1"/>
                </a:solidFill>
              </a:rPr>
              <a:t>Transversal (util/)</a:t>
            </a:r>
            <a:endParaRPr lang="en-US" sz="1800" dirty="0"/>
          </a:p>
        </p:txBody>
      </p:sp>
      <p:sp>
        <p:nvSpPr>
          <p:cNvPr id="33" name="Text 23"/>
          <p:cNvSpPr txBox="1"/>
          <p:nvPr/>
        </p:nvSpPr>
        <p:spPr>
          <a:xfrm>
            <a:off x="7863840" y="4572000"/>
            <a:ext cx="3611880"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ExcelExportador (Apache POI)</a:t>
            </a:r>
            <a:endParaRPr lang="en-US" sz="1400" dirty="0"/>
          </a:p>
          <a:p>
            <a:pPr marL="342900" indent="-342900">
              <a:spcAft>
                <a:spcPts val="400"/>
              </a:spcAft>
              <a:buSzPct val="100000"/>
              <a:buChar char="•"/>
            </a:pPr>
            <a:r>
              <a:rPr lang="en-US" sz="1400" dirty="0">
                <a:solidFill>
                  <a:schemeClr val="tx1"/>
                </a:solidFill>
              </a:rPr>
              <a:t>Auditoria + Logback</a:t>
            </a:r>
            <a:endParaRPr lang="en-US" sz="1400" dirty="0"/>
          </a:p>
          <a:p>
            <a:pPr marL="342900" indent="-342900">
              <a:spcAft>
                <a:spcPts val="400"/>
              </a:spcAft>
              <a:buSzPct val="100000"/>
              <a:buChar char="•"/>
            </a:pPr>
            <a:r>
              <a:rPr lang="en-US" sz="1400" dirty="0">
                <a:solidFill>
                  <a:schemeClr val="tx1"/>
                </a:solidFill>
              </a:rPr>
              <a:t>Enmascarador de datos sensibles</a:t>
            </a:r>
            <a:endParaRPr lang="en-US" sz="1400" dirty="0"/>
          </a:p>
        </p:txBody>
      </p:sp>
      <p:sp>
        <p:nvSpPr>
          <p:cNvPr id="34"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PRINCIPIOS APLICADOS</a:t>
            </a:r>
            <a:endParaRPr lang="en-US" sz="1200" dirty="0"/>
          </a:p>
        </p:txBody>
      </p:sp>
      <p:sp>
        <p:nvSpPr>
          <p:cNvPr id="3" name="Text 0"/>
          <p:cNvSpPr>
            <a:spLocks noGrp="1"/>
          </p:cNvSpPr>
          <p:nvPr>
            <p:ph type="title" idx="101" hasCustomPrompt="1"/>
          </p:nvPr>
        </p:nvSpPr>
        <p:spPr>
          <a:xfrm>
            <a:off x="548640" y="640080"/>
            <a:ext cx="9144000" cy="731520"/>
          </a:xfrm>
          <a:prstGeom prst="rect">
            <a:avLst/>
          </a:prstGeom>
          <a:noFill/>
          <a:ln/>
        </p:spPr>
        <p:txBody>
          <a:bodyPr wrap="square" lIns="0" tIns="0" rIns="0" bIns="0" rtlCol="0" anchor="t"/>
          <a:lstStyle/>
          <a:p>
            <a:pPr marL="0" indent="0" algn="l">
              <a:buNone/>
            </a:pPr>
            <a:r>
              <a:rPr lang="en-US" sz="3600" b="1" dirty="0">
                <a:solidFill>
                  <a:schemeClr val="tx1"/>
                </a:solidFill>
              </a:rPr>
              <a:t>MVC, DAO, SOLID y TDD en el código</a:t>
            </a:r>
            <a:endParaRPr lang="en-US" sz="3600" dirty="0"/>
          </a:p>
        </p:txBody>
      </p:sp>
      <p:sp>
        <p:nvSpPr>
          <p:cNvPr id="6" name="principio-MVC"/>
          <p:cNvSpPr/>
          <p:nvPr/>
        </p:nvSpPr>
        <p:spPr>
          <a:xfrm>
            <a:off x="548640" y="1645920"/>
            <a:ext cx="5440680" cy="2103120"/>
          </a:xfrm>
          <a:prstGeom prst="roundRect">
            <a:avLst>
              <a:gd name="adj" fmla="val 5217"/>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7" name="icon-bg"/>
          <p:cNvSpPr/>
          <p:nvPr/>
        </p:nvSpPr>
        <p:spPr>
          <a:xfrm>
            <a:off x="822960" y="1920240"/>
            <a:ext cx="594360" cy="594360"/>
          </a:xfrm>
          <a:prstGeom prst="ellipse">
            <a:avLst/>
          </a:prstGeom>
          <a:solidFill>
            <a:srgbClr val="D1FAE5"/>
          </a:solidFill>
          <a:ln w="12700">
            <a:solidFill>
              <a:srgbClr val="D1FAE5"/>
            </a:solidFill>
            <a:prstDash val="solid"/>
          </a:ln>
        </p:spPr>
        <p:txBody>
          <a:bodyPr/>
          <a:lstStyle/>
          <a:p>
            <a:endParaRPr lang="es-PE"/>
          </a:p>
        </p:txBody>
      </p:sp>
      <p:pic>
        <p:nvPicPr>
          <p:cNvPr id="8" name="icon" descr="preencoded.png"/>
          <p:cNvPicPr>
            <a:picLocks noChangeAspect="1"/>
          </p:cNvPicPr>
          <p:nvPr/>
        </p:nvPicPr>
        <p:blipFill>
          <a:blip r:embed="rId3"/>
          <a:stretch>
            <a:fillRect/>
          </a:stretch>
        </p:blipFill>
        <p:spPr>
          <a:xfrm>
            <a:off x="971550" y="2068830"/>
            <a:ext cx="297180" cy="297180"/>
          </a:xfrm>
          <a:prstGeom prst="rect">
            <a:avLst/>
          </a:prstGeom>
        </p:spPr>
      </p:pic>
      <p:sp>
        <p:nvSpPr>
          <p:cNvPr id="9" name="Text 6"/>
          <p:cNvSpPr txBox="1"/>
          <p:nvPr/>
        </p:nvSpPr>
        <p:spPr>
          <a:xfrm>
            <a:off x="1600200" y="1920240"/>
            <a:ext cx="4114800" cy="594360"/>
          </a:xfrm>
          <a:prstGeom prst="rect">
            <a:avLst/>
          </a:prstGeom>
          <a:noFill/>
          <a:ln/>
        </p:spPr>
        <p:txBody>
          <a:bodyPr wrap="square" lIns="0" tIns="0" rIns="0" bIns="0" rtlCol="0" anchor="ctr"/>
          <a:lstStyle/>
          <a:p>
            <a:pPr marL="0" indent="0">
              <a:buNone/>
            </a:pPr>
            <a:r>
              <a:rPr lang="en-US" sz="2400" b="1" dirty="0">
                <a:solidFill>
                  <a:schemeClr val="tx2"/>
                </a:solidFill>
              </a:rPr>
              <a:t>MVC</a:t>
            </a:r>
            <a:endParaRPr lang="en-US" sz="2400" dirty="0"/>
          </a:p>
        </p:txBody>
      </p:sp>
      <p:sp>
        <p:nvSpPr>
          <p:cNvPr id="10" name="Text 7"/>
          <p:cNvSpPr txBox="1"/>
          <p:nvPr/>
        </p:nvSpPr>
        <p:spPr>
          <a:xfrm>
            <a:off x="822960" y="2606040"/>
            <a:ext cx="4937760" cy="731520"/>
          </a:xfrm>
          <a:prstGeom prst="rect">
            <a:avLst/>
          </a:prstGeom>
          <a:noFill/>
          <a:ln/>
        </p:spPr>
        <p:txBody>
          <a:bodyPr wrap="square" lIns="0" tIns="0" rIns="0" bIns="0" rtlCol="0" anchor="t"/>
          <a:lstStyle/>
          <a:p>
            <a:pPr marL="0" indent="0">
              <a:buNone/>
            </a:pPr>
            <a:r>
              <a:rPr lang="en-US" sz="1400" dirty="0">
                <a:solidFill>
                  <a:schemeClr val="tx1"/>
                </a:solidFill>
              </a:rPr>
              <a:t>Modelo: entidades JPA y DTO. Vista: plantillas Thymeleaf. Controlador: @Controller delgado que delega.</a:t>
            </a:r>
            <a:endParaRPr lang="en-US" sz="1400" dirty="0"/>
          </a:p>
        </p:txBody>
      </p:sp>
      <p:sp>
        <p:nvSpPr>
          <p:cNvPr id="11" name="Text 8"/>
          <p:cNvSpPr txBox="1"/>
          <p:nvPr/>
        </p:nvSpPr>
        <p:spPr>
          <a:xfrm>
            <a:off x="822960" y="3337560"/>
            <a:ext cx="4937760" cy="274320"/>
          </a:xfrm>
          <a:prstGeom prst="rect">
            <a:avLst/>
          </a:prstGeom>
          <a:noFill/>
          <a:ln/>
        </p:spPr>
        <p:txBody>
          <a:bodyPr wrap="square" lIns="0" tIns="0" rIns="0" bIns="0" rtlCol="0" anchor="ctr"/>
          <a:lstStyle/>
          <a:p>
            <a:pPr marL="0" indent="0">
              <a:buNone/>
            </a:pPr>
            <a:r>
              <a:rPr lang="en-US" sz="1100" dirty="0">
                <a:solidFill>
                  <a:schemeClr val="accent6"/>
                </a:solidFill>
                <a:latin typeface="Courier New" pitchFamily="34" charset="0"/>
                <a:ea typeface="Courier New" pitchFamily="34" charset="-122"/>
                <a:cs typeface="Courier New" pitchFamily="34" charset="-120"/>
              </a:rPr>
              <a:t>model/ · dto/ · templates/ · controller/</a:t>
            </a:r>
            <a:endParaRPr lang="en-US" sz="1100" dirty="0"/>
          </a:p>
        </p:txBody>
      </p:sp>
      <p:sp>
        <p:nvSpPr>
          <p:cNvPr id="12" name="principio-DAO"/>
          <p:cNvSpPr/>
          <p:nvPr/>
        </p:nvSpPr>
        <p:spPr>
          <a:xfrm>
            <a:off x="6172200" y="1645920"/>
            <a:ext cx="5440680" cy="2103120"/>
          </a:xfrm>
          <a:prstGeom prst="roundRect">
            <a:avLst>
              <a:gd name="adj" fmla="val 5217"/>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13" name="icon-bg"/>
          <p:cNvSpPr/>
          <p:nvPr/>
        </p:nvSpPr>
        <p:spPr>
          <a:xfrm>
            <a:off x="6446520" y="1920240"/>
            <a:ext cx="594360" cy="594360"/>
          </a:xfrm>
          <a:prstGeom prst="ellipse">
            <a:avLst/>
          </a:prstGeom>
          <a:solidFill>
            <a:srgbClr val="D1FAE5"/>
          </a:solidFill>
          <a:ln w="12700">
            <a:solidFill>
              <a:srgbClr val="D1FAE5"/>
            </a:solidFill>
            <a:prstDash val="solid"/>
          </a:ln>
        </p:spPr>
        <p:txBody>
          <a:bodyPr/>
          <a:lstStyle/>
          <a:p>
            <a:endParaRPr lang="es-PE"/>
          </a:p>
        </p:txBody>
      </p:sp>
      <p:pic>
        <p:nvPicPr>
          <p:cNvPr id="14" name="icon" descr="preencoded.png"/>
          <p:cNvPicPr>
            <a:picLocks noChangeAspect="1"/>
          </p:cNvPicPr>
          <p:nvPr/>
        </p:nvPicPr>
        <p:blipFill>
          <a:blip r:embed="rId4"/>
          <a:stretch>
            <a:fillRect/>
          </a:stretch>
        </p:blipFill>
        <p:spPr>
          <a:xfrm>
            <a:off x="6595110" y="2068830"/>
            <a:ext cx="297180" cy="297180"/>
          </a:xfrm>
          <a:prstGeom prst="rect">
            <a:avLst/>
          </a:prstGeom>
        </p:spPr>
      </p:pic>
      <p:sp>
        <p:nvSpPr>
          <p:cNvPr id="15" name="Text 11"/>
          <p:cNvSpPr txBox="1"/>
          <p:nvPr/>
        </p:nvSpPr>
        <p:spPr>
          <a:xfrm>
            <a:off x="7223760" y="1920240"/>
            <a:ext cx="4114800" cy="594360"/>
          </a:xfrm>
          <a:prstGeom prst="rect">
            <a:avLst/>
          </a:prstGeom>
          <a:noFill/>
          <a:ln/>
        </p:spPr>
        <p:txBody>
          <a:bodyPr wrap="square" lIns="0" tIns="0" rIns="0" bIns="0" rtlCol="0" anchor="ctr"/>
          <a:lstStyle/>
          <a:p>
            <a:pPr marL="0" indent="0">
              <a:buNone/>
            </a:pPr>
            <a:r>
              <a:rPr lang="en-US" sz="2400" b="1" dirty="0">
                <a:solidFill>
                  <a:schemeClr val="tx2"/>
                </a:solidFill>
              </a:rPr>
              <a:t>DAO</a:t>
            </a:r>
            <a:endParaRPr lang="en-US" sz="2400" dirty="0"/>
          </a:p>
        </p:txBody>
      </p:sp>
      <p:sp>
        <p:nvSpPr>
          <p:cNvPr id="16" name="Text 12"/>
          <p:cNvSpPr txBox="1"/>
          <p:nvPr/>
        </p:nvSpPr>
        <p:spPr>
          <a:xfrm>
            <a:off x="6446520" y="2606040"/>
            <a:ext cx="4937760" cy="731520"/>
          </a:xfrm>
          <a:prstGeom prst="rect">
            <a:avLst/>
          </a:prstGeom>
          <a:noFill/>
          <a:ln/>
        </p:spPr>
        <p:txBody>
          <a:bodyPr wrap="square" lIns="0" tIns="0" rIns="0" bIns="0" rtlCol="0" anchor="t"/>
          <a:lstStyle/>
          <a:p>
            <a:pPr marL="0" indent="0">
              <a:buNone/>
            </a:pPr>
            <a:r>
              <a:rPr lang="en-US" sz="1400" dirty="0">
                <a:solidFill>
                  <a:schemeClr val="tx1"/>
                </a:solidFill>
              </a:rPr>
              <a:t>11 interfaces *Dao que extienden JpaRepository, con @Query propias para disponibilidad y reportes.</a:t>
            </a:r>
            <a:endParaRPr lang="en-US" sz="1400" dirty="0"/>
          </a:p>
        </p:txBody>
      </p:sp>
      <p:sp>
        <p:nvSpPr>
          <p:cNvPr id="17" name="Text 13"/>
          <p:cNvSpPr txBox="1"/>
          <p:nvPr/>
        </p:nvSpPr>
        <p:spPr>
          <a:xfrm>
            <a:off x="6446520" y="3337560"/>
            <a:ext cx="4937760" cy="274320"/>
          </a:xfrm>
          <a:prstGeom prst="rect">
            <a:avLst/>
          </a:prstGeom>
          <a:noFill/>
          <a:ln/>
        </p:spPr>
        <p:txBody>
          <a:bodyPr wrap="square" lIns="0" tIns="0" rIns="0" bIns="0" rtlCol="0" anchor="ctr"/>
          <a:lstStyle/>
          <a:p>
            <a:pPr marL="0" indent="0">
              <a:buNone/>
            </a:pPr>
            <a:r>
              <a:rPr lang="en-US" sz="1100" dirty="0">
                <a:solidFill>
                  <a:schemeClr val="accent6"/>
                </a:solidFill>
                <a:latin typeface="Courier New" pitchFamily="34" charset="0"/>
                <a:ea typeface="Courier New" pitchFamily="34" charset="-122"/>
                <a:cs typeface="Courier New" pitchFamily="34" charset="-120"/>
              </a:rPr>
              <a:t>dao/CitaDao · dao/PagoDao · dao/VistaCitaDao</a:t>
            </a:r>
            <a:endParaRPr lang="en-US" sz="1100" dirty="0"/>
          </a:p>
        </p:txBody>
      </p:sp>
      <p:sp>
        <p:nvSpPr>
          <p:cNvPr id="18" name="principio-SOLID"/>
          <p:cNvSpPr/>
          <p:nvPr/>
        </p:nvSpPr>
        <p:spPr>
          <a:xfrm>
            <a:off x="548640" y="3931920"/>
            <a:ext cx="5440680" cy="2103120"/>
          </a:xfrm>
          <a:prstGeom prst="roundRect">
            <a:avLst>
              <a:gd name="adj" fmla="val 5217"/>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19" name="icon-bg"/>
          <p:cNvSpPr/>
          <p:nvPr/>
        </p:nvSpPr>
        <p:spPr>
          <a:xfrm>
            <a:off x="822960" y="4206240"/>
            <a:ext cx="594360" cy="594360"/>
          </a:xfrm>
          <a:prstGeom prst="ellipse">
            <a:avLst/>
          </a:prstGeom>
          <a:solidFill>
            <a:srgbClr val="D1FAE5"/>
          </a:solidFill>
          <a:ln w="12700">
            <a:solidFill>
              <a:srgbClr val="D1FAE5"/>
            </a:solidFill>
            <a:prstDash val="solid"/>
          </a:ln>
        </p:spPr>
        <p:txBody>
          <a:bodyPr/>
          <a:lstStyle/>
          <a:p>
            <a:endParaRPr lang="es-PE"/>
          </a:p>
        </p:txBody>
      </p:sp>
      <p:pic>
        <p:nvPicPr>
          <p:cNvPr id="20" name="icon" descr="preencoded.png"/>
          <p:cNvPicPr>
            <a:picLocks noChangeAspect="1"/>
          </p:cNvPicPr>
          <p:nvPr/>
        </p:nvPicPr>
        <p:blipFill>
          <a:blip r:embed="rId5"/>
          <a:stretch>
            <a:fillRect/>
          </a:stretch>
        </p:blipFill>
        <p:spPr>
          <a:xfrm>
            <a:off x="971550" y="4354830"/>
            <a:ext cx="297180" cy="297180"/>
          </a:xfrm>
          <a:prstGeom prst="rect">
            <a:avLst/>
          </a:prstGeom>
        </p:spPr>
      </p:pic>
      <p:sp>
        <p:nvSpPr>
          <p:cNvPr id="21" name="Text 16"/>
          <p:cNvSpPr txBox="1"/>
          <p:nvPr/>
        </p:nvSpPr>
        <p:spPr>
          <a:xfrm>
            <a:off x="1600200" y="4206240"/>
            <a:ext cx="4114800" cy="594360"/>
          </a:xfrm>
          <a:prstGeom prst="rect">
            <a:avLst/>
          </a:prstGeom>
          <a:noFill/>
          <a:ln/>
        </p:spPr>
        <p:txBody>
          <a:bodyPr wrap="square" lIns="0" tIns="0" rIns="0" bIns="0" rtlCol="0" anchor="ctr"/>
          <a:lstStyle/>
          <a:p>
            <a:pPr marL="0" indent="0">
              <a:buNone/>
            </a:pPr>
            <a:r>
              <a:rPr lang="en-US" sz="2400" b="1" dirty="0">
                <a:solidFill>
                  <a:schemeClr val="tx2"/>
                </a:solidFill>
              </a:rPr>
              <a:t>SOLID</a:t>
            </a:r>
            <a:endParaRPr lang="en-US" sz="2400" dirty="0"/>
          </a:p>
        </p:txBody>
      </p:sp>
      <p:sp>
        <p:nvSpPr>
          <p:cNvPr id="22" name="Text 17"/>
          <p:cNvSpPr txBox="1"/>
          <p:nvPr/>
        </p:nvSpPr>
        <p:spPr>
          <a:xfrm>
            <a:off x="822960" y="4892040"/>
            <a:ext cx="4937760" cy="731520"/>
          </a:xfrm>
          <a:prstGeom prst="rect">
            <a:avLst/>
          </a:prstGeom>
          <a:noFill/>
          <a:ln/>
        </p:spPr>
        <p:txBody>
          <a:bodyPr wrap="square" lIns="0" tIns="0" rIns="0" bIns="0" rtlCol="0" anchor="t"/>
          <a:lstStyle/>
          <a:p>
            <a:pPr marL="0" indent="0">
              <a:buNone/>
            </a:pPr>
            <a:r>
              <a:rPr lang="en-US" sz="1400" dirty="0">
                <a:solidFill>
                  <a:schemeClr val="tx1"/>
                </a:solidFill>
              </a:rPr>
              <a:t>ExportadorReporte es una abstracción: el reporte no depende de POI (O, D). Un servicio por responsabilidad (S). Inyección por constructor.</a:t>
            </a:r>
            <a:endParaRPr lang="en-US" sz="1400" dirty="0"/>
          </a:p>
        </p:txBody>
      </p:sp>
      <p:sp>
        <p:nvSpPr>
          <p:cNvPr id="23" name="Text 18"/>
          <p:cNvSpPr txBox="1"/>
          <p:nvPr/>
        </p:nvSpPr>
        <p:spPr>
          <a:xfrm>
            <a:off x="822960" y="5623560"/>
            <a:ext cx="4937760" cy="274320"/>
          </a:xfrm>
          <a:prstGeom prst="rect">
            <a:avLst/>
          </a:prstGeom>
          <a:noFill/>
          <a:ln/>
        </p:spPr>
        <p:txBody>
          <a:bodyPr wrap="square" lIns="0" tIns="0" rIns="0" bIns="0" rtlCol="0" anchor="ctr"/>
          <a:lstStyle/>
          <a:p>
            <a:pPr marL="0" indent="0">
              <a:buNone/>
            </a:pPr>
            <a:r>
              <a:rPr lang="en-US" sz="1100" dirty="0">
                <a:solidFill>
                  <a:schemeClr val="accent6"/>
                </a:solidFill>
                <a:latin typeface="Courier New" pitchFamily="34" charset="0"/>
                <a:ea typeface="Courier New" pitchFamily="34" charset="-122"/>
                <a:cs typeface="Courier New" pitchFamily="34" charset="-120"/>
              </a:rPr>
              <a:t>util/ExportadorReporte · util/ExcelExportador</a:t>
            </a:r>
            <a:endParaRPr lang="en-US" sz="1100" dirty="0"/>
          </a:p>
        </p:txBody>
      </p:sp>
      <p:sp>
        <p:nvSpPr>
          <p:cNvPr id="24" name="principio-TDD"/>
          <p:cNvSpPr/>
          <p:nvPr/>
        </p:nvSpPr>
        <p:spPr>
          <a:xfrm>
            <a:off x="6172200" y="3931920"/>
            <a:ext cx="5440680" cy="2103120"/>
          </a:xfrm>
          <a:prstGeom prst="roundRect">
            <a:avLst>
              <a:gd name="adj" fmla="val 5217"/>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25" name="icon-bg"/>
          <p:cNvSpPr/>
          <p:nvPr/>
        </p:nvSpPr>
        <p:spPr>
          <a:xfrm>
            <a:off x="6446520" y="4206240"/>
            <a:ext cx="594360" cy="594360"/>
          </a:xfrm>
          <a:prstGeom prst="ellipse">
            <a:avLst/>
          </a:prstGeom>
          <a:solidFill>
            <a:srgbClr val="D1FAE5"/>
          </a:solidFill>
          <a:ln w="12700">
            <a:solidFill>
              <a:srgbClr val="D1FAE5"/>
            </a:solidFill>
            <a:prstDash val="solid"/>
          </a:ln>
        </p:spPr>
        <p:txBody>
          <a:bodyPr/>
          <a:lstStyle/>
          <a:p>
            <a:endParaRPr lang="es-PE"/>
          </a:p>
        </p:txBody>
      </p:sp>
      <p:pic>
        <p:nvPicPr>
          <p:cNvPr id="26" name="icon" descr="preencoded.png"/>
          <p:cNvPicPr>
            <a:picLocks noChangeAspect="1"/>
          </p:cNvPicPr>
          <p:nvPr/>
        </p:nvPicPr>
        <p:blipFill>
          <a:blip r:embed="rId6"/>
          <a:stretch>
            <a:fillRect/>
          </a:stretch>
        </p:blipFill>
        <p:spPr>
          <a:xfrm>
            <a:off x="6595110" y="4354830"/>
            <a:ext cx="297180" cy="297180"/>
          </a:xfrm>
          <a:prstGeom prst="rect">
            <a:avLst/>
          </a:prstGeom>
        </p:spPr>
      </p:pic>
      <p:sp>
        <p:nvSpPr>
          <p:cNvPr id="27" name="Text 21"/>
          <p:cNvSpPr txBox="1"/>
          <p:nvPr/>
        </p:nvSpPr>
        <p:spPr>
          <a:xfrm>
            <a:off x="7223760" y="4206240"/>
            <a:ext cx="4114800" cy="594360"/>
          </a:xfrm>
          <a:prstGeom prst="rect">
            <a:avLst/>
          </a:prstGeom>
          <a:noFill/>
          <a:ln/>
        </p:spPr>
        <p:txBody>
          <a:bodyPr wrap="square" lIns="0" tIns="0" rIns="0" bIns="0" rtlCol="0" anchor="ctr"/>
          <a:lstStyle/>
          <a:p>
            <a:pPr marL="0" indent="0">
              <a:buNone/>
            </a:pPr>
            <a:r>
              <a:rPr lang="en-US" sz="2400" b="1" dirty="0">
                <a:solidFill>
                  <a:schemeClr val="tx2"/>
                </a:solidFill>
              </a:rPr>
              <a:t>TDD</a:t>
            </a:r>
            <a:endParaRPr lang="en-US" sz="2400" dirty="0"/>
          </a:p>
        </p:txBody>
      </p:sp>
      <p:sp>
        <p:nvSpPr>
          <p:cNvPr id="28" name="Text 22"/>
          <p:cNvSpPr txBox="1"/>
          <p:nvPr/>
        </p:nvSpPr>
        <p:spPr>
          <a:xfrm>
            <a:off x="6446520" y="4892040"/>
            <a:ext cx="4937760" cy="731520"/>
          </a:xfrm>
          <a:prstGeom prst="rect">
            <a:avLst/>
          </a:prstGeom>
          <a:noFill/>
          <a:ln/>
        </p:spPr>
        <p:txBody>
          <a:bodyPr wrap="square" lIns="0" tIns="0" rIns="0" bIns="0" rtlCol="0" anchor="t"/>
          <a:lstStyle/>
          <a:p>
            <a:pPr marL="0" indent="0">
              <a:buNone/>
            </a:pPr>
            <a:r>
              <a:rPr lang="en-US" sz="1400" dirty="0">
                <a:solidFill>
                  <a:schemeClr val="tx1"/>
                </a:solidFill>
              </a:rPr>
              <a:t>JUnit 5 + Mockito sobre reglas de negocio, controladores, seguridad y validaciones: 168 pruebas en 24 clases.</a:t>
            </a:r>
            <a:endParaRPr lang="en-US" sz="1400" dirty="0"/>
          </a:p>
        </p:txBody>
      </p:sp>
      <p:sp>
        <p:nvSpPr>
          <p:cNvPr id="29" name="Text 23"/>
          <p:cNvSpPr txBox="1"/>
          <p:nvPr/>
        </p:nvSpPr>
        <p:spPr>
          <a:xfrm>
            <a:off x="6446520" y="5623560"/>
            <a:ext cx="4937760" cy="274320"/>
          </a:xfrm>
          <a:prstGeom prst="rect">
            <a:avLst/>
          </a:prstGeom>
          <a:noFill/>
          <a:ln/>
        </p:spPr>
        <p:txBody>
          <a:bodyPr wrap="square" lIns="0" tIns="0" rIns="0" bIns="0" rtlCol="0" anchor="ctr"/>
          <a:lstStyle/>
          <a:p>
            <a:pPr marL="0" indent="0">
              <a:buNone/>
            </a:pPr>
            <a:r>
              <a:rPr lang="en-US" sz="1100" dirty="0">
                <a:solidFill>
                  <a:schemeClr val="accent6"/>
                </a:solidFill>
                <a:latin typeface="Courier New" pitchFamily="34" charset="0"/>
                <a:ea typeface="Courier New" pitchFamily="34" charset="-122"/>
                <a:cs typeface="Courier New" pitchFamily="34" charset="-120"/>
              </a:rPr>
              <a:t>src/test/java/ · JaCoCo</a:t>
            </a:r>
            <a:endParaRPr lang="en-US" sz="1100" dirty="0"/>
          </a:p>
        </p:txBody>
      </p:sp>
      <p:sp>
        <p:nvSpPr>
          <p:cNvPr id="30"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CONTROL DE VERSIONES</a:t>
            </a:r>
            <a:endParaRPr lang="en-US" sz="1200" dirty="0"/>
          </a:p>
        </p:txBody>
      </p:sp>
      <p:sp>
        <p:nvSpPr>
          <p:cNvPr id="3" name="Text 0"/>
          <p:cNvSpPr>
            <a:spLocks noGrp="1"/>
          </p:cNvSpPr>
          <p:nvPr>
            <p:ph type="title" idx="101" hasCustomPrompt="1"/>
          </p:nvPr>
        </p:nvSpPr>
        <p:spPr>
          <a:xfrm>
            <a:off x="548640" y="640080"/>
            <a:ext cx="9144000" cy="731520"/>
          </a:xfrm>
          <a:prstGeom prst="rect">
            <a:avLst/>
          </a:prstGeom>
          <a:noFill/>
          <a:ln/>
        </p:spPr>
        <p:txBody>
          <a:bodyPr wrap="square" lIns="0" tIns="0" rIns="0" bIns="0" rtlCol="0" anchor="t"/>
          <a:lstStyle/>
          <a:p>
            <a:pPr marL="0" indent="0" algn="l">
              <a:buNone/>
            </a:pPr>
            <a:r>
              <a:rPr lang="en-US" sz="3600" b="1" dirty="0">
                <a:solidFill>
                  <a:schemeClr val="tx1"/>
                </a:solidFill>
              </a:rPr>
              <a:t>Git y GitHub: cada avance queda registrado</a:t>
            </a:r>
            <a:endParaRPr lang="en-US" sz="3600" dirty="0"/>
          </a:p>
        </p:txBody>
      </p:sp>
      <p:sp>
        <p:nvSpPr>
          <p:cNvPr id="6" name="git-stat-0"/>
          <p:cNvSpPr/>
          <p:nvPr/>
        </p:nvSpPr>
        <p:spPr>
          <a:xfrm>
            <a:off x="548640" y="1645920"/>
            <a:ext cx="3108960" cy="1325880"/>
          </a:xfrm>
          <a:prstGeom prst="roundRect">
            <a:avLst>
              <a:gd name="adj" fmla="val 8276"/>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7" name="Text 5"/>
          <p:cNvSpPr txBox="1"/>
          <p:nvPr/>
        </p:nvSpPr>
        <p:spPr>
          <a:xfrm>
            <a:off x="822960" y="1737360"/>
            <a:ext cx="2651760" cy="777240"/>
          </a:xfrm>
          <a:prstGeom prst="rect">
            <a:avLst/>
          </a:prstGeom>
          <a:noFill/>
          <a:ln/>
        </p:spPr>
        <p:txBody>
          <a:bodyPr wrap="square" lIns="0" tIns="0" rIns="0" bIns="0" rtlCol="0" anchor="ctr"/>
          <a:lstStyle/>
          <a:p>
            <a:pPr marL="0" indent="0">
              <a:buNone/>
            </a:pPr>
            <a:r>
              <a:rPr lang="en-US" sz="4800" b="1" dirty="0">
                <a:solidFill>
                  <a:schemeClr val="tx2"/>
                </a:solidFill>
              </a:rPr>
              <a:t>106</a:t>
            </a:r>
            <a:endParaRPr lang="en-US" sz="4800" dirty="0"/>
          </a:p>
        </p:txBody>
      </p:sp>
      <p:sp>
        <p:nvSpPr>
          <p:cNvPr id="8" name="Text 6"/>
          <p:cNvSpPr txBox="1"/>
          <p:nvPr/>
        </p:nvSpPr>
        <p:spPr>
          <a:xfrm>
            <a:off x="822960" y="2487168"/>
            <a:ext cx="2651760" cy="365760"/>
          </a:xfrm>
          <a:prstGeom prst="rect">
            <a:avLst/>
          </a:prstGeom>
          <a:noFill/>
          <a:ln/>
        </p:spPr>
        <p:txBody>
          <a:bodyPr wrap="square" lIns="0" tIns="0" rIns="0" bIns="0" rtlCol="0" anchor="ctr"/>
          <a:lstStyle/>
          <a:p>
            <a:pPr marL="0" indent="0">
              <a:buNone/>
            </a:pPr>
            <a:r>
              <a:rPr lang="en-US" sz="1400" dirty="0">
                <a:solidFill>
                  <a:schemeClr val="accent6"/>
                </a:solidFill>
              </a:rPr>
              <a:t>commits en main</a:t>
            </a:r>
            <a:endParaRPr lang="en-US" sz="1400" dirty="0"/>
          </a:p>
        </p:txBody>
      </p:sp>
      <p:sp>
        <p:nvSpPr>
          <p:cNvPr id="9" name="git-stat-1"/>
          <p:cNvSpPr/>
          <p:nvPr/>
        </p:nvSpPr>
        <p:spPr>
          <a:xfrm>
            <a:off x="548640" y="3154680"/>
            <a:ext cx="3108960" cy="1325880"/>
          </a:xfrm>
          <a:prstGeom prst="roundRect">
            <a:avLst>
              <a:gd name="adj" fmla="val 8276"/>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10" name="Text 8"/>
          <p:cNvSpPr txBox="1"/>
          <p:nvPr/>
        </p:nvSpPr>
        <p:spPr>
          <a:xfrm>
            <a:off x="822960" y="3246120"/>
            <a:ext cx="2651760" cy="777240"/>
          </a:xfrm>
          <a:prstGeom prst="rect">
            <a:avLst/>
          </a:prstGeom>
          <a:noFill/>
          <a:ln/>
        </p:spPr>
        <p:txBody>
          <a:bodyPr wrap="square" lIns="0" tIns="0" rIns="0" bIns="0" rtlCol="0" anchor="ctr"/>
          <a:lstStyle/>
          <a:p>
            <a:pPr marL="0" indent="0">
              <a:buNone/>
            </a:pPr>
            <a:r>
              <a:rPr lang="en-US" sz="4800" b="1" dirty="0">
                <a:solidFill>
                  <a:schemeClr val="tx2"/>
                </a:solidFill>
              </a:rPr>
              <a:t>28</a:t>
            </a:r>
            <a:endParaRPr lang="en-US" sz="4800" dirty="0"/>
          </a:p>
        </p:txBody>
      </p:sp>
      <p:sp>
        <p:nvSpPr>
          <p:cNvPr id="11" name="Text 9"/>
          <p:cNvSpPr txBox="1"/>
          <p:nvPr/>
        </p:nvSpPr>
        <p:spPr>
          <a:xfrm>
            <a:off x="822960" y="3995928"/>
            <a:ext cx="2651760" cy="365760"/>
          </a:xfrm>
          <a:prstGeom prst="rect">
            <a:avLst/>
          </a:prstGeom>
          <a:noFill/>
          <a:ln/>
        </p:spPr>
        <p:txBody>
          <a:bodyPr wrap="square" lIns="0" tIns="0" rIns="0" bIns="0" rtlCol="0" anchor="ctr"/>
          <a:lstStyle/>
          <a:p>
            <a:pPr marL="0" indent="0">
              <a:buNone/>
            </a:pPr>
            <a:r>
              <a:rPr lang="en-US" sz="1400" dirty="0">
                <a:solidFill>
                  <a:schemeClr val="accent6"/>
                </a:solidFill>
              </a:rPr>
              <a:t>pull requests</a:t>
            </a:r>
            <a:endParaRPr lang="en-US" sz="1400" dirty="0"/>
          </a:p>
        </p:txBody>
      </p:sp>
      <p:sp>
        <p:nvSpPr>
          <p:cNvPr id="12" name="git-stat-2"/>
          <p:cNvSpPr/>
          <p:nvPr/>
        </p:nvSpPr>
        <p:spPr>
          <a:xfrm>
            <a:off x="548640" y="4663440"/>
            <a:ext cx="3108960" cy="1325880"/>
          </a:xfrm>
          <a:prstGeom prst="roundRect">
            <a:avLst>
              <a:gd name="adj" fmla="val 8276"/>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13" name="Text 11"/>
          <p:cNvSpPr txBox="1"/>
          <p:nvPr/>
        </p:nvSpPr>
        <p:spPr>
          <a:xfrm>
            <a:off x="822960" y="4754880"/>
            <a:ext cx="2651760" cy="777240"/>
          </a:xfrm>
          <a:prstGeom prst="rect">
            <a:avLst/>
          </a:prstGeom>
          <a:noFill/>
          <a:ln/>
        </p:spPr>
        <p:txBody>
          <a:bodyPr wrap="square" lIns="0" tIns="0" rIns="0" bIns="0" rtlCol="0" anchor="ctr"/>
          <a:lstStyle/>
          <a:p>
            <a:pPr marL="0" indent="0">
              <a:buNone/>
            </a:pPr>
            <a:r>
              <a:rPr lang="en-US" sz="4800" b="1" dirty="0">
                <a:solidFill>
                  <a:schemeClr val="tx2"/>
                </a:solidFill>
              </a:rPr>
              <a:t>27</a:t>
            </a:r>
            <a:endParaRPr lang="en-US" sz="4800" dirty="0"/>
          </a:p>
        </p:txBody>
      </p:sp>
      <p:sp>
        <p:nvSpPr>
          <p:cNvPr id="14" name="Text 12"/>
          <p:cNvSpPr txBox="1"/>
          <p:nvPr/>
        </p:nvSpPr>
        <p:spPr>
          <a:xfrm>
            <a:off x="822960" y="5504688"/>
            <a:ext cx="2651760" cy="365760"/>
          </a:xfrm>
          <a:prstGeom prst="rect">
            <a:avLst/>
          </a:prstGeom>
          <a:noFill/>
          <a:ln/>
        </p:spPr>
        <p:txBody>
          <a:bodyPr wrap="square" lIns="0" tIns="0" rIns="0" bIns="0" rtlCol="0" anchor="ctr"/>
          <a:lstStyle/>
          <a:p>
            <a:pPr marL="0" indent="0">
              <a:buNone/>
            </a:pPr>
            <a:r>
              <a:rPr lang="en-US" sz="1400" dirty="0">
                <a:solidFill>
                  <a:schemeClr val="accent6"/>
                </a:solidFill>
              </a:rPr>
              <a:t>PR integrados</a:t>
            </a:r>
            <a:endParaRPr lang="en-US" sz="1400" dirty="0"/>
          </a:p>
        </p:txBody>
      </p:sp>
      <p:sp>
        <p:nvSpPr>
          <p:cNvPr id="15" name="flujo"/>
          <p:cNvSpPr/>
          <p:nvPr/>
        </p:nvSpPr>
        <p:spPr>
          <a:xfrm>
            <a:off x="3931920" y="1645920"/>
            <a:ext cx="7708392" cy="2194560"/>
          </a:xfrm>
          <a:prstGeom prst="roundRect">
            <a:avLst>
              <a:gd name="adj" fmla="val 5000"/>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16" name="Text 14"/>
          <p:cNvSpPr txBox="1"/>
          <p:nvPr/>
        </p:nvSpPr>
        <p:spPr>
          <a:xfrm>
            <a:off x="4206240" y="1783080"/>
            <a:ext cx="5486400" cy="411480"/>
          </a:xfrm>
          <a:prstGeom prst="rect">
            <a:avLst/>
          </a:prstGeom>
          <a:noFill/>
          <a:ln/>
        </p:spPr>
        <p:txBody>
          <a:bodyPr wrap="square" lIns="0" tIns="0" rIns="0" bIns="0" rtlCol="0" anchor="ctr"/>
          <a:lstStyle/>
          <a:p>
            <a:pPr marL="0" indent="0">
              <a:buNone/>
            </a:pPr>
            <a:r>
              <a:rPr lang="en-US" sz="1800" b="1" dirty="0">
                <a:solidFill>
                  <a:schemeClr val="tx1"/>
                </a:solidFill>
              </a:rPr>
              <a:t>Flujo de trabajo</a:t>
            </a:r>
            <a:endParaRPr lang="en-US" sz="1800" dirty="0"/>
          </a:p>
        </p:txBody>
      </p:sp>
      <p:sp>
        <p:nvSpPr>
          <p:cNvPr id="17" name="icon-bg"/>
          <p:cNvSpPr/>
          <p:nvPr/>
        </p:nvSpPr>
        <p:spPr>
          <a:xfrm>
            <a:off x="4663440" y="2286000"/>
            <a:ext cx="548640" cy="548640"/>
          </a:xfrm>
          <a:prstGeom prst="ellipse">
            <a:avLst/>
          </a:prstGeom>
          <a:solidFill>
            <a:srgbClr val="D1FAE5"/>
          </a:solidFill>
          <a:ln w="12700">
            <a:solidFill>
              <a:srgbClr val="D1FAE5"/>
            </a:solidFill>
            <a:prstDash val="solid"/>
          </a:ln>
        </p:spPr>
        <p:txBody>
          <a:bodyPr/>
          <a:lstStyle/>
          <a:p>
            <a:endParaRPr lang="es-PE"/>
          </a:p>
        </p:txBody>
      </p:sp>
      <p:pic>
        <p:nvPicPr>
          <p:cNvPr id="18" name="icon" descr="preencoded.png"/>
          <p:cNvPicPr>
            <a:picLocks noChangeAspect="1"/>
          </p:cNvPicPr>
          <p:nvPr/>
        </p:nvPicPr>
        <p:blipFill>
          <a:blip r:embed="rId3"/>
          <a:stretch>
            <a:fillRect/>
          </a:stretch>
        </p:blipFill>
        <p:spPr>
          <a:xfrm>
            <a:off x="4800600" y="2423160"/>
            <a:ext cx="274320" cy="274320"/>
          </a:xfrm>
          <a:prstGeom prst="rect">
            <a:avLst/>
          </a:prstGeom>
        </p:spPr>
      </p:pic>
      <p:sp>
        <p:nvSpPr>
          <p:cNvPr id="19" name="Text 16"/>
          <p:cNvSpPr txBox="1"/>
          <p:nvPr/>
        </p:nvSpPr>
        <p:spPr>
          <a:xfrm>
            <a:off x="4206240" y="2926080"/>
            <a:ext cx="1463040" cy="731520"/>
          </a:xfrm>
          <a:prstGeom prst="rect">
            <a:avLst/>
          </a:prstGeom>
          <a:noFill/>
          <a:ln/>
        </p:spPr>
        <p:txBody>
          <a:bodyPr wrap="square" lIns="0" tIns="0" rIns="0" bIns="0" rtlCol="0" anchor="t"/>
          <a:lstStyle/>
          <a:p>
            <a:pPr marL="0" indent="0" algn="ctr">
              <a:buNone/>
            </a:pPr>
            <a:r>
              <a:rPr lang="en-US" sz="1400" b="1" dirty="0">
                <a:solidFill>
                  <a:schemeClr val="tx1"/>
                </a:solidFill>
              </a:rPr>
              <a:t>Rama</a:t>
            </a:r>
            <a:endParaRPr lang="en-US" sz="1400" dirty="0"/>
          </a:p>
          <a:p>
            <a:pPr marL="0" indent="0" algn="ctr">
              <a:buNone/>
            </a:pPr>
            <a:r>
              <a:rPr lang="en-US" sz="1200" dirty="0">
                <a:solidFill>
                  <a:schemeClr val="accent6"/>
                </a:solidFill>
              </a:rPr>
              <a:t>feature/reporte-pagos</a:t>
            </a:r>
            <a:endParaRPr lang="en-US" sz="1400" dirty="0"/>
          </a:p>
        </p:txBody>
      </p:sp>
      <p:sp>
        <p:nvSpPr>
          <p:cNvPr id="20" name="arrow"/>
          <p:cNvSpPr/>
          <p:nvPr/>
        </p:nvSpPr>
        <p:spPr>
          <a:xfrm>
            <a:off x="5440680" y="2450592"/>
            <a:ext cx="411480" cy="228600"/>
          </a:xfrm>
          <a:prstGeom prst="rightArrow">
            <a:avLst/>
          </a:prstGeom>
          <a:solidFill>
            <a:srgbClr val="E2E8F0"/>
          </a:solidFill>
          <a:ln w="12700">
            <a:solidFill>
              <a:srgbClr val="E2E8F0"/>
            </a:solidFill>
            <a:prstDash val="solid"/>
          </a:ln>
        </p:spPr>
        <p:txBody>
          <a:bodyPr/>
          <a:lstStyle/>
          <a:p>
            <a:endParaRPr lang="es-PE"/>
          </a:p>
        </p:txBody>
      </p:sp>
      <p:sp>
        <p:nvSpPr>
          <p:cNvPr id="21" name="icon-bg"/>
          <p:cNvSpPr/>
          <p:nvPr/>
        </p:nvSpPr>
        <p:spPr>
          <a:xfrm>
            <a:off x="6537960" y="2286000"/>
            <a:ext cx="548640" cy="548640"/>
          </a:xfrm>
          <a:prstGeom prst="ellipse">
            <a:avLst/>
          </a:prstGeom>
          <a:solidFill>
            <a:srgbClr val="D1FAE5"/>
          </a:solidFill>
          <a:ln w="12700">
            <a:solidFill>
              <a:srgbClr val="D1FAE5"/>
            </a:solidFill>
            <a:prstDash val="solid"/>
          </a:ln>
        </p:spPr>
        <p:txBody>
          <a:bodyPr/>
          <a:lstStyle/>
          <a:p>
            <a:endParaRPr lang="es-PE"/>
          </a:p>
        </p:txBody>
      </p:sp>
      <p:pic>
        <p:nvPicPr>
          <p:cNvPr id="22" name="icon" descr="preencoded.png"/>
          <p:cNvPicPr>
            <a:picLocks noChangeAspect="1"/>
          </p:cNvPicPr>
          <p:nvPr/>
        </p:nvPicPr>
        <p:blipFill>
          <a:blip r:embed="rId4"/>
          <a:stretch>
            <a:fillRect/>
          </a:stretch>
        </p:blipFill>
        <p:spPr>
          <a:xfrm>
            <a:off x="6675120" y="2423160"/>
            <a:ext cx="274320" cy="274320"/>
          </a:xfrm>
          <a:prstGeom prst="rect">
            <a:avLst/>
          </a:prstGeom>
        </p:spPr>
      </p:pic>
      <p:sp>
        <p:nvSpPr>
          <p:cNvPr id="23" name="Text 19"/>
          <p:cNvSpPr txBox="1"/>
          <p:nvPr/>
        </p:nvSpPr>
        <p:spPr>
          <a:xfrm>
            <a:off x="6080760" y="2926080"/>
            <a:ext cx="1463040" cy="731520"/>
          </a:xfrm>
          <a:prstGeom prst="rect">
            <a:avLst/>
          </a:prstGeom>
          <a:noFill/>
          <a:ln/>
        </p:spPr>
        <p:txBody>
          <a:bodyPr wrap="square" lIns="0" tIns="0" rIns="0" bIns="0" rtlCol="0" anchor="t"/>
          <a:lstStyle/>
          <a:p>
            <a:pPr marL="0" indent="0" algn="ctr">
              <a:buNone/>
            </a:pPr>
            <a:r>
              <a:rPr lang="en-US" sz="1400" b="1" dirty="0">
                <a:solidFill>
                  <a:schemeClr val="tx1"/>
                </a:solidFill>
              </a:rPr>
              <a:t>Commits</a:t>
            </a:r>
            <a:endParaRPr lang="en-US" sz="1400" dirty="0"/>
          </a:p>
          <a:p>
            <a:pPr marL="0" indent="0" algn="ctr">
              <a:buNone/>
            </a:pPr>
            <a:r>
              <a:rPr lang="en-US" sz="1200" dirty="0">
                <a:solidFill>
                  <a:schemeClr val="accent6"/>
                </a:solidFill>
              </a:rPr>
              <a:t>cambios pequeños</a:t>
            </a:r>
            <a:endParaRPr lang="en-US" sz="1400" dirty="0"/>
          </a:p>
        </p:txBody>
      </p:sp>
      <p:sp>
        <p:nvSpPr>
          <p:cNvPr id="24" name="arrow"/>
          <p:cNvSpPr/>
          <p:nvPr/>
        </p:nvSpPr>
        <p:spPr>
          <a:xfrm>
            <a:off x="7315200" y="2450592"/>
            <a:ext cx="411480" cy="228600"/>
          </a:xfrm>
          <a:prstGeom prst="rightArrow">
            <a:avLst/>
          </a:prstGeom>
          <a:solidFill>
            <a:srgbClr val="E2E8F0"/>
          </a:solidFill>
          <a:ln w="12700">
            <a:solidFill>
              <a:srgbClr val="E2E8F0"/>
            </a:solidFill>
            <a:prstDash val="solid"/>
          </a:ln>
        </p:spPr>
        <p:txBody>
          <a:bodyPr/>
          <a:lstStyle/>
          <a:p>
            <a:endParaRPr lang="es-PE"/>
          </a:p>
        </p:txBody>
      </p:sp>
      <p:sp>
        <p:nvSpPr>
          <p:cNvPr id="25" name="icon-bg"/>
          <p:cNvSpPr/>
          <p:nvPr/>
        </p:nvSpPr>
        <p:spPr>
          <a:xfrm>
            <a:off x="8412480" y="2286000"/>
            <a:ext cx="548640" cy="548640"/>
          </a:xfrm>
          <a:prstGeom prst="ellipse">
            <a:avLst/>
          </a:prstGeom>
          <a:solidFill>
            <a:srgbClr val="D1FAE5"/>
          </a:solidFill>
          <a:ln w="12700">
            <a:solidFill>
              <a:srgbClr val="D1FAE5"/>
            </a:solidFill>
            <a:prstDash val="solid"/>
          </a:ln>
        </p:spPr>
        <p:txBody>
          <a:bodyPr/>
          <a:lstStyle/>
          <a:p>
            <a:endParaRPr lang="es-PE"/>
          </a:p>
        </p:txBody>
      </p:sp>
      <p:pic>
        <p:nvPicPr>
          <p:cNvPr id="26" name="icon" descr="preencoded.png"/>
          <p:cNvPicPr>
            <a:picLocks noChangeAspect="1"/>
          </p:cNvPicPr>
          <p:nvPr/>
        </p:nvPicPr>
        <p:blipFill>
          <a:blip r:embed="rId5"/>
          <a:stretch>
            <a:fillRect/>
          </a:stretch>
        </p:blipFill>
        <p:spPr>
          <a:xfrm>
            <a:off x="8549640" y="2423160"/>
            <a:ext cx="274320" cy="274320"/>
          </a:xfrm>
          <a:prstGeom prst="rect">
            <a:avLst/>
          </a:prstGeom>
        </p:spPr>
      </p:pic>
      <p:sp>
        <p:nvSpPr>
          <p:cNvPr id="27" name="Text 22"/>
          <p:cNvSpPr txBox="1"/>
          <p:nvPr/>
        </p:nvSpPr>
        <p:spPr>
          <a:xfrm>
            <a:off x="7955280" y="2926080"/>
            <a:ext cx="1463040" cy="731520"/>
          </a:xfrm>
          <a:prstGeom prst="rect">
            <a:avLst/>
          </a:prstGeom>
          <a:noFill/>
          <a:ln/>
        </p:spPr>
        <p:txBody>
          <a:bodyPr wrap="square" lIns="0" tIns="0" rIns="0" bIns="0" rtlCol="0" anchor="t"/>
          <a:lstStyle/>
          <a:p>
            <a:pPr marL="0" indent="0" algn="ctr">
              <a:buNone/>
            </a:pPr>
            <a:r>
              <a:rPr lang="en-US" sz="1400" b="1" dirty="0">
                <a:solidFill>
                  <a:schemeClr val="tx1"/>
                </a:solidFill>
              </a:rPr>
              <a:t>Pull request</a:t>
            </a:r>
            <a:endParaRPr lang="en-US" sz="1400" dirty="0"/>
          </a:p>
          <a:p>
            <a:pPr marL="0" indent="0" algn="ctr">
              <a:buNone/>
            </a:pPr>
            <a:r>
              <a:rPr lang="en-US" sz="1200" dirty="0">
                <a:solidFill>
                  <a:schemeClr val="accent6"/>
                </a:solidFill>
              </a:rPr>
              <a:t>revisión del equipo</a:t>
            </a:r>
            <a:endParaRPr lang="en-US" sz="1400" dirty="0"/>
          </a:p>
        </p:txBody>
      </p:sp>
      <p:sp>
        <p:nvSpPr>
          <p:cNvPr id="28" name="arrow"/>
          <p:cNvSpPr/>
          <p:nvPr/>
        </p:nvSpPr>
        <p:spPr>
          <a:xfrm>
            <a:off x="9189720" y="2450592"/>
            <a:ext cx="411480" cy="228600"/>
          </a:xfrm>
          <a:prstGeom prst="rightArrow">
            <a:avLst/>
          </a:prstGeom>
          <a:solidFill>
            <a:srgbClr val="E2E8F0"/>
          </a:solidFill>
          <a:ln w="12700">
            <a:solidFill>
              <a:srgbClr val="E2E8F0"/>
            </a:solidFill>
            <a:prstDash val="solid"/>
          </a:ln>
        </p:spPr>
        <p:txBody>
          <a:bodyPr/>
          <a:lstStyle/>
          <a:p>
            <a:endParaRPr lang="es-PE"/>
          </a:p>
        </p:txBody>
      </p:sp>
      <p:sp>
        <p:nvSpPr>
          <p:cNvPr id="29" name="icon-bg"/>
          <p:cNvSpPr/>
          <p:nvPr/>
        </p:nvSpPr>
        <p:spPr>
          <a:xfrm>
            <a:off x="10287000" y="2286000"/>
            <a:ext cx="548640" cy="548640"/>
          </a:xfrm>
          <a:prstGeom prst="ellipse">
            <a:avLst/>
          </a:prstGeom>
          <a:solidFill>
            <a:srgbClr val="D1FAE5"/>
          </a:solidFill>
          <a:ln w="12700">
            <a:solidFill>
              <a:srgbClr val="D1FAE5"/>
            </a:solidFill>
            <a:prstDash val="solid"/>
          </a:ln>
        </p:spPr>
        <p:txBody>
          <a:bodyPr/>
          <a:lstStyle/>
          <a:p>
            <a:endParaRPr lang="es-PE"/>
          </a:p>
        </p:txBody>
      </p:sp>
      <p:pic>
        <p:nvPicPr>
          <p:cNvPr id="30" name="icon" descr="preencoded.png"/>
          <p:cNvPicPr>
            <a:picLocks noChangeAspect="1"/>
          </p:cNvPicPr>
          <p:nvPr/>
        </p:nvPicPr>
        <p:blipFill>
          <a:blip r:embed="rId6"/>
          <a:stretch>
            <a:fillRect/>
          </a:stretch>
        </p:blipFill>
        <p:spPr>
          <a:xfrm>
            <a:off x="10424160" y="2423160"/>
            <a:ext cx="274320" cy="274320"/>
          </a:xfrm>
          <a:prstGeom prst="rect">
            <a:avLst/>
          </a:prstGeom>
        </p:spPr>
      </p:pic>
      <p:sp>
        <p:nvSpPr>
          <p:cNvPr id="31" name="Text 25"/>
          <p:cNvSpPr txBox="1"/>
          <p:nvPr/>
        </p:nvSpPr>
        <p:spPr>
          <a:xfrm>
            <a:off x="9829800" y="2926080"/>
            <a:ext cx="1463040" cy="731520"/>
          </a:xfrm>
          <a:prstGeom prst="rect">
            <a:avLst/>
          </a:prstGeom>
          <a:noFill/>
          <a:ln/>
        </p:spPr>
        <p:txBody>
          <a:bodyPr wrap="square" lIns="0" tIns="0" rIns="0" bIns="0" rtlCol="0" anchor="t"/>
          <a:lstStyle/>
          <a:p>
            <a:pPr marL="0" indent="0" algn="ctr">
              <a:buNone/>
            </a:pPr>
            <a:r>
              <a:rPr lang="en-US" sz="1400" b="1" dirty="0">
                <a:solidFill>
                  <a:schemeClr val="tx1"/>
                </a:solidFill>
              </a:rPr>
              <a:t>main</a:t>
            </a:r>
            <a:endParaRPr lang="en-US" sz="1400" dirty="0"/>
          </a:p>
          <a:p>
            <a:pPr marL="0" indent="0" algn="ctr">
              <a:buNone/>
            </a:pPr>
            <a:r>
              <a:rPr lang="en-US" sz="1200" dirty="0">
                <a:solidFill>
                  <a:schemeClr val="accent6"/>
                </a:solidFill>
              </a:rPr>
              <a:t>versión integrada</a:t>
            </a:r>
            <a:endParaRPr lang="en-US" sz="1400" dirty="0"/>
          </a:p>
        </p:txBody>
      </p:sp>
      <p:sp>
        <p:nvSpPr>
          <p:cNvPr id="32" name="versionado"/>
          <p:cNvSpPr/>
          <p:nvPr/>
        </p:nvSpPr>
        <p:spPr>
          <a:xfrm>
            <a:off x="3931920" y="4023360"/>
            <a:ext cx="7708392" cy="2103120"/>
          </a:xfrm>
          <a:prstGeom prst="roundRect">
            <a:avLst>
              <a:gd name="adj" fmla="val 5217"/>
            </a:avLst>
          </a:prstGeom>
          <a:solidFill>
            <a:schemeClr val="bg2"/>
          </a:solidFill>
          <a:ln w="12700">
            <a:solidFill>
              <a:schemeClr val="bg2"/>
            </a:solidFill>
            <a:prstDash val="solid"/>
          </a:ln>
        </p:spPr>
        <p:txBody>
          <a:bodyPr/>
          <a:lstStyle/>
          <a:p>
            <a:endParaRPr lang="es-PE"/>
          </a:p>
        </p:txBody>
      </p:sp>
      <p:sp>
        <p:nvSpPr>
          <p:cNvPr id="33" name="Text 27"/>
          <p:cNvSpPr txBox="1"/>
          <p:nvPr/>
        </p:nvSpPr>
        <p:spPr>
          <a:xfrm>
            <a:off x="4206240" y="4160520"/>
            <a:ext cx="5486400" cy="411480"/>
          </a:xfrm>
          <a:prstGeom prst="rect">
            <a:avLst/>
          </a:prstGeom>
          <a:noFill/>
          <a:ln/>
        </p:spPr>
        <p:txBody>
          <a:bodyPr wrap="square" lIns="0" tIns="0" rIns="0" bIns="0" rtlCol="0" anchor="ctr"/>
          <a:lstStyle/>
          <a:p>
            <a:pPr marL="0" indent="0">
              <a:buNone/>
            </a:pPr>
            <a:r>
              <a:rPr lang="en-US" sz="1800" b="1" dirty="0">
                <a:solidFill>
                  <a:schemeClr val="tx1"/>
                </a:solidFill>
              </a:rPr>
              <a:t>Qué versionamos</a:t>
            </a:r>
            <a:endParaRPr lang="en-US" sz="1800" dirty="0"/>
          </a:p>
        </p:txBody>
      </p:sp>
      <p:sp>
        <p:nvSpPr>
          <p:cNvPr id="34" name="Text 28"/>
          <p:cNvSpPr txBox="1"/>
          <p:nvPr/>
        </p:nvSpPr>
        <p:spPr>
          <a:xfrm>
            <a:off x="4206240" y="4617720"/>
            <a:ext cx="3611880"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Código Spring Boot y pruebas</a:t>
            </a:r>
            <a:endParaRPr lang="en-US" sz="1400" dirty="0"/>
          </a:p>
          <a:p>
            <a:pPr marL="342900" indent="-342900">
              <a:spcAft>
                <a:spcPts val="400"/>
              </a:spcAft>
              <a:buSzPct val="100000"/>
              <a:buChar char="•"/>
            </a:pPr>
            <a:r>
              <a:rPr lang="en-US" sz="1400" dirty="0">
                <a:solidFill>
                  <a:schemeClr val="tx1"/>
                </a:solidFill>
              </a:rPr>
              <a:t>Scripts SQL: esquema, datos y consultas</a:t>
            </a:r>
            <a:endParaRPr lang="en-US" sz="1400" dirty="0"/>
          </a:p>
          <a:p>
            <a:pPr marL="342900" indent="-342900">
              <a:spcAft>
                <a:spcPts val="400"/>
              </a:spcAft>
              <a:buSzPct val="100000"/>
              <a:buChar char="•"/>
            </a:pPr>
            <a:r>
              <a:rPr lang="en-US" sz="1400" dirty="0">
                <a:solidFill>
                  <a:schemeClr val="tx1"/>
                </a:solidFill>
              </a:rPr>
              <a:t>Diagramas funcionales y técnicos (Mermaid)</a:t>
            </a:r>
            <a:endParaRPr lang="en-US" sz="1400" dirty="0"/>
          </a:p>
        </p:txBody>
      </p:sp>
      <p:sp>
        <p:nvSpPr>
          <p:cNvPr id="35" name="Text 29"/>
          <p:cNvSpPr txBox="1"/>
          <p:nvPr/>
        </p:nvSpPr>
        <p:spPr>
          <a:xfrm>
            <a:off x="7955280" y="4617720"/>
            <a:ext cx="3611880"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Bitácora de diseño: prompts y capturas</a:t>
            </a:r>
            <a:endParaRPr lang="en-US" sz="1400" dirty="0"/>
          </a:p>
          <a:p>
            <a:pPr marL="342900" indent="-342900">
              <a:spcAft>
                <a:spcPts val="400"/>
              </a:spcAft>
              <a:buSzPct val="100000"/>
              <a:buChar char="•"/>
            </a:pPr>
            <a:r>
              <a:rPr lang="en-US" sz="1400" dirty="0">
                <a:solidFill>
                  <a:schemeClr val="tx1"/>
                </a:solidFill>
              </a:rPr>
              <a:t>README como fuente única de verdad</a:t>
            </a:r>
            <a:endParaRPr lang="en-US" sz="1400" dirty="0"/>
          </a:p>
        </p:txBody>
      </p:sp>
      <p:sp>
        <p:nvSpPr>
          <p:cNvPr id="36"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SEGURIDAD</a:t>
            </a:r>
            <a:endParaRPr lang="en-US" sz="1200" dirty="0"/>
          </a:p>
        </p:txBody>
      </p:sp>
      <p:sp>
        <p:nvSpPr>
          <p:cNvPr id="3" name="Text 0"/>
          <p:cNvSpPr>
            <a:spLocks noGrp="1"/>
          </p:cNvSpPr>
          <p:nvPr>
            <p:ph type="title" idx="101" hasCustomPrompt="1"/>
          </p:nvPr>
        </p:nvSpPr>
        <p:spPr>
          <a:xfrm>
            <a:off x="548640" y="640080"/>
            <a:ext cx="9144000" cy="731520"/>
          </a:xfrm>
          <a:prstGeom prst="rect">
            <a:avLst/>
          </a:prstGeom>
          <a:noFill/>
          <a:ln/>
        </p:spPr>
        <p:txBody>
          <a:bodyPr wrap="square" lIns="0" tIns="0" rIns="0" bIns="0" rtlCol="0" anchor="t"/>
          <a:lstStyle/>
          <a:p>
            <a:pPr marL="0" indent="0" algn="l">
              <a:buNone/>
            </a:pPr>
            <a:r>
              <a:rPr lang="en-US" sz="3600" b="1" dirty="0">
                <a:solidFill>
                  <a:schemeClr val="tx1"/>
                </a:solidFill>
              </a:rPr>
              <a:t>Datos del paciente protegidos en cada capa</a:t>
            </a:r>
            <a:endParaRPr lang="en-US" sz="3600" dirty="0"/>
          </a:p>
        </p:txBody>
      </p:sp>
      <p:sp>
        <p:nvSpPr>
          <p:cNvPr id="6" name="seg-0"/>
          <p:cNvSpPr/>
          <p:nvPr/>
        </p:nvSpPr>
        <p:spPr>
          <a:xfrm>
            <a:off x="548640" y="1645920"/>
            <a:ext cx="5440680" cy="1325880"/>
          </a:xfrm>
          <a:prstGeom prst="roundRect">
            <a:avLst>
              <a:gd name="adj" fmla="val 8276"/>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7" name="icon-bg"/>
          <p:cNvSpPr/>
          <p:nvPr/>
        </p:nvSpPr>
        <p:spPr>
          <a:xfrm>
            <a:off x="822960" y="1993392"/>
            <a:ext cx="640080" cy="640080"/>
          </a:xfrm>
          <a:prstGeom prst="ellipse">
            <a:avLst/>
          </a:prstGeom>
          <a:solidFill>
            <a:srgbClr val="D1FAE5"/>
          </a:solidFill>
          <a:ln w="12700">
            <a:solidFill>
              <a:srgbClr val="D1FAE5"/>
            </a:solidFill>
            <a:prstDash val="solid"/>
          </a:ln>
        </p:spPr>
        <p:txBody>
          <a:bodyPr/>
          <a:lstStyle/>
          <a:p>
            <a:endParaRPr lang="es-PE"/>
          </a:p>
        </p:txBody>
      </p:sp>
      <p:pic>
        <p:nvPicPr>
          <p:cNvPr id="8" name="icon" descr="preencoded.png"/>
          <p:cNvPicPr>
            <a:picLocks noChangeAspect="1"/>
          </p:cNvPicPr>
          <p:nvPr/>
        </p:nvPicPr>
        <p:blipFill>
          <a:blip r:embed="rId3"/>
          <a:stretch>
            <a:fillRect/>
          </a:stretch>
        </p:blipFill>
        <p:spPr>
          <a:xfrm>
            <a:off x="982980" y="2153412"/>
            <a:ext cx="320040" cy="320040"/>
          </a:xfrm>
          <a:prstGeom prst="rect">
            <a:avLst/>
          </a:prstGeom>
        </p:spPr>
      </p:pic>
      <p:sp>
        <p:nvSpPr>
          <p:cNvPr id="9" name="Text 6"/>
          <p:cNvSpPr txBox="1"/>
          <p:nvPr/>
        </p:nvSpPr>
        <p:spPr>
          <a:xfrm>
            <a:off x="1645920" y="1783080"/>
            <a:ext cx="4160520" cy="1051560"/>
          </a:xfrm>
          <a:prstGeom prst="rect">
            <a:avLst/>
          </a:prstGeom>
          <a:noFill/>
          <a:ln/>
        </p:spPr>
        <p:txBody>
          <a:bodyPr wrap="square" lIns="0" tIns="0" rIns="0" bIns="0" rtlCol="0" anchor="ctr"/>
          <a:lstStyle/>
          <a:p>
            <a:pPr marL="0" indent="0">
              <a:buNone/>
            </a:pPr>
            <a:r>
              <a:rPr lang="en-US" sz="1700" b="1" dirty="0">
                <a:solidFill>
                  <a:schemeClr val="tx1"/>
                </a:solidFill>
              </a:rPr>
              <a:t>Contraseñas con bcrypt</a:t>
            </a:r>
            <a:endParaRPr lang="en-US" sz="1700" dirty="0"/>
          </a:p>
          <a:p>
            <a:pPr marL="0" indent="0">
              <a:buNone/>
            </a:pPr>
            <a:r>
              <a:rPr lang="en-US" sz="1300" dirty="0">
                <a:solidFill>
                  <a:schemeClr val="accent6"/>
                </a:solidFill>
              </a:rPr>
              <a:t>BCryptPasswordEncoder con factor 10; nunca se guardan en texto plano</a:t>
            </a:r>
            <a:endParaRPr lang="en-US" sz="1700" dirty="0"/>
          </a:p>
        </p:txBody>
      </p:sp>
      <p:sp>
        <p:nvSpPr>
          <p:cNvPr id="10" name="seg-1"/>
          <p:cNvSpPr/>
          <p:nvPr/>
        </p:nvSpPr>
        <p:spPr>
          <a:xfrm>
            <a:off x="6172200" y="1645920"/>
            <a:ext cx="5440680" cy="1325880"/>
          </a:xfrm>
          <a:prstGeom prst="roundRect">
            <a:avLst>
              <a:gd name="adj" fmla="val 8276"/>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11" name="icon-bg"/>
          <p:cNvSpPr/>
          <p:nvPr/>
        </p:nvSpPr>
        <p:spPr>
          <a:xfrm>
            <a:off x="6446520" y="1993392"/>
            <a:ext cx="640080" cy="640080"/>
          </a:xfrm>
          <a:prstGeom prst="ellipse">
            <a:avLst/>
          </a:prstGeom>
          <a:solidFill>
            <a:srgbClr val="D1FAE5"/>
          </a:solidFill>
          <a:ln w="12700">
            <a:solidFill>
              <a:srgbClr val="D1FAE5"/>
            </a:solidFill>
            <a:prstDash val="solid"/>
          </a:ln>
        </p:spPr>
        <p:txBody>
          <a:bodyPr/>
          <a:lstStyle/>
          <a:p>
            <a:endParaRPr lang="es-PE"/>
          </a:p>
        </p:txBody>
      </p:sp>
      <p:pic>
        <p:nvPicPr>
          <p:cNvPr id="12" name="icon" descr="preencoded.png"/>
          <p:cNvPicPr>
            <a:picLocks noChangeAspect="1"/>
          </p:cNvPicPr>
          <p:nvPr/>
        </p:nvPicPr>
        <p:blipFill>
          <a:blip r:embed="rId4"/>
          <a:stretch>
            <a:fillRect/>
          </a:stretch>
        </p:blipFill>
        <p:spPr>
          <a:xfrm>
            <a:off x="6606540" y="2153412"/>
            <a:ext cx="320040" cy="320040"/>
          </a:xfrm>
          <a:prstGeom prst="rect">
            <a:avLst/>
          </a:prstGeom>
        </p:spPr>
      </p:pic>
      <p:sp>
        <p:nvSpPr>
          <p:cNvPr id="13" name="Text 9"/>
          <p:cNvSpPr txBox="1"/>
          <p:nvPr/>
        </p:nvSpPr>
        <p:spPr>
          <a:xfrm>
            <a:off x="7269480" y="1783080"/>
            <a:ext cx="4160520" cy="1051560"/>
          </a:xfrm>
          <a:prstGeom prst="rect">
            <a:avLst/>
          </a:prstGeom>
          <a:noFill/>
          <a:ln/>
        </p:spPr>
        <p:txBody>
          <a:bodyPr wrap="square" lIns="0" tIns="0" rIns="0" bIns="0" rtlCol="0" anchor="ctr"/>
          <a:lstStyle/>
          <a:p>
            <a:pPr marL="0" indent="0">
              <a:buNone/>
            </a:pPr>
            <a:r>
              <a:rPr lang="en-US" sz="1700" b="1" dirty="0">
                <a:solidFill>
                  <a:schemeClr val="tx1"/>
                </a:solidFill>
              </a:rPr>
              <a:t>Acceso por rol</a:t>
            </a:r>
            <a:endParaRPr lang="en-US" sz="1700" dirty="0"/>
          </a:p>
          <a:p>
            <a:pPr marL="0" indent="0">
              <a:buNone/>
            </a:pPr>
            <a:r>
              <a:rPr lang="en-US" sz="1300" dirty="0">
                <a:solidFill>
                  <a:schemeClr val="accent6"/>
                </a:solidFill>
              </a:rPr>
              <a:t>/paciente/** exige PACIENTE y /medico/** exige MEDICO; cada rol llega a su pantalla</a:t>
            </a:r>
            <a:endParaRPr lang="en-US" sz="1700" dirty="0"/>
          </a:p>
        </p:txBody>
      </p:sp>
      <p:sp>
        <p:nvSpPr>
          <p:cNvPr id="14" name="seg-2"/>
          <p:cNvSpPr/>
          <p:nvPr/>
        </p:nvSpPr>
        <p:spPr>
          <a:xfrm>
            <a:off x="548640" y="3154680"/>
            <a:ext cx="5440680" cy="1325880"/>
          </a:xfrm>
          <a:prstGeom prst="roundRect">
            <a:avLst>
              <a:gd name="adj" fmla="val 8276"/>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15" name="icon-bg"/>
          <p:cNvSpPr/>
          <p:nvPr/>
        </p:nvSpPr>
        <p:spPr>
          <a:xfrm>
            <a:off x="822960" y="3502152"/>
            <a:ext cx="640080" cy="640080"/>
          </a:xfrm>
          <a:prstGeom prst="ellipse">
            <a:avLst/>
          </a:prstGeom>
          <a:solidFill>
            <a:srgbClr val="D1FAE5"/>
          </a:solidFill>
          <a:ln w="12700">
            <a:solidFill>
              <a:srgbClr val="D1FAE5"/>
            </a:solidFill>
            <a:prstDash val="solid"/>
          </a:ln>
        </p:spPr>
        <p:txBody>
          <a:bodyPr/>
          <a:lstStyle/>
          <a:p>
            <a:endParaRPr lang="es-PE"/>
          </a:p>
        </p:txBody>
      </p:sp>
      <p:pic>
        <p:nvPicPr>
          <p:cNvPr id="16" name="icon" descr="preencoded.png"/>
          <p:cNvPicPr>
            <a:picLocks noChangeAspect="1"/>
          </p:cNvPicPr>
          <p:nvPr/>
        </p:nvPicPr>
        <p:blipFill>
          <a:blip r:embed="rId5"/>
          <a:stretch>
            <a:fillRect/>
          </a:stretch>
        </p:blipFill>
        <p:spPr>
          <a:xfrm>
            <a:off x="982980" y="3662172"/>
            <a:ext cx="320040" cy="320040"/>
          </a:xfrm>
          <a:prstGeom prst="rect">
            <a:avLst/>
          </a:prstGeom>
        </p:spPr>
      </p:pic>
      <p:sp>
        <p:nvSpPr>
          <p:cNvPr id="17" name="Text 12"/>
          <p:cNvSpPr txBox="1"/>
          <p:nvPr/>
        </p:nvSpPr>
        <p:spPr>
          <a:xfrm>
            <a:off x="1645920" y="3291840"/>
            <a:ext cx="4160520" cy="1051560"/>
          </a:xfrm>
          <a:prstGeom prst="rect">
            <a:avLst/>
          </a:prstGeom>
          <a:noFill/>
          <a:ln/>
        </p:spPr>
        <p:txBody>
          <a:bodyPr wrap="square" lIns="0" tIns="0" rIns="0" bIns="0" rtlCol="0" anchor="ctr"/>
          <a:lstStyle/>
          <a:p>
            <a:pPr marL="0" indent="0">
              <a:buNone/>
            </a:pPr>
            <a:r>
              <a:rPr lang="en-US" sz="1700" b="1" dirty="0">
                <a:solidFill>
                  <a:schemeClr val="tx1"/>
                </a:solidFill>
              </a:rPr>
              <a:t>Bloqueo por intentos</a:t>
            </a:r>
            <a:endParaRPr lang="en-US" sz="1700" dirty="0"/>
          </a:p>
          <a:p>
            <a:pPr marL="0" indent="0">
              <a:buNone/>
            </a:pPr>
            <a:r>
              <a:rPr lang="en-US" sz="1300" dirty="0">
                <a:solidFill>
                  <a:schemeClr val="accent6"/>
                </a:solidFill>
              </a:rPr>
              <a:t>5 intentos fallidos bloquean la cuenta 15 min (caché de Guava)</a:t>
            </a:r>
            <a:endParaRPr lang="en-US" sz="1700" dirty="0"/>
          </a:p>
        </p:txBody>
      </p:sp>
      <p:sp>
        <p:nvSpPr>
          <p:cNvPr id="18" name="seg-3"/>
          <p:cNvSpPr/>
          <p:nvPr/>
        </p:nvSpPr>
        <p:spPr>
          <a:xfrm>
            <a:off x="6172200" y="3154680"/>
            <a:ext cx="5440680" cy="1325880"/>
          </a:xfrm>
          <a:prstGeom prst="roundRect">
            <a:avLst>
              <a:gd name="adj" fmla="val 8276"/>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19" name="icon-bg"/>
          <p:cNvSpPr/>
          <p:nvPr/>
        </p:nvSpPr>
        <p:spPr>
          <a:xfrm>
            <a:off x="6446520" y="3502152"/>
            <a:ext cx="640080" cy="640080"/>
          </a:xfrm>
          <a:prstGeom prst="ellipse">
            <a:avLst/>
          </a:prstGeom>
          <a:solidFill>
            <a:srgbClr val="D1FAE5"/>
          </a:solidFill>
          <a:ln w="12700">
            <a:solidFill>
              <a:srgbClr val="D1FAE5"/>
            </a:solidFill>
            <a:prstDash val="solid"/>
          </a:ln>
        </p:spPr>
        <p:txBody>
          <a:bodyPr/>
          <a:lstStyle/>
          <a:p>
            <a:endParaRPr lang="es-PE"/>
          </a:p>
        </p:txBody>
      </p:sp>
      <p:pic>
        <p:nvPicPr>
          <p:cNvPr id="20" name="icon" descr="preencoded.png"/>
          <p:cNvPicPr>
            <a:picLocks noChangeAspect="1"/>
          </p:cNvPicPr>
          <p:nvPr/>
        </p:nvPicPr>
        <p:blipFill>
          <a:blip r:embed="rId6"/>
          <a:stretch>
            <a:fillRect/>
          </a:stretch>
        </p:blipFill>
        <p:spPr>
          <a:xfrm>
            <a:off x="6606540" y="3662172"/>
            <a:ext cx="320040" cy="320040"/>
          </a:xfrm>
          <a:prstGeom prst="rect">
            <a:avLst/>
          </a:prstGeom>
        </p:spPr>
      </p:pic>
      <p:sp>
        <p:nvSpPr>
          <p:cNvPr id="21" name="Text 15"/>
          <p:cNvSpPr txBox="1"/>
          <p:nvPr/>
        </p:nvSpPr>
        <p:spPr>
          <a:xfrm>
            <a:off x="7269480" y="3291840"/>
            <a:ext cx="4160520" cy="1051560"/>
          </a:xfrm>
          <a:prstGeom prst="rect">
            <a:avLst/>
          </a:prstGeom>
          <a:noFill/>
          <a:ln/>
        </p:spPr>
        <p:txBody>
          <a:bodyPr wrap="square" lIns="0" tIns="0" rIns="0" bIns="0" rtlCol="0" anchor="ctr"/>
          <a:lstStyle/>
          <a:p>
            <a:pPr marL="0" indent="0">
              <a:buNone/>
            </a:pPr>
            <a:r>
              <a:rPr lang="en-US" sz="1700" b="1" dirty="0">
                <a:solidFill>
                  <a:schemeClr val="tx1"/>
                </a:solidFill>
              </a:rPr>
              <a:t>CSRF y validación en servidor</a:t>
            </a:r>
            <a:endParaRPr lang="en-US" sz="1700" dirty="0"/>
          </a:p>
          <a:p>
            <a:pPr marL="0" indent="0">
              <a:buNone/>
            </a:pPr>
            <a:r>
              <a:rPr lang="en-US" sz="1300" dirty="0">
                <a:solidFill>
                  <a:schemeClr val="accent6"/>
                </a:solidFill>
              </a:rPr>
              <a:t>Token CSRF en formularios y Bean Validation con validadores propios (DNI/CE)</a:t>
            </a:r>
            <a:endParaRPr lang="en-US" sz="1700" dirty="0"/>
          </a:p>
        </p:txBody>
      </p:sp>
      <p:sp>
        <p:nvSpPr>
          <p:cNvPr id="22" name="seg-4"/>
          <p:cNvSpPr/>
          <p:nvPr/>
        </p:nvSpPr>
        <p:spPr>
          <a:xfrm>
            <a:off x="548640" y="4663440"/>
            <a:ext cx="5440680" cy="1325880"/>
          </a:xfrm>
          <a:prstGeom prst="roundRect">
            <a:avLst>
              <a:gd name="adj" fmla="val 8276"/>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23" name="icon-bg"/>
          <p:cNvSpPr/>
          <p:nvPr/>
        </p:nvSpPr>
        <p:spPr>
          <a:xfrm>
            <a:off x="822960" y="5010912"/>
            <a:ext cx="640080" cy="640080"/>
          </a:xfrm>
          <a:prstGeom prst="ellipse">
            <a:avLst/>
          </a:prstGeom>
          <a:solidFill>
            <a:srgbClr val="D1FAE5"/>
          </a:solidFill>
          <a:ln w="12700">
            <a:solidFill>
              <a:srgbClr val="D1FAE5"/>
            </a:solidFill>
            <a:prstDash val="solid"/>
          </a:ln>
        </p:spPr>
        <p:txBody>
          <a:bodyPr/>
          <a:lstStyle/>
          <a:p>
            <a:endParaRPr lang="es-PE"/>
          </a:p>
        </p:txBody>
      </p:sp>
      <p:pic>
        <p:nvPicPr>
          <p:cNvPr id="24" name="icon" descr="preencoded.png"/>
          <p:cNvPicPr>
            <a:picLocks noChangeAspect="1"/>
          </p:cNvPicPr>
          <p:nvPr/>
        </p:nvPicPr>
        <p:blipFill>
          <a:blip r:embed="rId7"/>
          <a:stretch>
            <a:fillRect/>
          </a:stretch>
        </p:blipFill>
        <p:spPr>
          <a:xfrm>
            <a:off x="982980" y="5170932"/>
            <a:ext cx="320040" cy="320040"/>
          </a:xfrm>
          <a:prstGeom prst="rect">
            <a:avLst/>
          </a:prstGeom>
        </p:spPr>
      </p:pic>
      <p:sp>
        <p:nvSpPr>
          <p:cNvPr id="25" name="Text 18"/>
          <p:cNvSpPr txBox="1"/>
          <p:nvPr/>
        </p:nvSpPr>
        <p:spPr>
          <a:xfrm>
            <a:off x="1645920" y="4800600"/>
            <a:ext cx="4160520" cy="1051560"/>
          </a:xfrm>
          <a:prstGeom prst="rect">
            <a:avLst/>
          </a:prstGeom>
          <a:noFill/>
          <a:ln/>
        </p:spPr>
        <p:txBody>
          <a:bodyPr wrap="square" lIns="0" tIns="0" rIns="0" bIns="0" rtlCol="0" anchor="ctr"/>
          <a:lstStyle/>
          <a:p>
            <a:pPr marL="0" indent="0">
              <a:buNone/>
            </a:pPr>
            <a:r>
              <a:rPr lang="en-US" sz="1700" b="1" dirty="0">
                <a:solidFill>
                  <a:schemeClr val="tx1"/>
                </a:solidFill>
              </a:rPr>
              <a:t>Logs sin datos sensibles</a:t>
            </a:r>
            <a:endParaRPr lang="en-US" sz="1700" dirty="0"/>
          </a:p>
          <a:p>
            <a:pPr marL="0" indent="0">
              <a:buNone/>
            </a:pPr>
            <a:r>
              <a:rPr lang="en-US" sz="1300" dirty="0">
                <a:solidFill>
                  <a:schemeClr val="accent6"/>
                </a:solidFill>
              </a:rPr>
              <a:t>Logback enmascara documentos, celulares y correos en todos los registros</a:t>
            </a:r>
            <a:endParaRPr lang="en-US" sz="1700" dirty="0"/>
          </a:p>
        </p:txBody>
      </p:sp>
      <p:sp>
        <p:nvSpPr>
          <p:cNvPr id="26" name="seg-5"/>
          <p:cNvSpPr/>
          <p:nvPr/>
        </p:nvSpPr>
        <p:spPr>
          <a:xfrm>
            <a:off x="6172200" y="4663440"/>
            <a:ext cx="5440680" cy="1325880"/>
          </a:xfrm>
          <a:prstGeom prst="roundRect">
            <a:avLst>
              <a:gd name="adj" fmla="val 8276"/>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27" name="icon-bg"/>
          <p:cNvSpPr/>
          <p:nvPr/>
        </p:nvSpPr>
        <p:spPr>
          <a:xfrm>
            <a:off x="6446520" y="5010912"/>
            <a:ext cx="640080" cy="640080"/>
          </a:xfrm>
          <a:prstGeom prst="ellipse">
            <a:avLst/>
          </a:prstGeom>
          <a:solidFill>
            <a:srgbClr val="D1FAE5"/>
          </a:solidFill>
          <a:ln w="12700">
            <a:solidFill>
              <a:srgbClr val="D1FAE5"/>
            </a:solidFill>
            <a:prstDash val="solid"/>
          </a:ln>
        </p:spPr>
        <p:txBody>
          <a:bodyPr/>
          <a:lstStyle/>
          <a:p>
            <a:endParaRPr lang="es-PE"/>
          </a:p>
        </p:txBody>
      </p:sp>
      <p:pic>
        <p:nvPicPr>
          <p:cNvPr id="28" name="icon" descr="preencoded.png"/>
          <p:cNvPicPr>
            <a:picLocks noChangeAspect="1"/>
          </p:cNvPicPr>
          <p:nvPr/>
        </p:nvPicPr>
        <p:blipFill>
          <a:blip r:embed="rId8"/>
          <a:stretch>
            <a:fillRect/>
          </a:stretch>
        </p:blipFill>
        <p:spPr>
          <a:xfrm>
            <a:off x="6606540" y="5170932"/>
            <a:ext cx="320040" cy="320040"/>
          </a:xfrm>
          <a:prstGeom prst="rect">
            <a:avLst/>
          </a:prstGeom>
        </p:spPr>
      </p:pic>
      <p:sp>
        <p:nvSpPr>
          <p:cNvPr id="29" name="Text 21"/>
          <p:cNvSpPr txBox="1"/>
          <p:nvPr/>
        </p:nvSpPr>
        <p:spPr>
          <a:xfrm>
            <a:off x="7269480" y="4800600"/>
            <a:ext cx="4160520" cy="1051560"/>
          </a:xfrm>
          <a:prstGeom prst="rect">
            <a:avLst/>
          </a:prstGeom>
          <a:noFill/>
          <a:ln/>
        </p:spPr>
        <p:txBody>
          <a:bodyPr wrap="square" lIns="0" tIns="0" rIns="0" bIns="0" rtlCol="0" anchor="ctr"/>
          <a:lstStyle/>
          <a:p>
            <a:pPr marL="0" indent="0">
              <a:buNone/>
            </a:pPr>
            <a:r>
              <a:rPr lang="en-US" sz="1700" b="1" dirty="0">
                <a:solidFill>
                  <a:schemeClr val="tx1"/>
                </a:solidFill>
              </a:rPr>
              <a:t>Consultas parametrizadas</a:t>
            </a:r>
            <a:endParaRPr lang="en-US" sz="1700" dirty="0"/>
          </a:p>
          <a:p>
            <a:pPr marL="0" indent="0">
              <a:buNone/>
            </a:pPr>
            <a:r>
              <a:rPr lang="en-US" sz="1300" dirty="0">
                <a:solidFill>
                  <a:schemeClr val="accent6"/>
                </a:solidFill>
              </a:rPr>
              <a:t>Spring Data JPA evita la inyección SQL; reglas críticas como restricciones de la BD</a:t>
            </a:r>
            <a:endParaRPr lang="en-US" sz="1700" dirty="0"/>
          </a:p>
        </p:txBody>
      </p:sp>
      <p:sp>
        <p:nvSpPr>
          <p:cNvPr id="30"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LIBRERÍAS DE APOYO</a:t>
            </a:r>
            <a:endParaRPr lang="en-US" sz="1200" dirty="0"/>
          </a:p>
        </p:txBody>
      </p:sp>
      <p:sp>
        <p:nvSpPr>
          <p:cNvPr id="3" name="Text 0"/>
          <p:cNvSpPr>
            <a:spLocks noGrp="1"/>
          </p:cNvSpPr>
          <p:nvPr>
            <p:ph type="title" idx="101" hasCustomPrompt="1"/>
          </p:nvPr>
        </p:nvSpPr>
        <p:spPr>
          <a:xfrm>
            <a:off x="548640" y="640080"/>
            <a:ext cx="9144000" cy="731520"/>
          </a:xfrm>
          <a:prstGeom prst="rect">
            <a:avLst/>
          </a:prstGeom>
          <a:noFill/>
          <a:ln/>
        </p:spPr>
        <p:txBody>
          <a:bodyPr wrap="square" lIns="0" tIns="0" rIns="0" bIns="0" rtlCol="0" anchor="t"/>
          <a:lstStyle/>
          <a:p>
            <a:pPr marL="0" indent="0" algn="l">
              <a:buNone/>
            </a:pPr>
            <a:r>
              <a:rPr lang="en-US" sz="3600" b="1" dirty="0">
                <a:solidFill>
                  <a:schemeClr val="tx1"/>
                </a:solidFill>
              </a:rPr>
              <a:t>Cada librería tiene un uso concreto en el código</a:t>
            </a:r>
            <a:endParaRPr lang="en-US" sz="3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3968496"/>
        </p:xfrm>
        <a:graphic>
          <a:graphicData uri="http://schemas.openxmlformats.org/drawingml/2006/table">
            <a:tbl>
              <a:tblPr/>
              <a:tblGrid>
                <a:gridCol w="23774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566928">
                <a:tc>
                  <a:txBody>
                    <a:bodyPr/>
                    <a:lstStyle/>
                    <a:p>
                      <a:pPr marL="0" indent="0">
                        <a:buNone/>
                      </a:pPr>
                      <a:r>
                        <a:rPr lang="en-US" sz="1400" b="1" dirty="0">
                          <a:solidFill>
                            <a:schemeClr val="bg1"/>
                          </a:solidFill>
                        </a:rPr>
                        <a:t>Librería</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Dónde</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Para qué</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Estado</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400" dirty="0">
                          <a:solidFill>
                            <a:schemeClr val="tx1"/>
                          </a:solidFill>
                        </a:rPr>
                        <a:t>Google Guava</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400" dirty="0">
                          <a:solidFill>
                            <a:schemeClr val="tx1"/>
                          </a:solidFill>
                        </a:rPr>
                        <a:t>IntentosLoginService</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400" dirty="0">
                          <a:solidFill>
                            <a:schemeClr val="tx1"/>
                          </a:solidFill>
                        </a:rPr>
                        <a:t>Caché con expiración para contar intentos de login y bloquear 15 min</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chemeClr val="tx2"/>
                          </a:solidFill>
                        </a:rPr>
                        <a:t>En uso</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1FAE5"/>
                    </a:solidFill>
                  </a:tcPr>
                </a:tc>
                <a:extLst>
                  <a:ext uri="{0D108BD9-81ED-4DB2-BD59-A6C34878D82A}">
                    <a16:rowId xmlns:a16="http://schemas.microsoft.com/office/drawing/2014/main" val="10001"/>
                  </a:ext>
                </a:extLst>
              </a:tr>
              <a:tr h="566928">
                <a:tc>
                  <a:txBody>
                    <a:bodyPr/>
                    <a:lstStyle/>
                    <a:p>
                      <a:pPr marL="0" indent="0">
                        <a:buNone/>
                      </a:pPr>
                      <a:r>
                        <a:rPr lang="en-US" sz="1400" dirty="0">
                          <a:solidFill>
                            <a:schemeClr val="tx1"/>
                          </a:solidFill>
                        </a:rPr>
                        <a:t>Apache Commons Lang3</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400" dirty="0">
                          <a:solidFill>
                            <a:schemeClr val="tx1"/>
                          </a:solidFill>
                        </a:rPr>
                        <a:t>RegistroDto, Enmascarador, Auditoria…</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400" dirty="0">
                          <a:solidFill>
                            <a:schemeClr val="tx1"/>
                          </a:solidFill>
                        </a:rPr>
                        <a:t>StringUtils para normalizar nombres y documentos</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chemeClr val="tx2"/>
                          </a:solidFill>
                        </a:rPr>
                        <a:t>En uso</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1FAE5"/>
                    </a:solidFill>
                  </a:tcPr>
                </a:tc>
                <a:extLst>
                  <a:ext uri="{0D108BD9-81ED-4DB2-BD59-A6C34878D82A}">
                    <a16:rowId xmlns:a16="http://schemas.microsoft.com/office/drawing/2014/main" val="10002"/>
                  </a:ext>
                </a:extLst>
              </a:tr>
              <a:tr h="566928">
                <a:tc>
                  <a:txBody>
                    <a:bodyPr/>
                    <a:lstStyle/>
                    <a:p>
                      <a:pPr marL="0" indent="0">
                        <a:buNone/>
                      </a:pPr>
                      <a:r>
                        <a:rPr lang="en-US" sz="1400" dirty="0">
                          <a:solidFill>
                            <a:schemeClr val="tx1"/>
                          </a:solidFill>
                        </a:rPr>
                        <a:t>Apache POI</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400" dirty="0">
                          <a:solidFill>
                            <a:schemeClr val="tx1"/>
                          </a:solidFill>
                        </a:rPr>
                        <a:t>ExcelExportador</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400" dirty="0">
                          <a:solidFill>
                            <a:schemeClr val="tx1"/>
                          </a:solidFill>
                        </a:rPr>
                        <a:t>Exportar los reportes de citas y pagos a .xlsx</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chemeClr val="tx2"/>
                          </a:solidFill>
                        </a:rPr>
                        <a:t>En uso</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1FAE5"/>
                    </a:solidFill>
                  </a:tcPr>
                </a:tc>
                <a:extLst>
                  <a:ext uri="{0D108BD9-81ED-4DB2-BD59-A6C34878D82A}">
                    <a16:rowId xmlns:a16="http://schemas.microsoft.com/office/drawing/2014/main" val="10003"/>
                  </a:ext>
                </a:extLst>
              </a:tr>
              <a:tr h="566928">
                <a:tc>
                  <a:txBody>
                    <a:bodyPr/>
                    <a:lstStyle/>
                    <a:p>
                      <a:pPr marL="0" indent="0">
                        <a:buNone/>
                      </a:pPr>
                      <a:r>
                        <a:rPr lang="en-US" sz="1400" dirty="0">
                          <a:solidFill>
                            <a:schemeClr val="tx1"/>
                          </a:solidFill>
                        </a:rPr>
                        <a:t>Logback</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400" dirty="0">
                          <a:solidFill>
                            <a:schemeClr val="tx1"/>
                          </a:solidFill>
                        </a:rPr>
                        <a:t>logback-spring.xml</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400" dirty="0">
                          <a:solidFill>
                            <a:schemeClr val="tx1"/>
                          </a:solidFill>
                        </a:rPr>
                        <a:t>Consola + archivo rotativo + log de auditoría con datos enmascarados</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chemeClr val="tx2"/>
                          </a:solidFill>
                        </a:rPr>
                        <a:t>En uso</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1FAE5"/>
                    </a:solidFill>
                  </a:tcPr>
                </a:tc>
                <a:extLst>
                  <a:ext uri="{0D108BD9-81ED-4DB2-BD59-A6C34878D82A}">
                    <a16:rowId xmlns:a16="http://schemas.microsoft.com/office/drawing/2014/main" val="10004"/>
                  </a:ext>
                </a:extLst>
              </a:tr>
              <a:tr h="566928">
                <a:tc>
                  <a:txBody>
                    <a:bodyPr/>
                    <a:lstStyle/>
                    <a:p>
                      <a:pPr marL="0" indent="0">
                        <a:buNone/>
                      </a:pPr>
                      <a:r>
                        <a:rPr lang="en-US" sz="1400" dirty="0">
                          <a:solidFill>
                            <a:schemeClr val="tx1"/>
                          </a:solidFill>
                        </a:rPr>
                        <a:t>Apache Commons IO</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400" dirty="0">
                          <a:solidFill>
                            <a:schemeClr val="tx1"/>
                          </a:solidFill>
                        </a:rPr>
                        <a:t>ConstanciaServiceImpl</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400" dirty="0">
                          <a:solidFill>
                            <a:schemeClr val="tx1"/>
                          </a:solidFill>
                        </a:rPr>
                        <a:t>FilenameUtils para entregar la constancia con un nombre seguro</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chemeClr val="tx2"/>
                          </a:solidFill>
                        </a:rPr>
                        <a:t>En uso</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1FAE5"/>
                    </a:solidFill>
                  </a:tcPr>
                </a:tc>
                <a:extLst>
                  <a:ext uri="{0D108BD9-81ED-4DB2-BD59-A6C34878D82A}">
                    <a16:rowId xmlns:a16="http://schemas.microsoft.com/office/drawing/2014/main" val="10005"/>
                  </a:ext>
                </a:extLst>
              </a:tr>
              <a:tr h="566928">
                <a:tc>
                  <a:txBody>
                    <a:bodyPr/>
                    <a:lstStyle/>
                    <a:p>
                      <a:pPr marL="0" indent="0">
                        <a:buNone/>
                      </a:pPr>
                      <a:r>
                        <a:rPr lang="en-US" sz="1400" dirty="0">
                          <a:solidFill>
                            <a:schemeClr val="tx1"/>
                          </a:solidFill>
                        </a:rPr>
                        <a:t>OpenPDF</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400" dirty="0">
                          <a:solidFill>
                            <a:schemeClr val="tx1"/>
                          </a:solidFill>
                        </a:rPr>
                        <a:t>ConfirmacionPdfServiceImpl</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400" dirty="0">
                          <a:solidFill>
                            <a:schemeClr val="tx1"/>
                          </a:solidFill>
                        </a:rPr>
                        <a:t>PDF de confirmación de la cita, descargable desde Mis citas</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chemeClr val="tx2"/>
                          </a:solidFill>
                        </a:rPr>
                        <a:t>En uso</a:t>
                      </a:r>
                      <a:endParaRPr lang="en-US" sz="1400" dirty="0"/>
                    </a:p>
                  </a:txBody>
                  <a:tcPr marL="109728" marR="109728"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1FAE5"/>
                    </a:solidFill>
                  </a:tcPr>
                </a:tc>
                <a:extLst>
                  <a:ext uri="{0D108BD9-81ED-4DB2-BD59-A6C34878D82A}">
                    <a16:rowId xmlns:a16="http://schemas.microsoft.com/office/drawing/2014/main" val="10006"/>
                  </a:ext>
                </a:extLst>
              </a:tr>
            </a:tbl>
          </a:graphicData>
        </a:graphic>
      </p:graphicFrame>
      <p:sp>
        <p:nvSpPr>
          <p:cNvPr id="7" name="Text 4"/>
          <p:cNvSpPr txBox="1"/>
          <p:nvPr/>
        </p:nvSpPr>
        <p:spPr>
          <a:xfrm>
            <a:off x="548640" y="5806440"/>
            <a:ext cx="10972800" cy="365760"/>
          </a:xfrm>
          <a:prstGeom prst="rect">
            <a:avLst/>
          </a:prstGeom>
          <a:noFill/>
          <a:ln/>
        </p:spPr>
        <p:txBody>
          <a:bodyPr wrap="square" lIns="0" tIns="0" rIns="0" bIns="0" rtlCol="0" anchor="ctr"/>
          <a:lstStyle/>
          <a:p>
            <a:pPr marL="0" indent="0">
              <a:buNone/>
            </a:pPr>
            <a:r>
              <a:rPr lang="en-US" sz="1300" i="1" dirty="0">
                <a:solidFill>
                  <a:schemeClr val="accent6"/>
                </a:solidFill>
              </a:rPr>
              <a:t>Las seis librerías declaradas en pom.xml tienen un uso verificable en el código.</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PRUEBAS</a:t>
            </a:r>
            <a:endParaRPr lang="en-US" sz="1200" dirty="0"/>
          </a:p>
        </p:txBody>
      </p:sp>
      <p:sp>
        <p:nvSpPr>
          <p:cNvPr id="3" name="Text 0"/>
          <p:cNvSpPr>
            <a:spLocks noGrp="1"/>
          </p:cNvSpPr>
          <p:nvPr>
            <p:ph type="title" idx="101" hasCustomPrompt="1"/>
          </p:nvPr>
        </p:nvSpPr>
        <p:spPr>
          <a:xfrm>
            <a:off x="548640" y="640080"/>
            <a:ext cx="9144000" cy="731520"/>
          </a:xfrm>
          <a:prstGeom prst="rect">
            <a:avLst/>
          </a:prstGeom>
          <a:noFill/>
          <a:ln/>
        </p:spPr>
        <p:txBody>
          <a:bodyPr wrap="square" lIns="0" tIns="0" rIns="0" bIns="0" rtlCol="0" anchor="t"/>
          <a:lstStyle/>
          <a:p>
            <a:pPr marL="0" indent="0" algn="l">
              <a:buNone/>
            </a:pPr>
            <a:r>
              <a:rPr lang="en-US" sz="3600" b="1" dirty="0">
                <a:solidFill>
                  <a:schemeClr val="tx1"/>
                </a:solidFill>
              </a:rPr>
              <a:t>168 pruebas automatizadas en verde</a:t>
            </a:r>
            <a:endParaRPr lang="en-US" sz="3600" dirty="0"/>
          </a:p>
        </p:txBody>
      </p:sp>
      <p:sp>
        <p:nvSpPr>
          <p:cNvPr id="6" name="test-stat-0"/>
          <p:cNvSpPr/>
          <p:nvPr/>
        </p:nvSpPr>
        <p:spPr>
          <a:xfrm>
            <a:off x="548640" y="1645920"/>
            <a:ext cx="3657600" cy="1325880"/>
          </a:xfrm>
          <a:prstGeom prst="roundRect">
            <a:avLst>
              <a:gd name="adj" fmla="val 8276"/>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7" name="Text 5"/>
          <p:cNvSpPr txBox="1"/>
          <p:nvPr/>
        </p:nvSpPr>
        <p:spPr>
          <a:xfrm>
            <a:off x="777240" y="1737360"/>
            <a:ext cx="1508760" cy="1143000"/>
          </a:xfrm>
          <a:prstGeom prst="rect">
            <a:avLst/>
          </a:prstGeom>
          <a:noFill/>
          <a:ln/>
        </p:spPr>
        <p:txBody>
          <a:bodyPr wrap="square" lIns="0" tIns="0" rIns="0" bIns="0" rtlCol="0" anchor="ctr"/>
          <a:lstStyle/>
          <a:p>
            <a:pPr marL="0" indent="0">
              <a:buNone/>
            </a:pPr>
            <a:r>
              <a:rPr lang="en-US" sz="4400" b="1" dirty="0">
                <a:solidFill>
                  <a:schemeClr val="tx2"/>
                </a:solidFill>
              </a:rPr>
              <a:t>168</a:t>
            </a:r>
            <a:endParaRPr lang="en-US" sz="4400" dirty="0"/>
          </a:p>
        </p:txBody>
      </p:sp>
      <p:sp>
        <p:nvSpPr>
          <p:cNvPr id="8" name="Text 6"/>
          <p:cNvSpPr txBox="1"/>
          <p:nvPr/>
        </p:nvSpPr>
        <p:spPr>
          <a:xfrm>
            <a:off x="2286000" y="1737360"/>
            <a:ext cx="1828800" cy="1143000"/>
          </a:xfrm>
          <a:prstGeom prst="rect">
            <a:avLst/>
          </a:prstGeom>
          <a:noFill/>
          <a:ln/>
        </p:spPr>
        <p:txBody>
          <a:bodyPr wrap="square" lIns="0" tIns="0" rIns="0" bIns="0" rtlCol="0" anchor="ctr"/>
          <a:lstStyle/>
          <a:p>
            <a:pPr marL="0" indent="0">
              <a:buNone/>
            </a:pPr>
            <a:r>
              <a:rPr lang="en-US" sz="1500" b="1" dirty="0">
                <a:solidFill>
                  <a:schemeClr val="tx1"/>
                </a:solidFill>
              </a:rPr>
              <a:t>pruebas</a:t>
            </a:r>
            <a:endParaRPr lang="en-US" sz="1500" dirty="0"/>
          </a:p>
          <a:p>
            <a:pPr marL="0" indent="0">
              <a:buNone/>
            </a:pPr>
            <a:r>
              <a:rPr lang="en-US" sz="1200" dirty="0">
                <a:solidFill>
                  <a:schemeClr val="accent6"/>
                </a:solidFill>
              </a:rPr>
              <a:t>0 fallas · ./mvnw test</a:t>
            </a:r>
            <a:endParaRPr lang="en-US" sz="1500" dirty="0"/>
          </a:p>
        </p:txBody>
      </p:sp>
      <p:sp>
        <p:nvSpPr>
          <p:cNvPr id="9" name="test-stat-1"/>
          <p:cNvSpPr/>
          <p:nvPr/>
        </p:nvSpPr>
        <p:spPr>
          <a:xfrm>
            <a:off x="548640" y="3154680"/>
            <a:ext cx="3657600" cy="1325880"/>
          </a:xfrm>
          <a:prstGeom prst="roundRect">
            <a:avLst>
              <a:gd name="adj" fmla="val 8276"/>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10" name="Text 8"/>
          <p:cNvSpPr txBox="1"/>
          <p:nvPr/>
        </p:nvSpPr>
        <p:spPr>
          <a:xfrm>
            <a:off x="777240" y="3246120"/>
            <a:ext cx="1508760" cy="1143000"/>
          </a:xfrm>
          <a:prstGeom prst="rect">
            <a:avLst/>
          </a:prstGeom>
          <a:noFill/>
          <a:ln/>
        </p:spPr>
        <p:txBody>
          <a:bodyPr wrap="square" lIns="0" tIns="0" rIns="0" bIns="0" rtlCol="0" anchor="ctr"/>
          <a:lstStyle/>
          <a:p>
            <a:pPr marL="0" indent="0">
              <a:buNone/>
            </a:pPr>
            <a:r>
              <a:rPr lang="en-US" sz="4400" b="1" dirty="0">
                <a:solidFill>
                  <a:schemeClr val="tx2"/>
                </a:solidFill>
              </a:rPr>
              <a:t>86 %</a:t>
            </a:r>
            <a:endParaRPr lang="en-US" sz="4400" dirty="0"/>
          </a:p>
        </p:txBody>
      </p:sp>
      <p:sp>
        <p:nvSpPr>
          <p:cNvPr id="11" name="Text 9"/>
          <p:cNvSpPr txBox="1"/>
          <p:nvPr/>
        </p:nvSpPr>
        <p:spPr>
          <a:xfrm>
            <a:off x="2286000" y="3246120"/>
            <a:ext cx="1828800" cy="1143000"/>
          </a:xfrm>
          <a:prstGeom prst="rect">
            <a:avLst/>
          </a:prstGeom>
          <a:noFill/>
          <a:ln/>
        </p:spPr>
        <p:txBody>
          <a:bodyPr wrap="square" lIns="0" tIns="0" rIns="0" bIns="0" rtlCol="0" anchor="ctr"/>
          <a:lstStyle/>
          <a:p>
            <a:pPr marL="0" indent="0">
              <a:buNone/>
            </a:pPr>
            <a:r>
              <a:rPr lang="en-US" sz="1500" b="1" dirty="0">
                <a:solidFill>
                  <a:schemeClr val="tx1"/>
                </a:solidFill>
              </a:rPr>
              <a:t>cobertura total</a:t>
            </a:r>
            <a:endParaRPr lang="en-US" sz="1500" dirty="0"/>
          </a:p>
          <a:p>
            <a:pPr marL="0" indent="0">
              <a:buNone/>
            </a:pPr>
            <a:r>
              <a:rPr lang="en-US" sz="1200" dirty="0">
                <a:solidFill>
                  <a:schemeClr val="accent6"/>
                </a:solidFill>
              </a:rPr>
              <a:t>JaCoCo, instrucciones</a:t>
            </a:r>
            <a:endParaRPr lang="en-US" sz="1500" dirty="0"/>
          </a:p>
        </p:txBody>
      </p:sp>
      <p:sp>
        <p:nvSpPr>
          <p:cNvPr id="12" name="test-stat-2"/>
          <p:cNvSpPr/>
          <p:nvPr/>
        </p:nvSpPr>
        <p:spPr>
          <a:xfrm>
            <a:off x="548640" y="4663440"/>
            <a:ext cx="3657600" cy="1325880"/>
          </a:xfrm>
          <a:prstGeom prst="roundRect">
            <a:avLst>
              <a:gd name="adj" fmla="val 8276"/>
            </a:avLst>
          </a:prstGeom>
          <a:solidFill>
            <a:srgbClr val="ECFDF5"/>
          </a:solidFill>
          <a:ln w="12700">
            <a:solidFill>
              <a:schemeClr val="accent2"/>
            </a:solidFill>
            <a:prstDash val="solid"/>
          </a:ln>
          <a:effectLst>
            <a:outerShdw blurRad="127000" dist="25400" dir="5400000" algn="bl" rotWithShape="0">
              <a:srgbClr val="0F172A">
                <a:alpha val="12000"/>
              </a:srgbClr>
            </a:outerShdw>
          </a:effectLst>
        </p:spPr>
        <p:txBody>
          <a:bodyPr/>
          <a:lstStyle/>
          <a:p>
            <a:endParaRPr lang="es-PE"/>
          </a:p>
        </p:txBody>
      </p:sp>
      <p:sp>
        <p:nvSpPr>
          <p:cNvPr id="13" name="Text 11"/>
          <p:cNvSpPr txBox="1"/>
          <p:nvPr/>
        </p:nvSpPr>
        <p:spPr>
          <a:xfrm>
            <a:off x="777240" y="4754880"/>
            <a:ext cx="1508760" cy="1143000"/>
          </a:xfrm>
          <a:prstGeom prst="rect">
            <a:avLst/>
          </a:prstGeom>
          <a:noFill/>
          <a:ln/>
        </p:spPr>
        <p:txBody>
          <a:bodyPr wrap="square" lIns="0" tIns="0" rIns="0" bIns="0" rtlCol="0" anchor="ctr"/>
          <a:lstStyle/>
          <a:p>
            <a:pPr marL="0" indent="0">
              <a:buNone/>
            </a:pPr>
            <a:r>
              <a:rPr lang="en-US" sz="4400" b="1" dirty="0">
                <a:solidFill>
                  <a:schemeClr val="tx2"/>
                </a:solidFill>
              </a:rPr>
              <a:t>85 %</a:t>
            </a:r>
            <a:endParaRPr lang="en-US" sz="4400" dirty="0"/>
          </a:p>
        </p:txBody>
      </p:sp>
      <p:sp>
        <p:nvSpPr>
          <p:cNvPr id="14" name="Text 12"/>
          <p:cNvSpPr txBox="1"/>
          <p:nvPr/>
        </p:nvSpPr>
        <p:spPr>
          <a:xfrm>
            <a:off x="2286000" y="4754880"/>
            <a:ext cx="1828800" cy="1143000"/>
          </a:xfrm>
          <a:prstGeom prst="rect">
            <a:avLst/>
          </a:prstGeom>
          <a:noFill/>
          <a:ln/>
        </p:spPr>
        <p:txBody>
          <a:bodyPr wrap="square" lIns="0" tIns="0" rIns="0" bIns="0" rtlCol="0" anchor="ctr"/>
          <a:lstStyle/>
          <a:p>
            <a:pPr marL="0" indent="0">
              <a:buNone/>
            </a:pPr>
            <a:r>
              <a:rPr lang="en-US" sz="1500" b="1" dirty="0">
                <a:solidFill>
                  <a:schemeClr val="tx1"/>
                </a:solidFill>
              </a:rPr>
              <a:t>cobertura en servicios</a:t>
            </a:r>
            <a:endParaRPr lang="en-US" sz="1500" dirty="0"/>
          </a:p>
          <a:p>
            <a:pPr marL="0" indent="0">
              <a:buNone/>
            </a:pPr>
            <a:r>
              <a:rPr lang="en-US" sz="1200" dirty="0">
                <a:solidFill>
                  <a:schemeClr val="accent6"/>
                </a:solidFill>
              </a:rPr>
              <a:t>meta: ≥ 60 %</a:t>
            </a:r>
            <a:endParaRPr lang="en-US" sz="1500" dirty="0"/>
          </a:p>
        </p:txBody>
      </p:sp>
      <p:sp>
        <p:nvSpPr>
          <p:cNvPr id="15" name="chart-card"/>
          <p:cNvSpPr/>
          <p:nvPr/>
        </p:nvSpPr>
        <p:spPr>
          <a:xfrm>
            <a:off x="4480560" y="1645920"/>
            <a:ext cx="7159752" cy="4480560"/>
          </a:xfrm>
          <a:prstGeom prst="roundRect">
            <a:avLst>
              <a:gd name="adj" fmla="val 2449"/>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graphicFrame>
        <p:nvGraphicFramePr>
          <p:cNvPr id="16" name="Chart 0"/>
          <p:cNvGraphicFramePr/>
          <p:nvPr/>
        </p:nvGraphicFramePr>
        <p:xfrm>
          <a:off x="4663440" y="1783080"/>
          <a:ext cx="6793992"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36D48D4F-B642-3A1F-209C-00ABA41A5EE1}"/>
              </a:ext>
            </a:extLst>
          </p:cNvPr>
          <p:cNvSpPr>
            <a:spLocks noGrp="1"/>
          </p:cNvSpPr>
          <p:nvPr>
            <p:ph type="body" idx="100"/>
          </p:nvPr>
        </p:nvSpPr>
        <p:spPr/>
        <p:txBody>
          <a:bodyPr/>
          <a:lstStyle/>
          <a:p>
            <a:r>
              <a:rPr lang="en-US" dirty="0"/>
              <a:t>PRUEBAS</a:t>
            </a:r>
            <a:endParaRPr lang="es-PE" dirty="0"/>
          </a:p>
        </p:txBody>
      </p:sp>
      <p:sp>
        <p:nvSpPr>
          <p:cNvPr id="3" name="Título 2">
            <a:extLst>
              <a:ext uri="{FF2B5EF4-FFF2-40B4-BE49-F238E27FC236}">
                <a16:creationId xmlns:a16="http://schemas.microsoft.com/office/drawing/2014/main" id="{9ED77618-3EE0-DBBC-4693-8926036CC543}"/>
              </a:ext>
            </a:extLst>
          </p:cNvPr>
          <p:cNvSpPr>
            <a:spLocks noGrp="1"/>
          </p:cNvSpPr>
          <p:nvPr>
            <p:ph type="title" idx="101"/>
          </p:nvPr>
        </p:nvSpPr>
        <p:spPr/>
        <p:txBody>
          <a:bodyPr/>
          <a:lstStyle/>
          <a:p>
            <a:r>
              <a:rPr lang="es-PE" dirty="0"/>
              <a:t>Reporte JaCoCo</a:t>
            </a:r>
          </a:p>
        </p:txBody>
      </p:sp>
      <p:pic>
        <p:nvPicPr>
          <p:cNvPr id="4" name="Imagen 3">
            <a:extLst>
              <a:ext uri="{FF2B5EF4-FFF2-40B4-BE49-F238E27FC236}">
                <a16:creationId xmlns:a16="http://schemas.microsoft.com/office/drawing/2014/main" id="{967DBEA4-E535-00B5-8D00-69CA238F5FAA}"/>
              </a:ext>
            </a:extLst>
          </p:cNvPr>
          <p:cNvPicPr>
            <a:picLocks noChangeAspect="1"/>
          </p:cNvPicPr>
          <p:nvPr/>
        </p:nvPicPr>
        <p:blipFill>
          <a:blip r:embed="rId2"/>
          <a:stretch>
            <a:fillRect/>
          </a:stretch>
        </p:blipFill>
        <p:spPr>
          <a:xfrm>
            <a:off x="714859" y="1691640"/>
            <a:ext cx="10762281" cy="3453714"/>
          </a:xfrm>
          <a:prstGeom prst="rect">
            <a:avLst/>
          </a:prstGeom>
        </p:spPr>
      </p:pic>
    </p:spTree>
    <p:extLst>
      <p:ext uri="{BB962C8B-B14F-4D97-AF65-F5344CB8AC3E}">
        <p14:creationId xmlns:p14="http://schemas.microsoft.com/office/powerpoint/2010/main" val="1621432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DISEÑO UI/UX</a:t>
            </a:r>
            <a:endParaRPr lang="en-US" sz="1200" dirty="0"/>
          </a:p>
        </p:txBody>
      </p:sp>
      <p:sp>
        <p:nvSpPr>
          <p:cNvPr id="3" name="Text 0"/>
          <p:cNvSpPr>
            <a:spLocks noGrp="1"/>
          </p:cNvSpPr>
          <p:nvPr>
            <p:ph type="title" idx="101" hasCustomPrompt="1"/>
          </p:nvPr>
        </p:nvSpPr>
        <p:spPr>
          <a:xfrm>
            <a:off x="548640" y="640080"/>
            <a:ext cx="9144000" cy="731520"/>
          </a:xfrm>
          <a:prstGeom prst="rect">
            <a:avLst/>
          </a:prstGeom>
          <a:noFill/>
          <a:ln/>
        </p:spPr>
        <p:txBody>
          <a:bodyPr wrap="square" lIns="0" tIns="0" rIns="0" bIns="0" rtlCol="0" anchor="t"/>
          <a:lstStyle/>
          <a:p>
            <a:pPr marL="0" indent="0" algn="l">
              <a:buNone/>
            </a:pPr>
            <a:r>
              <a:rPr lang="en-US" sz="3600" b="1" dirty="0">
                <a:solidFill>
                  <a:schemeClr val="tx1"/>
                </a:solidFill>
              </a:rPr>
              <a:t>Diseño guiado por 53 iteraciones</a:t>
            </a:r>
            <a:endParaRPr lang="en-US" sz="3600" dirty="0"/>
          </a:p>
        </p:txBody>
      </p:sp>
      <p:sp>
        <p:nvSpPr>
          <p:cNvPr id="6" name="shot-frame"/>
          <p:cNvSpPr/>
          <p:nvPr/>
        </p:nvSpPr>
        <p:spPr>
          <a:xfrm>
            <a:off x="512064" y="1655064"/>
            <a:ext cx="3364992" cy="2267712"/>
          </a:xfrm>
          <a:prstGeom prst="roundRect">
            <a:avLst>
              <a:gd name="adj" fmla="val 3226"/>
            </a:avLst>
          </a:prstGeom>
          <a:solidFill>
            <a:schemeClr val="bg1"/>
          </a:solidFill>
          <a:ln w="12700">
            <a:solidFill>
              <a:srgbClr val="E2E8F0"/>
            </a:solidFill>
            <a:prstDash val="solid"/>
          </a:ln>
          <a:effectLst>
            <a:outerShdw blurRad="127000" dist="25400" dir="5400000" algn="bl" rotWithShape="0">
              <a:srgbClr val="0F172A">
                <a:alpha val="12000"/>
              </a:srgbClr>
            </a:outerShdw>
          </a:effectLst>
        </p:spPr>
        <p:txBody>
          <a:bodyPr/>
          <a:lstStyle/>
          <a:p>
            <a:endParaRPr lang="es-PE"/>
          </a:p>
        </p:txBody>
      </p:sp>
      <p:pic>
        <p:nvPicPr>
          <p:cNvPr id="7" name="shot-P0-v1" descr="P0-v1"/>
          <p:cNvPicPr>
            <a:picLocks noChangeAspect="1"/>
          </p:cNvPicPr>
          <p:nvPr/>
        </p:nvPicPr>
        <p:blipFill>
          <a:blip r:embed="rId3"/>
          <a:stretch>
            <a:fillRect/>
          </a:stretch>
        </p:blipFill>
        <p:spPr>
          <a:xfrm>
            <a:off x="548640" y="1691640"/>
            <a:ext cx="3291840" cy="2194560"/>
          </a:xfrm>
          <a:prstGeom prst="rect">
            <a:avLst/>
          </a:prstGeom>
        </p:spPr>
      </p:pic>
      <p:sp>
        <p:nvSpPr>
          <p:cNvPr id="8" name="Text 5"/>
          <p:cNvSpPr txBox="1"/>
          <p:nvPr/>
        </p:nvSpPr>
        <p:spPr>
          <a:xfrm>
            <a:off x="548640" y="3977640"/>
            <a:ext cx="3291840" cy="274320"/>
          </a:xfrm>
          <a:prstGeom prst="rect">
            <a:avLst/>
          </a:prstGeom>
          <a:noFill/>
          <a:ln/>
        </p:spPr>
        <p:txBody>
          <a:bodyPr wrap="square" lIns="0" tIns="0" rIns="0" bIns="0" rtlCol="0" anchor="ctr"/>
          <a:lstStyle/>
          <a:p>
            <a:pPr marL="0" indent="0">
              <a:buNone/>
            </a:pPr>
            <a:r>
              <a:rPr lang="en-US" sz="1200" dirty="0">
                <a:solidFill>
                  <a:schemeClr val="accent6"/>
                </a:solidFill>
              </a:rPr>
              <a:t>P0 · versión 1 (decía «Consultorio Barrantes»)</a:t>
            </a:r>
            <a:endParaRPr lang="en-US" sz="1200" dirty="0"/>
          </a:p>
        </p:txBody>
      </p:sp>
      <p:sp>
        <p:nvSpPr>
          <p:cNvPr id="9" name="arrow"/>
          <p:cNvSpPr/>
          <p:nvPr/>
        </p:nvSpPr>
        <p:spPr>
          <a:xfrm>
            <a:off x="4023360" y="2624328"/>
            <a:ext cx="502920" cy="320040"/>
          </a:xfrm>
          <a:prstGeom prst="rightArrow">
            <a:avLst/>
          </a:prstGeom>
          <a:solidFill>
            <a:schemeClr val="accent2"/>
          </a:solidFill>
          <a:ln w="12700">
            <a:solidFill>
              <a:schemeClr val="accent2"/>
            </a:solidFill>
            <a:prstDash val="solid"/>
          </a:ln>
        </p:spPr>
        <p:txBody>
          <a:bodyPr/>
          <a:lstStyle/>
          <a:p>
            <a:endParaRPr lang="es-PE"/>
          </a:p>
        </p:txBody>
      </p:sp>
      <p:sp>
        <p:nvSpPr>
          <p:cNvPr id="10" name="shot-frame"/>
          <p:cNvSpPr/>
          <p:nvPr/>
        </p:nvSpPr>
        <p:spPr>
          <a:xfrm>
            <a:off x="4672584" y="1655064"/>
            <a:ext cx="3364992" cy="2267712"/>
          </a:xfrm>
          <a:prstGeom prst="roundRect">
            <a:avLst>
              <a:gd name="adj" fmla="val 3226"/>
            </a:avLst>
          </a:prstGeom>
          <a:solidFill>
            <a:schemeClr val="bg1"/>
          </a:solidFill>
          <a:ln w="12700">
            <a:solidFill>
              <a:srgbClr val="E2E8F0"/>
            </a:solidFill>
            <a:prstDash val="solid"/>
          </a:ln>
          <a:effectLst>
            <a:outerShdw blurRad="127000" dist="25400" dir="5400000" algn="bl" rotWithShape="0">
              <a:srgbClr val="0F172A">
                <a:alpha val="12000"/>
              </a:srgbClr>
            </a:outerShdw>
          </a:effectLst>
        </p:spPr>
        <p:txBody>
          <a:bodyPr/>
          <a:lstStyle/>
          <a:p>
            <a:endParaRPr lang="es-PE"/>
          </a:p>
        </p:txBody>
      </p:sp>
      <p:pic>
        <p:nvPicPr>
          <p:cNvPr id="11" name="shot-P0-v3" descr="P0-v3"/>
          <p:cNvPicPr>
            <a:picLocks noChangeAspect="1"/>
          </p:cNvPicPr>
          <p:nvPr/>
        </p:nvPicPr>
        <p:blipFill>
          <a:blip r:embed="rId4"/>
          <a:stretch>
            <a:fillRect/>
          </a:stretch>
        </p:blipFill>
        <p:spPr>
          <a:xfrm>
            <a:off x="4709160" y="1691640"/>
            <a:ext cx="3291840" cy="2194560"/>
          </a:xfrm>
          <a:prstGeom prst="rect">
            <a:avLst/>
          </a:prstGeom>
        </p:spPr>
      </p:pic>
      <p:sp>
        <p:nvSpPr>
          <p:cNvPr id="12" name="Text 8"/>
          <p:cNvSpPr txBox="1"/>
          <p:nvPr/>
        </p:nvSpPr>
        <p:spPr>
          <a:xfrm>
            <a:off x="4709160" y="3977640"/>
            <a:ext cx="3291840" cy="274320"/>
          </a:xfrm>
          <a:prstGeom prst="rect">
            <a:avLst/>
          </a:prstGeom>
          <a:noFill/>
          <a:ln/>
        </p:spPr>
        <p:txBody>
          <a:bodyPr wrap="square" lIns="0" tIns="0" rIns="0" bIns="0" rtlCol="0" anchor="ctr"/>
          <a:lstStyle/>
          <a:p>
            <a:pPr marL="0" indent="0">
              <a:buNone/>
            </a:pPr>
            <a:r>
              <a:rPr lang="en-US" sz="1200" dirty="0">
                <a:solidFill>
                  <a:schemeClr val="accent6"/>
                </a:solidFill>
              </a:rPr>
              <a:t>P0 · versión aprobada (v3)</a:t>
            </a:r>
            <a:endParaRPr lang="en-US" sz="1200" dirty="0"/>
          </a:p>
        </p:txBody>
      </p:sp>
      <p:sp>
        <p:nvSpPr>
          <p:cNvPr id="13" name="shot-frame"/>
          <p:cNvSpPr/>
          <p:nvPr/>
        </p:nvSpPr>
        <p:spPr>
          <a:xfrm>
            <a:off x="512064" y="4398264"/>
            <a:ext cx="5102352" cy="1801940"/>
          </a:xfrm>
          <a:prstGeom prst="roundRect">
            <a:avLst>
              <a:gd name="adj" fmla="val 4060"/>
            </a:avLst>
          </a:prstGeom>
          <a:solidFill>
            <a:schemeClr val="bg1"/>
          </a:solidFill>
          <a:ln w="12700">
            <a:solidFill>
              <a:srgbClr val="E2E8F0"/>
            </a:solidFill>
            <a:prstDash val="solid"/>
          </a:ln>
          <a:effectLst>
            <a:outerShdw blurRad="127000" dist="25400" dir="5400000" algn="bl" rotWithShape="0">
              <a:srgbClr val="0F172A">
                <a:alpha val="12000"/>
              </a:srgbClr>
            </a:outerShdw>
          </a:effectLst>
        </p:spPr>
        <p:txBody>
          <a:bodyPr/>
          <a:lstStyle/>
          <a:p>
            <a:endParaRPr lang="es-PE"/>
          </a:p>
        </p:txBody>
      </p:sp>
      <p:pic>
        <p:nvPicPr>
          <p:cNvPr id="14" name="shot-design-system" descr="design-system"/>
          <p:cNvPicPr>
            <a:picLocks noChangeAspect="1"/>
          </p:cNvPicPr>
          <p:nvPr/>
        </p:nvPicPr>
        <p:blipFill>
          <a:blip r:embed="rId5"/>
          <a:stretch>
            <a:fillRect/>
          </a:stretch>
        </p:blipFill>
        <p:spPr>
          <a:xfrm>
            <a:off x="548640" y="4434840"/>
            <a:ext cx="5029200" cy="1728788"/>
          </a:xfrm>
          <a:prstGeom prst="rect">
            <a:avLst/>
          </a:prstGeom>
        </p:spPr>
      </p:pic>
      <p:sp>
        <p:nvSpPr>
          <p:cNvPr id="15" name="Text 10"/>
          <p:cNvSpPr txBox="1"/>
          <p:nvPr/>
        </p:nvSpPr>
        <p:spPr>
          <a:xfrm>
            <a:off x="5806440" y="4434840"/>
            <a:ext cx="2240280" cy="1737360"/>
          </a:xfrm>
          <a:prstGeom prst="rect">
            <a:avLst/>
          </a:prstGeom>
          <a:noFill/>
          <a:ln/>
        </p:spPr>
        <p:txBody>
          <a:bodyPr wrap="square" lIns="0" tIns="0" rIns="0" bIns="0" rtlCol="0" anchor="t"/>
          <a:lstStyle/>
          <a:p>
            <a:pPr marL="0" indent="0">
              <a:buNone/>
            </a:pPr>
            <a:r>
              <a:rPr lang="en-US" sz="1600" b="1" dirty="0">
                <a:solidFill>
                  <a:schemeClr val="tx1"/>
                </a:solidFill>
              </a:rPr>
              <a:t>Sistema de diseño</a:t>
            </a:r>
            <a:endParaRPr lang="en-US" sz="1600" dirty="0"/>
          </a:p>
          <a:p>
            <a:pPr marL="0" indent="0">
              <a:buNone/>
            </a:pPr>
            <a:r>
              <a:rPr lang="en-US" sz="1300" dirty="0">
                <a:solidFill>
                  <a:schemeClr val="accent6"/>
                </a:solidFill>
              </a:rPr>
              <a:t>Paleta verde clínico, tipografía Inter, espaciado de 8 px y estados de cita y pago compartidos por las 11 pantallas</a:t>
            </a:r>
            <a:endParaRPr lang="en-US" sz="1600" dirty="0"/>
          </a:p>
        </p:txBody>
      </p:sp>
      <p:sp>
        <p:nvSpPr>
          <p:cNvPr id="16" name="proceso"/>
          <p:cNvSpPr/>
          <p:nvPr/>
        </p:nvSpPr>
        <p:spPr>
          <a:xfrm>
            <a:off x="8321040" y="1645920"/>
            <a:ext cx="3319272" cy="4480560"/>
          </a:xfrm>
          <a:prstGeom prst="roundRect">
            <a:avLst>
              <a:gd name="adj" fmla="val 3306"/>
            </a:avLst>
          </a:prstGeom>
          <a:solidFill>
            <a:schemeClr val="bg2"/>
          </a:solidFill>
          <a:ln w="12700">
            <a:solidFill>
              <a:schemeClr val="bg2"/>
            </a:solidFill>
            <a:prstDash val="solid"/>
          </a:ln>
        </p:spPr>
        <p:txBody>
          <a:bodyPr/>
          <a:lstStyle/>
          <a:p>
            <a:endParaRPr lang="es-PE"/>
          </a:p>
        </p:txBody>
      </p:sp>
      <p:sp>
        <p:nvSpPr>
          <p:cNvPr id="17" name="Text 12"/>
          <p:cNvSpPr txBox="1"/>
          <p:nvPr/>
        </p:nvSpPr>
        <p:spPr>
          <a:xfrm>
            <a:off x="8549640" y="1783080"/>
            <a:ext cx="2926080" cy="411480"/>
          </a:xfrm>
          <a:prstGeom prst="rect">
            <a:avLst/>
          </a:prstGeom>
          <a:noFill/>
          <a:ln/>
        </p:spPr>
        <p:txBody>
          <a:bodyPr wrap="square" lIns="0" tIns="0" rIns="0" bIns="0" rtlCol="0" anchor="ctr"/>
          <a:lstStyle/>
          <a:p>
            <a:pPr marL="0" indent="0">
              <a:buNone/>
            </a:pPr>
            <a:r>
              <a:rPr lang="en-US" sz="1800" b="1" dirty="0">
                <a:solidFill>
                  <a:schemeClr val="tx1"/>
                </a:solidFill>
              </a:rPr>
              <a:t>Proceso por pantalla</a:t>
            </a:r>
            <a:endParaRPr lang="en-US" sz="1800" dirty="0"/>
          </a:p>
        </p:txBody>
      </p:sp>
      <p:sp>
        <p:nvSpPr>
          <p:cNvPr id="18" name="num-dot"/>
          <p:cNvSpPr/>
          <p:nvPr/>
        </p:nvSpPr>
        <p:spPr>
          <a:xfrm>
            <a:off x="8549640" y="2377440"/>
            <a:ext cx="365760" cy="365760"/>
          </a:xfrm>
          <a:prstGeom prst="ellipse">
            <a:avLst/>
          </a:prstGeom>
          <a:solidFill>
            <a:schemeClr val="tx2"/>
          </a:solidFill>
          <a:ln w="12700">
            <a:solidFill>
              <a:schemeClr val="tx2"/>
            </a:solidFill>
            <a:prstDash val="solid"/>
          </a:ln>
        </p:spPr>
        <p:txBody>
          <a:bodyPr/>
          <a:lstStyle/>
          <a:p>
            <a:endParaRPr lang="es-PE"/>
          </a:p>
        </p:txBody>
      </p:sp>
      <p:sp>
        <p:nvSpPr>
          <p:cNvPr id="19" name="Text 14"/>
          <p:cNvSpPr txBox="1"/>
          <p:nvPr/>
        </p:nvSpPr>
        <p:spPr>
          <a:xfrm>
            <a:off x="8549640" y="237744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0" name="Text 15"/>
          <p:cNvSpPr txBox="1"/>
          <p:nvPr/>
        </p:nvSpPr>
        <p:spPr>
          <a:xfrm>
            <a:off x="9052560" y="2304288"/>
            <a:ext cx="2468880" cy="777240"/>
          </a:xfrm>
          <a:prstGeom prst="rect">
            <a:avLst/>
          </a:prstGeom>
          <a:noFill/>
          <a:ln/>
        </p:spPr>
        <p:txBody>
          <a:bodyPr wrap="square" lIns="0" tIns="0" rIns="0" bIns="0" rtlCol="0" anchor="t"/>
          <a:lstStyle/>
          <a:p>
            <a:pPr marL="0" indent="0">
              <a:buNone/>
            </a:pPr>
            <a:r>
              <a:rPr lang="en-US" sz="1300" dirty="0">
                <a:solidFill>
                  <a:schemeClr val="tx1"/>
                </a:solidFill>
              </a:rPr>
              <a:t>Prompt base + prompt de la pantalla en Stitch</a:t>
            </a:r>
            <a:endParaRPr lang="en-US" sz="1300" dirty="0"/>
          </a:p>
        </p:txBody>
      </p:sp>
      <p:sp>
        <p:nvSpPr>
          <p:cNvPr id="21" name="num-dot"/>
          <p:cNvSpPr/>
          <p:nvPr/>
        </p:nvSpPr>
        <p:spPr>
          <a:xfrm>
            <a:off x="8575054" y="3095244"/>
            <a:ext cx="365760" cy="365760"/>
          </a:xfrm>
          <a:prstGeom prst="ellipse">
            <a:avLst/>
          </a:prstGeom>
          <a:solidFill>
            <a:schemeClr val="tx2"/>
          </a:solidFill>
          <a:ln w="12700">
            <a:solidFill>
              <a:schemeClr val="tx2"/>
            </a:solidFill>
            <a:prstDash val="solid"/>
          </a:ln>
        </p:spPr>
        <p:txBody>
          <a:bodyPr/>
          <a:lstStyle/>
          <a:p>
            <a:endParaRPr lang="es-PE"/>
          </a:p>
        </p:txBody>
      </p:sp>
      <p:sp>
        <p:nvSpPr>
          <p:cNvPr id="22" name="Text 17"/>
          <p:cNvSpPr txBox="1"/>
          <p:nvPr/>
        </p:nvSpPr>
        <p:spPr>
          <a:xfrm>
            <a:off x="8575054" y="3095244"/>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3" name="Text 18"/>
          <p:cNvSpPr txBox="1"/>
          <p:nvPr/>
        </p:nvSpPr>
        <p:spPr>
          <a:xfrm>
            <a:off x="9077974" y="3022092"/>
            <a:ext cx="2468880" cy="777240"/>
          </a:xfrm>
          <a:prstGeom prst="rect">
            <a:avLst/>
          </a:prstGeom>
          <a:noFill/>
          <a:ln/>
        </p:spPr>
        <p:txBody>
          <a:bodyPr wrap="square" lIns="0" tIns="0" rIns="0" bIns="0" rtlCol="0" anchor="t"/>
          <a:lstStyle/>
          <a:p>
            <a:pPr marL="0" indent="0">
              <a:buNone/>
            </a:pPr>
            <a:r>
              <a:rPr lang="en-US" sz="1300" dirty="0">
                <a:solidFill>
                  <a:schemeClr val="tx1"/>
                </a:solidFill>
              </a:rPr>
              <a:t>Revisión con checklist: alcance, textos, colores, móvil 360 px</a:t>
            </a:r>
            <a:endParaRPr lang="en-US" sz="1300" dirty="0"/>
          </a:p>
        </p:txBody>
      </p:sp>
      <p:sp>
        <p:nvSpPr>
          <p:cNvPr id="24" name="num-dot"/>
          <p:cNvSpPr/>
          <p:nvPr/>
        </p:nvSpPr>
        <p:spPr>
          <a:xfrm>
            <a:off x="8594825" y="3810762"/>
            <a:ext cx="365760" cy="365760"/>
          </a:xfrm>
          <a:prstGeom prst="ellipse">
            <a:avLst/>
          </a:prstGeom>
          <a:solidFill>
            <a:schemeClr val="tx2"/>
          </a:solidFill>
          <a:ln w="12700">
            <a:solidFill>
              <a:schemeClr val="tx2"/>
            </a:solidFill>
            <a:prstDash val="solid"/>
          </a:ln>
        </p:spPr>
        <p:txBody>
          <a:bodyPr/>
          <a:lstStyle/>
          <a:p>
            <a:endParaRPr lang="es-PE"/>
          </a:p>
        </p:txBody>
      </p:sp>
      <p:sp>
        <p:nvSpPr>
          <p:cNvPr id="25" name="Text 20"/>
          <p:cNvSpPr txBox="1"/>
          <p:nvPr/>
        </p:nvSpPr>
        <p:spPr>
          <a:xfrm>
            <a:off x="8594825" y="3810762"/>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6" name="Text 21"/>
          <p:cNvSpPr txBox="1"/>
          <p:nvPr/>
        </p:nvSpPr>
        <p:spPr>
          <a:xfrm>
            <a:off x="9097745" y="3737610"/>
            <a:ext cx="2468880" cy="777240"/>
          </a:xfrm>
          <a:prstGeom prst="rect">
            <a:avLst/>
          </a:prstGeom>
          <a:noFill/>
          <a:ln/>
        </p:spPr>
        <p:txBody>
          <a:bodyPr wrap="square" lIns="0" tIns="0" rIns="0" bIns="0" rtlCol="0" anchor="t"/>
          <a:lstStyle/>
          <a:p>
            <a:pPr marL="0" indent="0">
              <a:buNone/>
            </a:pPr>
            <a:r>
              <a:rPr lang="en-US" sz="1300" dirty="0">
                <a:solidFill>
                  <a:schemeClr val="tx1"/>
                </a:solidFill>
              </a:rPr>
              <a:t>Feedback y nueva versión hasta aprobar</a:t>
            </a:r>
            <a:endParaRPr lang="en-US" sz="1300" dirty="0"/>
          </a:p>
        </p:txBody>
      </p:sp>
      <p:sp>
        <p:nvSpPr>
          <p:cNvPr id="27" name="num-dot"/>
          <p:cNvSpPr/>
          <p:nvPr/>
        </p:nvSpPr>
        <p:spPr>
          <a:xfrm>
            <a:off x="8575054" y="4498848"/>
            <a:ext cx="365760" cy="365760"/>
          </a:xfrm>
          <a:prstGeom prst="ellipse">
            <a:avLst/>
          </a:prstGeom>
          <a:solidFill>
            <a:schemeClr val="tx2"/>
          </a:solidFill>
          <a:ln w="12700">
            <a:solidFill>
              <a:schemeClr val="tx2"/>
            </a:solidFill>
            <a:prstDash val="solid"/>
          </a:ln>
        </p:spPr>
        <p:txBody>
          <a:bodyPr/>
          <a:lstStyle/>
          <a:p>
            <a:endParaRPr lang="es-PE"/>
          </a:p>
        </p:txBody>
      </p:sp>
      <p:sp>
        <p:nvSpPr>
          <p:cNvPr id="28" name="Text 23"/>
          <p:cNvSpPr txBox="1"/>
          <p:nvPr/>
        </p:nvSpPr>
        <p:spPr>
          <a:xfrm>
            <a:off x="8575054" y="4498848"/>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9" name="Text 24"/>
          <p:cNvSpPr txBox="1"/>
          <p:nvPr/>
        </p:nvSpPr>
        <p:spPr>
          <a:xfrm>
            <a:off x="9077974" y="4517136"/>
            <a:ext cx="2468880" cy="388620"/>
          </a:xfrm>
          <a:prstGeom prst="rect">
            <a:avLst/>
          </a:prstGeom>
          <a:noFill/>
          <a:ln/>
        </p:spPr>
        <p:txBody>
          <a:bodyPr wrap="square" lIns="0" tIns="0" rIns="0" bIns="0" rtlCol="0" anchor="t"/>
          <a:lstStyle/>
          <a:p>
            <a:pPr marL="0" indent="0">
              <a:buNone/>
            </a:pPr>
            <a:r>
              <a:rPr lang="en-US" sz="1300" dirty="0">
                <a:solidFill>
                  <a:schemeClr val="tx1"/>
                </a:solidFill>
              </a:rPr>
              <a:t>Ajustes finos en Figma</a:t>
            </a:r>
            <a:endParaRPr lang="en-US" sz="1300" dirty="0"/>
          </a:p>
        </p:txBody>
      </p:sp>
      <p:sp>
        <p:nvSpPr>
          <p:cNvPr id="30"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
        <p:nvSpPr>
          <p:cNvPr id="31" name="num-dot">
            <a:extLst>
              <a:ext uri="{FF2B5EF4-FFF2-40B4-BE49-F238E27FC236}">
                <a16:creationId xmlns:a16="http://schemas.microsoft.com/office/drawing/2014/main" id="{F9AA2CDF-F072-6224-068B-9488523AF1CB}"/>
              </a:ext>
            </a:extLst>
          </p:cNvPr>
          <p:cNvSpPr/>
          <p:nvPr/>
        </p:nvSpPr>
        <p:spPr>
          <a:xfrm>
            <a:off x="8594825" y="5170932"/>
            <a:ext cx="365760" cy="365760"/>
          </a:xfrm>
          <a:prstGeom prst="ellipse">
            <a:avLst/>
          </a:prstGeom>
          <a:solidFill>
            <a:schemeClr val="tx2"/>
          </a:solidFill>
          <a:ln w="12700">
            <a:solidFill>
              <a:schemeClr val="tx2"/>
            </a:solidFill>
            <a:prstDash val="solid"/>
          </a:ln>
        </p:spPr>
        <p:txBody>
          <a:bodyPr/>
          <a:lstStyle/>
          <a:p>
            <a:endParaRPr lang="es-PE"/>
          </a:p>
        </p:txBody>
      </p:sp>
      <p:sp>
        <p:nvSpPr>
          <p:cNvPr id="32" name="Text 23">
            <a:extLst>
              <a:ext uri="{FF2B5EF4-FFF2-40B4-BE49-F238E27FC236}">
                <a16:creationId xmlns:a16="http://schemas.microsoft.com/office/drawing/2014/main" id="{2D5DB5FA-62AB-4FD2-1238-2D3E557CFC03}"/>
              </a:ext>
            </a:extLst>
          </p:cNvPr>
          <p:cNvSpPr txBox="1"/>
          <p:nvPr/>
        </p:nvSpPr>
        <p:spPr>
          <a:xfrm>
            <a:off x="8594825" y="5170932"/>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33" name="Text 24">
            <a:extLst>
              <a:ext uri="{FF2B5EF4-FFF2-40B4-BE49-F238E27FC236}">
                <a16:creationId xmlns:a16="http://schemas.microsoft.com/office/drawing/2014/main" id="{6BB97E54-580B-A1F6-6C66-60B50A5D6B27}"/>
              </a:ext>
            </a:extLst>
          </p:cNvPr>
          <p:cNvSpPr txBox="1"/>
          <p:nvPr/>
        </p:nvSpPr>
        <p:spPr>
          <a:xfrm>
            <a:off x="9065741" y="5212080"/>
            <a:ext cx="2468880" cy="324612"/>
          </a:xfrm>
          <a:prstGeom prst="rect">
            <a:avLst/>
          </a:prstGeom>
          <a:noFill/>
          <a:ln/>
        </p:spPr>
        <p:txBody>
          <a:bodyPr wrap="square" lIns="0" tIns="0" rIns="0" bIns="0" rtlCol="0" anchor="t"/>
          <a:lstStyle/>
          <a:p>
            <a:pPr marL="0" indent="0">
              <a:buNone/>
            </a:pPr>
            <a:r>
              <a:rPr lang="en-US" sz="1300" dirty="0" err="1"/>
              <a:t>Creación</a:t>
            </a:r>
            <a:r>
              <a:rPr lang="en-US" sz="1300" dirty="0"/>
              <a:t> de un SKILL </a:t>
            </a:r>
            <a:r>
              <a:rPr lang="en-US" sz="1300" dirty="0" err="1"/>
              <a:t>en</a:t>
            </a:r>
            <a:r>
              <a:rPr lang="en-US" sz="1300" dirty="0"/>
              <a:t> </a:t>
            </a:r>
            <a:r>
              <a:rPr lang="en-US" sz="1300" dirty="0" err="1"/>
              <a:t>claude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FLUJO DEL PACIENTE</a:t>
            </a:r>
            <a:endParaRPr lang="en-US" sz="1200" dirty="0"/>
          </a:p>
        </p:txBody>
      </p:sp>
      <p:sp>
        <p:nvSpPr>
          <p:cNvPr id="3" name="Text 0"/>
          <p:cNvSpPr>
            <a:spLocks noGrp="1"/>
          </p:cNvSpPr>
          <p:nvPr>
            <p:ph type="title" idx="101" hasCustomPrompt="1"/>
          </p:nvPr>
        </p:nvSpPr>
        <p:spPr>
          <a:xfrm>
            <a:off x="548640" y="640080"/>
            <a:ext cx="9144000" cy="731520"/>
          </a:xfrm>
          <a:prstGeom prst="rect">
            <a:avLst/>
          </a:prstGeom>
          <a:noFill/>
          <a:ln/>
        </p:spPr>
        <p:txBody>
          <a:bodyPr wrap="square" lIns="0" tIns="0" rIns="0" bIns="0" rtlCol="0" anchor="t"/>
          <a:lstStyle/>
          <a:p>
            <a:pPr marL="0" indent="0" algn="l">
              <a:buNone/>
            </a:pPr>
            <a:r>
              <a:rPr lang="en-US" sz="3600" b="1" dirty="0">
                <a:solidFill>
                  <a:schemeClr val="tx1"/>
                </a:solidFill>
              </a:rPr>
              <a:t>Reservar, pagar y confirmar en cuatro pasos</a:t>
            </a:r>
            <a:endParaRPr lang="en-US" sz="3600" dirty="0"/>
          </a:p>
        </p:txBody>
      </p:sp>
      <p:sp>
        <p:nvSpPr>
          <p:cNvPr id="6" name="shot-frame"/>
          <p:cNvSpPr/>
          <p:nvPr/>
        </p:nvSpPr>
        <p:spPr>
          <a:xfrm>
            <a:off x="512064" y="1563624"/>
            <a:ext cx="3502152" cy="2359152"/>
          </a:xfrm>
          <a:prstGeom prst="roundRect">
            <a:avLst>
              <a:gd name="adj" fmla="val 3101"/>
            </a:avLst>
          </a:prstGeom>
          <a:solidFill>
            <a:schemeClr val="bg1"/>
          </a:solidFill>
          <a:ln w="12700">
            <a:solidFill>
              <a:srgbClr val="E2E8F0"/>
            </a:solidFill>
            <a:prstDash val="solid"/>
          </a:ln>
          <a:effectLst>
            <a:outerShdw blurRad="127000" dist="25400" dir="5400000" algn="bl" rotWithShape="0">
              <a:srgbClr val="0F172A">
                <a:alpha val="12000"/>
              </a:srgbClr>
            </a:outerShdw>
          </a:effectLst>
        </p:spPr>
        <p:txBody>
          <a:bodyPr/>
          <a:lstStyle/>
          <a:p>
            <a:endParaRPr lang="es-PE"/>
          </a:p>
        </p:txBody>
      </p:sp>
      <p:pic>
        <p:nvPicPr>
          <p:cNvPr id="7" name="shot-P2 · Reservar cita" descr="P2 · Reservar cita"/>
          <p:cNvPicPr>
            <a:picLocks noChangeAspect="1"/>
          </p:cNvPicPr>
          <p:nvPr/>
        </p:nvPicPr>
        <p:blipFill>
          <a:blip r:embed="rId3"/>
          <a:stretch>
            <a:fillRect/>
          </a:stretch>
        </p:blipFill>
        <p:spPr>
          <a:xfrm>
            <a:off x="548640" y="1600200"/>
            <a:ext cx="3429000" cy="2286000"/>
          </a:xfrm>
          <a:prstGeom prst="rect">
            <a:avLst/>
          </a:prstGeom>
        </p:spPr>
      </p:pic>
      <p:sp>
        <p:nvSpPr>
          <p:cNvPr id="8" name="num-dot"/>
          <p:cNvSpPr/>
          <p:nvPr/>
        </p:nvSpPr>
        <p:spPr>
          <a:xfrm>
            <a:off x="438912" y="1490472"/>
            <a:ext cx="384048" cy="384048"/>
          </a:xfrm>
          <a:prstGeom prst="ellipse">
            <a:avLst/>
          </a:prstGeom>
          <a:solidFill>
            <a:schemeClr val="tx2"/>
          </a:solidFill>
          <a:ln w="12700">
            <a:solidFill>
              <a:schemeClr val="tx2"/>
            </a:solidFill>
            <a:prstDash val="solid"/>
          </a:ln>
        </p:spPr>
        <p:txBody>
          <a:bodyPr/>
          <a:lstStyle/>
          <a:p>
            <a:endParaRPr lang="es-PE"/>
          </a:p>
        </p:txBody>
      </p:sp>
      <p:sp>
        <p:nvSpPr>
          <p:cNvPr id="9" name="Text 6"/>
          <p:cNvSpPr txBox="1"/>
          <p:nvPr/>
        </p:nvSpPr>
        <p:spPr>
          <a:xfrm>
            <a:off x="438912" y="149047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0" name="shot-frame"/>
          <p:cNvSpPr/>
          <p:nvPr/>
        </p:nvSpPr>
        <p:spPr>
          <a:xfrm>
            <a:off x="4215384" y="1563624"/>
            <a:ext cx="3502152" cy="2359152"/>
          </a:xfrm>
          <a:prstGeom prst="roundRect">
            <a:avLst>
              <a:gd name="adj" fmla="val 3101"/>
            </a:avLst>
          </a:prstGeom>
          <a:solidFill>
            <a:schemeClr val="bg1"/>
          </a:solidFill>
          <a:ln w="12700">
            <a:solidFill>
              <a:srgbClr val="E2E8F0"/>
            </a:solidFill>
            <a:prstDash val="solid"/>
          </a:ln>
          <a:effectLst>
            <a:outerShdw blurRad="127000" dist="25400" dir="5400000" algn="bl" rotWithShape="0">
              <a:srgbClr val="0F172A">
                <a:alpha val="12000"/>
              </a:srgbClr>
            </a:outerShdw>
          </a:effectLst>
        </p:spPr>
        <p:txBody>
          <a:bodyPr/>
          <a:lstStyle/>
          <a:p>
            <a:endParaRPr lang="es-PE"/>
          </a:p>
        </p:txBody>
      </p:sp>
      <p:pic>
        <p:nvPicPr>
          <p:cNvPr id="11" name="shot-P3 · Pago Yape simulado" descr="P3 · Pago Yape simulado"/>
          <p:cNvPicPr>
            <a:picLocks noChangeAspect="1"/>
          </p:cNvPicPr>
          <p:nvPr/>
        </p:nvPicPr>
        <p:blipFill>
          <a:blip r:embed="rId4"/>
          <a:stretch>
            <a:fillRect/>
          </a:stretch>
        </p:blipFill>
        <p:spPr>
          <a:xfrm>
            <a:off x="4251960" y="1600200"/>
            <a:ext cx="3429000" cy="2286000"/>
          </a:xfrm>
          <a:prstGeom prst="rect">
            <a:avLst/>
          </a:prstGeom>
        </p:spPr>
      </p:pic>
      <p:sp>
        <p:nvSpPr>
          <p:cNvPr id="12" name="num-dot"/>
          <p:cNvSpPr/>
          <p:nvPr/>
        </p:nvSpPr>
        <p:spPr>
          <a:xfrm>
            <a:off x="4142232" y="1490472"/>
            <a:ext cx="384048" cy="384048"/>
          </a:xfrm>
          <a:prstGeom prst="ellipse">
            <a:avLst/>
          </a:prstGeom>
          <a:solidFill>
            <a:schemeClr val="tx2"/>
          </a:solidFill>
          <a:ln w="12700">
            <a:solidFill>
              <a:schemeClr val="tx2"/>
            </a:solidFill>
            <a:prstDash val="solid"/>
          </a:ln>
        </p:spPr>
        <p:txBody>
          <a:bodyPr/>
          <a:lstStyle/>
          <a:p>
            <a:endParaRPr lang="es-PE"/>
          </a:p>
        </p:txBody>
      </p:sp>
      <p:sp>
        <p:nvSpPr>
          <p:cNvPr id="13" name="Text 9"/>
          <p:cNvSpPr txBox="1"/>
          <p:nvPr/>
        </p:nvSpPr>
        <p:spPr>
          <a:xfrm>
            <a:off x="4142232" y="149047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4" name="shot-frame"/>
          <p:cNvSpPr/>
          <p:nvPr/>
        </p:nvSpPr>
        <p:spPr>
          <a:xfrm>
            <a:off x="512064" y="3941064"/>
            <a:ext cx="3502152" cy="2359152"/>
          </a:xfrm>
          <a:prstGeom prst="roundRect">
            <a:avLst>
              <a:gd name="adj" fmla="val 3101"/>
            </a:avLst>
          </a:prstGeom>
          <a:solidFill>
            <a:schemeClr val="bg1"/>
          </a:solidFill>
          <a:ln w="12700">
            <a:solidFill>
              <a:srgbClr val="E2E8F0"/>
            </a:solidFill>
            <a:prstDash val="solid"/>
          </a:ln>
          <a:effectLst>
            <a:outerShdw blurRad="127000" dist="25400" dir="5400000" algn="bl" rotWithShape="0">
              <a:srgbClr val="0F172A">
                <a:alpha val="12000"/>
              </a:srgbClr>
            </a:outerShdw>
          </a:effectLst>
        </p:spPr>
        <p:txBody>
          <a:bodyPr/>
          <a:lstStyle/>
          <a:p>
            <a:endParaRPr lang="es-PE"/>
          </a:p>
        </p:txBody>
      </p:sp>
      <p:pic>
        <p:nvPicPr>
          <p:cNvPr id="15" name="shot-P4 · Confirmación" descr="P4 · Confirmación"/>
          <p:cNvPicPr>
            <a:picLocks noChangeAspect="1"/>
          </p:cNvPicPr>
          <p:nvPr/>
        </p:nvPicPr>
        <p:blipFill>
          <a:blip r:embed="rId5"/>
          <a:stretch>
            <a:fillRect/>
          </a:stretch>
        </p:blipFill>
        <p:spPr>
          <a:xfrm>
            <a:off x="548640" y="3977640"/>
            <a:ext cx="3429000" cy="2286000"/>
          </a:xfrm>
          <a:prstGeom prst="rect">
            <a:avLst/>
          </a:prstGeom>
        </p:spPr>
      </p:pic>
      <p:sp>
        <p:nvSpPr>
          <p:cNvPr id="16" name="num-dot"/>
          <p:cNvSpPr/>
          <p:nvPr/>
        </p:nvSpPr>
        <p:spPr>
          <a:xfrm>
            <a:off x="438912" y="3867912"/>
            <a:ext cx="384048" cy="384048"/>
          </a:xfrm>
          <a:prstGeom prst="ellipse">
            <a:avLst/>
          </a:prstGeom>
          <a:solidFill>
            <a:schemeClr val="tx2"/>
          </a:solidFill>
          <a:ln w="12700">
            <a:solidFill>
              <a:schemeClr val="tx2"/>
            </a:solidFill>
            <a:prstDash val="solid"/>
          </a:ln>
        </p:spPr>
        <p:txBody>
          <a:bodyPr/>
          <a:lstStyle/>
          <a:p>
            <a:endParaRPr lang="es-PE"/>
          </a:p>
        </p:txBody>
      </p:sp>
      <p:sp>
        <p:nvSpPr>
          <p:cNvPr id="17" name="Text 12"/>
          <p:cNvSpPr txBox="1"/>
          <p:nvPr/>
        </p:nvSpPr>
        <p:spPr>
          <a:xfrm>
            <a:off x="438912" y="386791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8" name="shot-frame"/>
          <p:cNvSpPr/>
          <p:nvPr/>
        </p:nvSpPr>
        <p:spPr>
          <a:xfrm>
            <a:off x="4215384" y="3941064"/>
            <a:ext cx="3502152" cy="2359152"/>
          </a:xfrm>
          <a:prstGeom prst="roundRect">
            <a:avLst>
              <a:gd name="adj" fmla="val 3101"/>
            </a:avLst>
          </a:prstGeom>
          <a:solidFill>
            <a:schemeClr val="bg1"/>
          </a:solidFill>
          <a:ln w="12700">
            <a:solidFill>
              <a:srgbClr val="E2E8F0"/>
            </a:solidFill>
            <a:prstDash val="solid"/>
          </a:ln>
          <a:effectLst>
            <a:outerShdw blurRad="127000" dist="25400" dir="5400000" algn="bl" rotWithShape="0">
              <a:srgbClr val="0F172A">
                <a:alpha val="12000"/>
              </a:srgbClr>
            </a:outerShdw>
          </a:effectLst>
        </p:spPr>
        <p:txBody>
          <a:bodyPr/>
          <a:lstStyle/>
          <a:p>
            <a:endParaRPr lang="es-PE"/>
          </a:p>
        </p:txBody>
      </p:sp>
      <p:pic>
        <p:nvPicPr>
          <p:cNvPr id="19" name="shot-P5 · Mis citas" descr="P5 · Mis citas"/>
          <p:cNvPicPr>
            <a:picLocks noChangeAspect="1"/>
          </p:cNvPicPr>
          <p:nvPr/>
        </p:nvPicPr>
        <p:blipFill>
          <a:blip r:embed="rId6"/>
          <a:stretch>
            <a:fillRect/>
          </a:stretch>
        </p:blipFill>
        <p:spPr>
          <a:xfrm>
            <a:off x="4251960" y="3977640"/>
            <a:ext cx="3429000" cy="2286000"/>
          </a:xfrm>
          <a:prstGeom prst="rect">
            <a:avLst/>
          </a:prstGeom>
        </p:spPr>
      </p:pic>
      <p:sp>
        <p:nvSpPr>
          <p:cNvPr id="20" name="num-dot"/>
          <p:cNvSpPr/>
          <p:nvPr/>
        </p:nvSpPr>
        <p:spPr>
          <a:xfrm>
            <a:off x="4142232" y="3867912"/>
            <a:ext cx="384048" cy="384048"/>
          </a:xfrm>
          <a:prstGeom prst="ellipse">
            <a:avLst/>
          </a:prstGeom>
          <a:solidFill>
            <a:schemeClr val="tx2"/>
          </a:solidFill>
          <a:ln w="12700">
            <a:solidFill>
              <a:schemeClr val="tx2"/>
            </a:solidFill>
            <a:prstDash val="solid"/>
          </a:ln>
        </p:spPr>
        <p:txBody>
          <a:bodyPr/>
          <a:lstStyle/>
          <a:p>
            <a:endParaRPr lang="es-PE"/>
          </a:p>
        </p:txBody>
      </p:sp>
      <p:sp>
        <p:nvSpPr>
          <p:cNvPr id="21" name="Text 15"/>
          <p:cNvSpPr txBox="1"/>
          <p:nvPr/>
        </p:nvSpPr>
        <p:spPr>
          <a:xfrm>
            <a:off x="4142232" y="386791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2" name="leyenda"/>
          <p:cNvSpPr/>
          <p:nvPr/>
        </p:nvSpPr>
        <p:spPr>
          <a:xfrm>
            <a:off x="8183880" y="1600200"/>
            <a:ext cx="3456432" cy="4526280"/>
          </a:xfrm>
          <a:prstGeom prst="roundRect">
            <a:avLst>
              <a:gd name="adj" fmla="val 3175"/>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23" name="num-dot"/>
          <p:cNvSpPr/>
          <p:nvPr/>
        </p:nvSpPr>
        <p:spPr>
          <a:xfrm>
            <a:off x="8366760" y="1801368"/>
            <a:ext cx="329184" cy="329184"/>
          </a:xfrm>
          <a:prstGeom prst="ellipse">
            <a:avLst/>
          </a:prstGeom>
          <a:solidFill>
            <a:schemeClr val="tx2"/>
          </a:solidFill>
          <a:ln w="12700">
            <a:solidFill>
              <a:schemeClr val="tx2"/>
            </a:solidFill>
            <a:prstDash val="solid"/>
          </a:ln>
        </p:spPr>
        <p:txBody>
          <a:bodyPr/>
          <a:lstStyle/>
          <a:p>
            <a:endParaRPr lang="es-PE"/>
          </a:p>
        </p:txBody>
      </p:sp>
      <p:sp>
        <p:nvSpPr>
          <p:cNvPr id="24" name="Text 18"/>
          <p:cNvSpPr txBox="1"/>
          <p:nvPr/>
        </p:nvSpPr>
        <p:spPr>
          <a:xfrm>
            <a:off x="8366760" y="1801368"/>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5" name="Text 19"/>
          <p:cNvSpPr txBox="1"/>
          <p:nvPr/>
        </p:nvSpPr>
        <p:spPr>
          <a:xfrm>
            <a:off x="8823960" y="1783080"/>
            <a:ext cx="1508760" cy="274320"/>
          </a:xfrm>
          <a:prstGeom prst="rect">
            <a:avLst/>
          </a:prstGeom>
          <a:noFill/>
          <a:ln/>
        </p:spPr>
        <p:txBody>
          <a:bodyPr wrap="square" lIns="0" tIns="0" rIns="0" bIns="0" rtlCol="0" anchor="ctr"/>
          <a:lstStyle/>
          <a:p>
            <a:pPr marL="0" indent="0">
              <a:buNone/>
            </a:pPr>
            <a:r>
              <a:rPr lang="en-US" sz="1400" b="1" dirty="0">
                <a:solidFill>
                  <a:schemeClr val="tx1"/>
                </a:solidFill>
              </a:rPr>
              <a:t>P2 · Reservar</a:t>
            </a:r>
            <a:endParaRPr lang="en-US" sz="1400" dirty="0"/>
          </a:p>
        </p:txBody>
      </p:sp>
      <p:sp>
        <p:nvSpPr>
          <p:cNvPr id="26" name="Text 20"/>
          <p:cNvSpPr txBox="1"/>
          <p:nvPr/>
        </p:nvSpPr>
        <p:spPr>
          <a:xfrm>
            <a:off x="8823960" y="2112264"/>
            <a:ext cx="2697480" cy="594360"/>
          </a:xfrm>
          <a:prstGeom prst="rect">
            <a:avLst/>
          </a:prstGeom>
          <a:noFill/>
          <a:ln/>
        </p:spPr>
        <p:txBody>
          <a:bodyPr wrap="square" lIns="0" tIns="0" rIns="0" bIns="0" rtlCol="0" anchor="t"/>
          <a:lstStyle/>
          <a:p>
            <a:pPr marL="0" indent="0">
              <a:buNone/>
            </a:pPr>
            <a:r>
              <a:rPr lang="en-US" sz="1200" dirty="0">
                <a:solidFill>
                  <a:schemeClr val="accent6"/>
                </a:solidFill>
              </a:rPr>
              <a:t>Detecta nuevo/control, muestra solo bloques libres y aparta 15 min</a:t>
            </a:r>
            <a:endParaRPr lang="en-US" sz="1200" dirty="0"/>
          </a:p>
        </p:txBody>
      </p:sp>
      <p:sp>
        <p:nvSpPr>
          <p:cNvPr id="28" name="num-dot"/>
          <p:cNvSpPr/>
          <p:nvPr/>
        </p:nvSpPr>
        <p:spPr>
          <a:xfrm>
            <a:off x="8366760" y="2880360"/>
            <a:ext cx="329184" cy="329184"/>
          </a:xfrm>
          <a:prstGeom prst="ellipse">
            <a:avLst/>
          </a:prstGeom>
          <a:solidFill>
            <a:schemeClr val="tx2"/>
          </a:solidFill>
          <a:ln w="12700">
            <a:solidFill>
              <a:schemeClr val="tx2"/>
            </a:solidFill>
            <a:prstDash val="solid"/>
          </a:ln>
        </p:spPr>
        <p:txBody>
          <a:bodyPr/>
          <a:lstStyle/>
          <a:p>
            <a:endParaRPr lang="es-PE"/>
          </a:p>
        </p:txBody>
      </p:sp>
      <p:sp>
        <p:nvSpPr>
          <p:cNvPr id="29" name="Text 23"/>
          <p:cNvSpPr txBox="1"/>
          <p:nvPr/>
        </p:nvSpPr>
        <p:spPr>
          <a:xfrm>
            <a:off x="8366760" y="2880360"/>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30" name="Text 24"/>
          <p:cNvSpPr txBox="1"/>
          <p:nvPr/>
        </p:nvSpPr>
        <p:spPr>
          <a:xfrm>
            <a:off x="8823960" y="2862072"/>
            <a:ext cx="1508760" cy="274320"/>
          </a:xfrm>
          <a:prstGeom prst="rect">
            <a:avLst/>
          </a:prstGeom>
          <a:noFill/>
          <a:ln/>
        </p:spPr>
        <p:txBody>
          <a:bodyPr wrap="square" lIns="0" tIns="0" rIns="0" bIns="0" rtlCol="0" anchor="ctr"/>
          <a:lstStyle/>
          <a:p>
            <a:pPr marL="0" indent="0">
              <a:buNone/>
            </a:pPr>
            <a:r>
              <a:rPr lang="en-US" sz="1400" b="1" dirty="0">
                <a:solidFill>
                  <a:schemeClr val="tx1"/>
                </a:solidFill>
              </a:rPr>
              <a:t>P3 · Pago Yape</a:t>
            </a:r>
            <a:endParaRPr lang="en-US" sz="1400" dirty="0"/>
          </a:p>
        </p:txBody>
      </p:sp>
      <p:sp>
        <p:nvSpPr>
          <p:cNvPr id="31" name="Text 25"/>
          <p:cNvSpPr txBox="1"/>
          <p:nvPr/>
        </p:nvSpPr>
        <p:spPr>
          <a:xfrm>
            <a:off x="8823960" y="3191256"/>
            <a:ext cx="2697480" cy="594360"/>
          </a:xfrm>
          <a:prstGeom prst="rect">
            <a:avLst/>
          </a:prstGeom>
          <a:noFill/>
          <a:ln/>
        </p:spPr>
        <p:txBody>
          <a:bodyPr wrap="square" lIns="0" tIns="0" rIns="0" bIns="0" rtlCol="0" anchor="t"/>
          <a:lstStyle/>
          <a:p>
            <a:pPr marL="0" indent="0">
              <a:buNone/>
            </a:pPr>
            <a:r>
              <a:rPr lang="en-US" sz="1200" dirty="0">
                <a:solidFill>
                  <a:schemeClr val="accent6"/>
                </a:solidFill>
              </a:rPr>
              <a:t>Monto, QR de ejemplo, contador y constancia obligatoria</a:t>
            </a:r>
            <a:endParaRPr lang="en-US" sz="1200" dirty="0"/>
          </a:p>
        </p:txBody>
      </p:sp>
      <p:sp>
        <p:nvSpPr>
          <p:cNvPr id="33" name="num-dot"/>
          <p:cNvSpPr/>
          <p:nvPr/>
        </p:nvSpPr>
        <p:spPr>
          <a:xfrm>
            <a:off x="8366760" y="3959352"/>
            <a:ext cx="329184" cy="329184"/>
          </a:xfrm>
          <a:prstGeom prst="ellipse">
            <a:avLst/>
          </a:prstGeom>
          <a:solidFill>
            <a:schemeClr val="tx2"/>
          </a:solidFill>
          <a:ln w="12700">
            <a:solidFill>
              <a:schemeClr val="tx2"/>
            </a:solidFill>
            <a:prstDash val="solid"/>
          </a:ln>
        </p:spPr>
        <p:txBody>
          <a:bodyPr/>
          <a:lstStyle/>
          <a:p>
            <a:endParaRPr lang="es-PE"/>
          </a:p>
        </p:txBody>
      </p:sp>
      <p:sp>
        <p:nvSpPr>
          <p:cNvPr id="34" name="Text 28"/>
          <p:cNvSpPr txBox="1"/>
          <p:nvPr/>
        </p:nvSpPr>
        <p:spPr>
          <a:xfrm>
            <a:off x="8366760" y="3959352"/>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35" name="Text 29"/>
          <p:cNvSpPr txBox="1"/>
          <p:nvPr/>
        </p:nvSpPr>
        <p:spPr>
          <a:xfrm>
            <a:off x="8823960" y="3941064"/>
            <a:ext cx="1508760" cy="274320"/>
          </a:xfrm>
          <a:prstGeom prst="rect">
            <a:avLst/>
          </a:prstGeom>
          <a:noFill/>
          <a:ln/>
        </p:spPr>
        <p:txBody>
          <a:bodyPr wrap="square" lIns="0" tIns="0" rIns="0" bIns="0" rtlCol="0" anchor="ctr"/>
          <a:lstStyle/>
          <a:p>
            <a:pPr marL="0" indent="0">
              <a:buNone/>
            </a:pPr>
            <a:r>
              <a:rPr lang="en-US" sz="1400" b="1" dirty="0">
                <a:solidFill>
                  <a:schemeClr val="tx1"/>
                </a:solidFill>
              </a:rPr>
              <a:t>P4 · Confirmación</a:t>
            </a:r>
            <a:endParaRPr lang="en-US" sz="1400" dirty="0"/>
          </a:p>
        </p:txBody>
      </p:sp>
      <p:sp>
        <p:nvSpPr>
          <p:cNvPr id="36" name="Text 30"/>
          <p:cNvSpPr txBox="1"/>
          <p:nvPr/>
        </p:nvSpPr>
        <p:spPr>
          <a:xfrm>
            <a:off x="8823960" y="4270248"/>
            <a:ext cx="2697480" cy="594360"/>
          </a:xfrm>
          <a:prstGeom prst="rect">
            <a:avLst/>
          </a:prstGeom>
          <a:noFill/>
          <a:ln/>
        </p:spPr>
        <p:txBody>
          <a:bodyPr wrap="square" lIns="0" tIns="0" rIns="0" bIns="0" rtlCol="0" anchor="t"/>
          <a:lstStyle/>
          <a:p>
            <a:pPr marL="0" indent="0">
              <a:buNone/>
            </a:pPr>
            <a:r>
              <a:rPr lang="en-US" sz="1200" dirty="0">
                <a:solidFill>
                  <a:schemeClr val="accent6"/>
                </a:solidFill>
              </a:rPr>
              <a:t>Datos de la cita y descarga en PDF</a:t>
            </a:r>
            <a:endParaRPr lang="en-US" sz="1200" dirty="0"/>
          </a:p>
        </p:txBody>
      </p:sp>
      <p:sp>
        <p:nvSpPr>
          <p:cNvPr id="38" name="num-dot"/>
          <p:cNvSpPr/>
          <p:nvPr/>
        </p:nvSpPr>
        <p:spPr>
          <a:xfrm>
            <a:off x="8366760" y="5038344"/>
            <a:ext cx="329184" cy="329184"/>
          </a:xfrm>
          <a:prstGeom prst="ellipse">
            <a:avLst/>
          </a:prstGeom>
          <a:solidFill>
            <a:schemeClr val="tx2"/>
          </a:solidFill>
          <a:ln w="12700">
            <a:solidFill>
              <a:schemeClr val="tx2"/>
            </a:solidFill>
            <a:prstDash val="solid"/>
          </a:ln>
        </p:spPr>
        <p:txBody>
          <a:bodyPr/>
          <a:lstStyle/>
          <a:p>
            <a:endParaRPr lang="es-PE"/>
          </a:p>
        </p:txBody>
      </p:sp>
      <p:sp>
        <p:nvSpPr>
          <p:cNvPr id="39" name="Text 33"/>
          <p:cNvSpPr txBox="1"/>
          <p:nvPr/>
        </p:nvSpPr>
        <p:spPr>
          <a:xfrm>
            <a:off x="8366760" y="5038344"/>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40" name="Text 34"/>
          <p:cNvSpPr txBox="1"/>
          <p:nvPr/>
        </p:nvSpPr>
        <p:spPr>
          <a:xfrm>
            <a:off x="8823960" y="5020056"/>
            <a:ext cx="1508760" cy="274320"/>
          </a:xfrm>
          <a:prstGeom prst="rect">
            <a:avLst/>
          </a:prstGeom>
          <a:noFill/>
          <a:ln/>
        </p:spPr>
        <p:txBody>
          <a:bodyPr wrap="square" lIns="0" tIns="0" rIns="0" bIns="0" rtlCol="0" anchor="ctr"/>
          <a:lstStyle/>
          <a:p>
            <a:pPr marL="0" indent="0">
              <a:buNone/>
            </a:pPr>
            <a:r>
              <a:rPr lang="en-US" sz="1400" b="1" dirty="0">
                <a:solidFill>
                  <a:schemeClr val="tx1"/>
                </a:solidFill>
              </a:rPr>
              <a:t>P5 · Mis citas</a:t>
            </a:r>
            <a:endParaRPr lang="en-US" sz="1400" dirty="0"/>
          </a:p>
        </p:txBody>
      </p:sp>
      <p:sp>
        <p:nvSpPr>
          <p:cNvPr id="41" name="Text 35"/>
          <p:cNvSpPr txBox="1"/>
          <p:nvPr/>
        </p:nvSpPr>
        <p:spPr>
          <a:xfrm>
            <a:off x="8823960" y="5349240"/>
            <a:ext cx="2697480" cy="594360"/>
          </a:xfrm>
          <a:prstGeom prst="rect">
            <a:avLst/>
          </a:prstGeom>
          <a:noFill/>
          <a:ln/>
        </p:spPr>
        <p:txBody>
          <a:bodyPr wrap="square" lIns="0" tIns="0" rIns="0" bIns="0" rtlCol="0" anchor="t"/>
          <a:lstStyle/>
          <a:p>
            <a:pPr marL="0" indent="0">
              <a:buNone/>
            </a:pPr>
            <a:r>
              <a:rPr lang="en-US" sz="1200" dirty="0">
                <a:solidFill>
                  <a:schemeClr val="accent6"/>
                </a:solidFill>
              </a:rPr>
              <a:t>Historial y acciones según el estado</a:t>
            </a:r>
            <a:endParaRPr lang="en-US" sz="1200" dirty="0"/>
          </a:p>
        </p:txBody>
      </p:sp>
      <p:sp>
        <p:nvSpPr>
          <p:cNvPr id="4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A3A0585-EA4B-87C5-9388-9AFAA86B7563}"/>
              </a:ext>
            </a:extLst>
          </p:cNvPr>
          <p:cNvSpPr>
            <a:spLocks noGrp="1"/>
          </p:cNvSpPr>
          <p:nvPr>
            <p:ph type="body" idx="100"/>
          </p:nvPr>
        </p:nvSpPr>
        <p:spPr/>
        <p:txBody>
          <a:bodyPr/>
          <a:lstStyle/>
          <a:p>
            <a:r>
              <a:rPr lang="en-US" dirty="0"/>
              <a:t>FLUJO DEL PACIENTE</a:t>
            </a:r>
          </a:p>
        </p:txBody>
      </p:sp>
      <p:sp>
        <p:nvSpPr>
          <p:cNvPr id="3" name="Título 2">
            <a:extLst>
              <a:ext uri="{FF2B5EF4-FFF2-40B4-BE49-F238E27FC236}">
                <a16:creationId xmlns:a16="http://schemas.microsoft.com/office/drawing/2014/main" id="{46FF1006-E2AE-4BFE-F2F2-08C20CC8C6E1}"/>
              </a:ext>
            </a:extLst>
          </p:cNvPr>
          <p:cNvSpPr>
            <a:spLocks noGrp="1"/>
          </p:cNvSpPr>
          <p:nvPr>
            <p:ph type="title" idx="101"/>
          </p:nvPr>
        </p:nvSpPr>
        <p:spPr/>
        <p:txBody>
          <a:bodyPr/>
          <a:lstStyle/>
          <a:p>
            <a:r>
              <a:rPr lang="en-US" dirty="0" err="1"/>
              <a:t>Reservar</a:t>
            </a:r>
            <a:endParaRPr lang="es-PE" dirty="0"/>
          </a:p>
        </p:txBody>
      </p:sp>
      <p:pic>
        <p:nvPicPr>
          <p:cNvPr id="4" name="shot-P2 · Reservar cita" descr="P2 · Reservar cita">
            <a:extLst>
              <a:ext uri="{FF2B5EF4-FFF2-40B4-BE49-F238E27FC236}">
                <a16:creationId xmlns:a16="http://schemas.microsoft.com/office/drawing/2014/main" id="{FAEAB656-814D-FC79-38E1-6750400EE5AC}"/>
              </a:ext>
            </a:extLst>
          </p:cNvPr>
          <p:cNvPicPr>
            <a:picLocks noChangeAspect="1"/>
          </p:cNvPicPr>
          <p:nvPr/>
        </p:nvPicPr>
        <p:blipFill>
          <a:blip r:embed="rId2"/>
          <a:stretch>
            <a:fillRect/>
          </a:stretch>
        </p:blipFill>
        <p:spPr>
          <a:xfrm>
            <a:off x="3047999" y="0"/>
            <a:ext cx="9144001" cy="6096000"/>
          </a:xfrm>
          <a:prstGeom prst="rect">
            <a:avLst/>
          </a:prstGeom>
        </p:spPr>
      </p:pic>
    </p:spTree>
    <p:extLst>
      <p:ext uri="{BB962C8B-B14F-4D97-AF65-F5344CB8AC3E}">
        <p14:creationId xmlns:p14="http://schemas.microsoft.com/office/powerpoint/2010/main" val="1836015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634E0-903C-A6F4-1001-C1CBE5506F1E}"/>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BC22E2E7-D824-5A51-9DB9-D6A79DB49C2F}"/>
              </a:ext>
            </a:extLst>
          </p:cNvPr>
          <p:cNvSpPr>
            <a:spLocks noGrp="1"/>
          </p:cNvSpPr>
          <p:nvPr>
            <p:ph type="body" idx="100"/>
          </p:nvPr>
        </p:nvSpPr>
        <p:spPr/>
        <p:txBody>
          <a:bodyPr/>
          <a:lstStyle/>
          <a:p>
            <a:r>
              <a:rPr lang="en-US" dirty="0"/>
              <a:t>FLUJO DEL PACIENTE</a:t>
            </a:r>
          </a:p>
        </p:txBody>
      </p:sp>
      <p:sp>
        <p:nvSpPr>
          <p:cNvPr id="3" name="Título 2">
            <a:extLst>
              <a:ext uri="{FF2B5EF4-FFF2-40B4-BE49-F238E27FC236}">
                <a16:creationId xmlns:a16="http://schemas.microsoft.com/office/drawing/2014/main" id="{53D2D924-2293-1CD1-B197-8C73A549EEE8}"/>
              </a:ext>
            </a:extLst>
          </p:cNvPr>
          <p:cNvSpPr>
            <a:spLocks noGrp="1"/>
          </p:cNvSpPr>
          <p:nvPr>
            <p:ph type="title" idx="101"/>
          </p:nvPr>
        </p:nvSpPr>
        <p:spPr/>
        <p:txBody>
          <a:bodyPr/>
          <a:lstStyle/>
          <a:p>
            <a:r>
              <a:rPr lang="en-US" dirty="0"/>
              <a:t>Paga </a:t>
            </a:r>
            <a:r>
              <a:rPr lang="en-US" dirty="0" err="1"/>
              <a:t>tu</a:t>
            </a:r>
            <a:r>
              <a:rPr lang="en-US" dirty="0"/>
              <a:t> </a:t>
            </a:r>
            <a:r>
              <a:rPr lang="en-US" dirty="0" err="1"/>
              <a:t>cita</a:t>
            </a:r>
            <a:endParaRPr lang="es-PE" dirty="0"/>
          </a:p>
        </p:txBody>
      </p:sp>
      <p:pic>
        <p:nvPicPr>
          <p:cNvPr id="5" name="shot-P3 · Pago Yape simulado" descr="P3 · Pago Yape simulado">
            <a:extLst>
              <a:ext uri="{FF2B5EF4-FFF2-40B4-BE49-F238E27FC236}">
                <a16:creationId xmlns:a16="http://schemas.microsoft.com/office/drawing/2014/main" id="{53D6B5F0-53A4-FC2C-5BFA-27296337D73C}"/>
              </a:ext>
            </a:extLst>
          </p:cNvPr>
          <p:cNvPicPr>
            <a:picLocks noChangeAspect="1"/>
          </p:cNvPicPr>
          <p:nvPr/>
        </p:nvPicPr>
        <p:blipFill>
          <a:blip r:embed="rId2"/>
          <a:stretch>
            <a:fillRect/>
          </a:stretch>
        </p:blipFill>
        <p:spPr>
          <a:xfrm>
            <a:off x="2973857" y="-1"/>
            <a:ext cx="9218143" cy="6145428"/>
          </a:xfrm>
          <a:prstGeom prst="rect">
            <a:avLst/>
          </a:prstGeom>
        </p:spPr>
      </p:pic>
    </p:spTree>
    <p:extLst>
      <p:ext uri="{BB962C8B-B14F-4D97-AF65-F5344CB8AC3E}">
        <p14:creationId xmlns:p14="http://schemas.microsoft.com/office/powerpoint/2010/main" val="555366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E0FAC-9ED4-364C-25B1-D8ACB969EECE}"/>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B2D96782-B4FE-314F-A95B-E68B209C0A9C}"/>
              </a:ext>
            </a:extLst>
          </p:cNvPr>
          <p:cNvSpPr>
            <a:spLocks noGrp="1"/>
          </p:cNvSpPr>
          <p:nvPr>
            <p:ph type="body" idx="100"/>
          </p:nvPr>
        </p:nvSpPr>
        <p:spPr/>
        <p:txBody>
          <a:bodyPr/>
          <a:lstStyle/>
          <a:p>
            <a:r>
              <a:rPr lang="en-US" dirty="0"/>
              <a:t>FLUJO DEL PACIENTE</a:t>
            </a:r>
          </a:p>
        </p:txBody>
      </p:sp>
      <p:sp>
        <p:nvSpPr>
          <p:cNvPr id="3" name="Título 2">
            <a:extLst>
              <a:ext uri="{FF2B5EF4-FFF2-40B4-BE49-F238E27FC236}">
                <a16:creationId xmlns:a16="http://schemas.microsoft.com/office/drawing/2014/main" id="{B3A6D97C-E637-09DE-282F-E3B1323826B9}"/>
              </a:ext>
            </a:extLst>
          </p:cNvPr>
          <p:cNvSpPr>
            <a:spLocks noGrp="1"/>
          </p:cNvSpPr>
          <p:nvPr>
            <p:ph type="title" idx="101"/>
          </p:nvPr>
        </p:nvSpPr>
        <p:spPr/>
        <p:txBody>
          <a:bodyPr/>
          <a:lstStyle/>
          <a:p>
            <a:r>
              <a:rPr lang="en-US" dirty="0"/>
              <a:t>Cita </a:t>
            </a:r>
            <a:br>
              <a:rPr lang="en-US" dirty="0"/>
            </a:br>
            <a:r>
              <a:rPr lang="en-US" dirty="0" err="1"/>
              <a:t>reservada</a:t>
            </a:r>
            <a:endParaRPr lang="es-PE" dirty="0"/>
          </a:p>
        </p:txBody>
      </p:sp>
      <p:pic>
        <p:nvPicPr>
          <p:cNvPr id="5" name="shot-P4 · Confirmación" descr="P4 · Confirmación">
            <a:extLst>
              <a:ext uri="{FF2B5EF4-FFF2-40B4-BE49-F238E27FC236}">
                <a16:creationId xmlns:a16="http://schemas.microsoft.com/office/drawing/2014/main" id="{39163F95-6696-F61B-023E-CB7682FCA785}"/>
              </a:ext>
            </a:extLst>
          </p:cNvPr>
          <p:cNvPicPr>
            <a:picLocks noChangeAspect="1"/>
          </p:cNvPicPr>
          <p:nvPr/>
        </p:nvPicPr>
        <p:blipFill>
          <a:blip r:embed="rId2"/>
          <a:stretch>
            <a:fillRect/>
          </a:stretch>
        </p:blipFill>
        <p:spPr>
          <a:xfrm>
            <a:off x="3048001" y="-1"/>
            <a:ext cx="9143999" cy="6095999"/>
          </a:xfrm>
          <a:prstGeom prst="rect">
            <a:avLst/>
          </a:prstGeom>
        </p:spPr>
      </p:pic>
    </p:spTree>
    <p:extLst>
      <p:ext uri="{BB962C8B-B14F-4D97-AF65-F5344CB8AC3E}">
        <p14:creationId xmlns:p14="http://schemas.microsoft.com/office/powerpoint/2010/main" val="1032786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393A7-29A3-0FEB-2A63-2061D28EC309}"/>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277D0E55-7B66-D119-9545-29B70B40F495}"/>
              </a:ext>
            </a:extLst>
          </p:cNvPr>
          <p:cNvSpPr>
            <a:spLocks noGrp="1"/>
          </p:cNvSpPr>
          <p:nvPr>
            <p:ph type="body" idx="100"/>
          </p:nvPr>
        </p:nvSpPr>
        <p:spPr/>
        <p:txBody>
          <a:bodyPr/>
          <a:lstStyle/>
          <a:p>
            <a:r>
              <a:rPr lang="en-US" dirty="0"/>
              <a:t>FLUJO DEL PACIENTE</a:t>
            </a:r>
          </a:p>
        </p:txBody>
      </p:sp>
      <p:sp>
        <p:nvSpPr>
          <p:cNvPr id="3" name="Título 2">
            <a:extLst>
              <a:ext uri="{FF2B5EF4-FFF2-40B4-BE49-F238E27FC236}">
                <a16:creationId xmlns:a16="http://schemas.microsoft.com/office/drawing/2014/main" id="{2E14DDD5-D261-BF94-5791-9F114291B0AC}"/>
              </a:ext>
            </a:extLst>
          </p:cNvPr>
          <p:cNvSpPr>
            <a:spLocks noGrp="1"/>
          </p:cNvSpPr>
          <p:nvPr>
            <p:ph type="title" idx="101"/>
          </p:nvPr>
        </p:nvSpPr>
        <p:spPr/>
        <p:txBody>
          <a:bodyPr/>
          <a:lstStyle/>
          <a:p>
            <a:r>
              <a:rPr lang="en-US" dirty="0"/>
              <a:t>Mis </a:t>
            </a:r>
            <a:r>
              <a:rPr lang="en-US" dirty="0" err="1"/>
              <a:t>citas</a:t>
            </a:r>
            <a:endParaRPr lang="es-PE" dirty="0"/>
          </a:p>
        </p:txBody>
      </p:sp>
      <p:pic>
        <p:nvPicPr>
          <p:cNvPr id="5" name="shot-P5 · Mis citas" descr="P5 · Mis citas">
            <a:extLst>
              <a:ext uri="{FF2B5EF4-FFF2-40B4-BE49-F238E27FC236}">
                <a16:creationId xmlns:a16="http://schemas.microsoft.com/office/drawing/2014/main" id="{0E750B7D-88FD-9EFC-9292-7FF554DE02B0}"/>
              </a:ext>
            </a:extLst>
          </p:cNvPr>
          <p:cNvPicPr>
            <a:picLocks noChangeAspect="1"/>
          </p:cNvPicPr>
          <p:nvPr/>
        </p:nvPicPr>
        <p:blipFill>
          <a:blip r:embed="rId2"/>
          <a:stretch>
            <a:fillRect/>
          </a:stretch>
        </p:blipFill>
        <p:spPr>
          <a:xfrm>
            <a:off x="3109783" y="-1"/>
            <a:ext cx="9082217" cy="6054811"/>
          </a:xfrm>
          <a:prstGeom prst="rect">
            <a:avLst/>
          </a:prstGeom>
        </p:spPr>
      </p:pic>
    </p:spTree>
    <p:extLst>
      <p:ext uri="{BB962C8B-B14F-4D97-AF65-F5344CB8AC3E}">
        <p14:creationId xmlns:p14="http://schemas.microsoft.com/office/powerpoint/2010/main" val="4181993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FLUJO DEL MÉDICO</a:t>
            </a:r>
            <a:endParaRPr lang="en-US" sz="1200" dirty="0"/>
          </a:p>
        </p:txBody>
      </p:sp>
      <p:sp>
        <p:nvSpPr>
          <p:cNvPr id="3" name="Text 0"/>
          <p:cNvSpPr>
            <a:spLocks noGrp="1"/>
          </p:cNvSpPr>
          <p:nvPr>
            <p:ph type="title" idx="101" hasCustomPrompt="1"/>
          </p:nvPr>
        </p:nvSpPr>
        <p:spPr>
          <a:xfrm>
            <a:off x="548640" y="640080"/>
            <a:ext cx="9144000" cy="731520"/>
          </a:xfrm>
          <a:prstGeom prst="rect">
            <a:avLst/>
          </a:prstGeom>
          <a:noFill/>
          <a:ln/>
        </p:spPr>
        <p:txBody>
          <a:bodyPr wrap="square" lIns="0" tIns="0" rIns="0" bIns="0" rtlCol="0" anchor="t"/>
          <a:lstStyle/>
          <a:p>
            <a:pPr marL="0" indent="0" algn="l">
              <a:buNone/>
            </a:pPr>
            <a:r>
              <a:rPr lang="en-US" sz="3600" b="1" dirty="0">
                <a:solidFill>
                  <a:schemeClr val="tx1"/>
                </a:solidFill>
              </a:rPr>
              <a:t>Agenda, validación de pagos y reportes</a:t>
            </a:r>
            <a:endParaRPr lang="en-US" sz="3600" dirty="0"/>
          </a:p>
        </p:txBody>
      </p:sp>
      <p:sp>
        <p:nvSpPr>
          <p:cNvPr id="6" name="shot-frame"/>
          <p:cNvSpPr/>
          <p:nvPr/>
        </p:nvSpPr>
        <p:spPr>
          <a:xfrm>
            <a:off x="512064" y="1655064"/>
            <a:ext cx="2706624" cy="1828800"/>
          </a:xfrm>
          <a:prstGeom prst="roundRect">
            <a:avLst>
              <a:gd name="adj" fmla="val 4000"/>
            </a:avLst>
          </a:prstGeom>
          <a:solidFill>
            <a:schemeClr val="bg1"/>
          </a:solidFill>
          <a:ln w="12700">
            <a:solidFill>
              <a:srgbClr val="E2E8F0"/>
            </a:solidFill>
            <a:prstDash val="solid"/>
          </a:ln>
          <a:effectLst>
            <a:outerShdw blurRad="127000" dist="25400" dir="5400000" algn="bl" rotWithShape="0">
              <a:srgbClr val="0F172A">
                <a:alpha val="12000"/>
              </a:srgbClr>
            </a:outerShdw>
          </a:effectLst>
        </p:spPr>
        <p:txBody>
          <a:bodyPr/>
          <a:lstStyle/>
          <a:p>
            <a:endParaRPr lang="es-PE"/>
          </a:p>
        </p:txBody>
      </p:sp>
      <p:pic>
        <p:nvPicPr>
          <p:cNvPr id="7" name="shot-P7 · Agenda" descr="P7 · Agenda"/>
          <p:cNvPicPr>
            <a:picLocks noChangeAspect="1"/>
          </p:cNvPicPr>
          <p:nvPr/>
        </p:nvPicPr>
        <p:blipFill>
          <a:blip r:embed="rId3"/>
          <a:stretch>
            <a:fillRect/>
          </a:stretch>
        </p:blipFill>
        <p:spPr>
          <a:xfrm>
            <a:off x="548640" y="1691640"/>
            <a:ext cx="2633472" cy="1755648"/>
          </a:xfrm>
          <a:prstGeom prst="rect">
            <a:avLst/>
          </a:prstGeom>
        </p:spPr>
      </p:pic>
      <p:sp>
        <p:nvSpPr>
          <p:cNvPr id="8" name="Text 5"/>
          <p:cNvSpPr txBox="1"/>
          <p:nvPr/>
        </p:nvSpPr>
        <p:spPr>
          <a:xfrm>
            <a:off x="548640" y="3584448"/>
            <a:ext cx="2633472" cy="320040"/>
          </a:xfrm>
          <a:prstGeom prst="rect">
            <a:avLst/>
          </a:prstGeom>
          <a:noFill/>
          <a:ln/>
        </p:spPr>
        <p:txBody>
          <a:bodyPr wrap="square" lIns="0" tIns="0" rIns="0" bIns="0" rtlCol="0" anchor="ctr"/>
          <a:lstStyle/>
          <a:p>
            <a:pPr marL="0" indent="0">
              <a:buNone/>
            </a:pPr>
            <a:r>
              <a:rPr lang="en-US" sz="1400" b="1" dirty="0">
                <a:solidFill>
                  <a:schemeClr val="tx1"/>
                </a:solidFill>
              </a:rPr>
              <a:t>P7 · Agenda</a:t>
            </a:r>
            <a:endParaRPr lang="en-US" sz="1400" dirty="0"/>
          </a:p>
        </p:txBody>
      </p:sp>
      <p:sp>
        <p:nvSpPr>
          <p:cNvPr id="9" name="Text 6"/>
          <p:cNvSpPr txBox="1"/>
          <p:nvPr/>
        </p:nvSpPr>
        <p:spPr>
          <a:xfrm>
            <a:off x="548640" y="3950208"/>
            <a:ext cx="1051560" cy="246888"/>
          </a:xfrm>
          <a:prstGeom prst="rect">
            <a:avLst/>
          </a:prstGeom>
          <a:solidFill>
            <a:srgbClr val="D1FAE5"/>
          </a:solidFill>
          <a:ln/>
        </p:spPr>
        <p:txBody>
          <a:bodyPr wrap="square" lIns="0" tIns="0" rIns="0" bIns="0" rtlCol="0" anchor="ctr"/>
          <a:lstStyle/>
          <a:p>
            <a:pPr marL="0" indent="0" algn="ctr">
              <a:buNone/>
            </a:pPr>
            <a:r>
              <a:rPr lang="en-US" sz="1000" b="1" dirty="0">
                <a:solidFill>
                  <a:schemeClr val="tx2"/>
                </a:solidFill>
              </a:rPr>
              <a:t>Implementada</a:t>
            </a:r>
            <a:endParaRPr lang="en-US" sz="1000" dirty="0"/>
          </a:p>
        </p:txBody>
      </p:sp>
      <p:sp>
        <p:nvSpPr>
          <p:cNvPr id="10" name="shot-frame"/>
          <p:cNvSpPr/>
          <p:nvPr/>
        </p:nvSpPr>
        <p:spPr>
          <a:xfrm>
            <a:off x="3328416" y="1655064"/>
            <a:ext cx="2706624" cy="1828800"/>
          </a:xfrm>
          <a:prstGeom prst="roundRect">
            <a:avLst>
              <a:gd name="adj" fmla="val 4000"/>
            </a:avLst>
          </a:prstGeom>
          <a:solidFill>
            <a:schemeClr val="bg1"/>
          </a:solidFill>
          <a:ln w="12700">
            <a:solidFill>
              <a:srgbClr val="E2E8F0"/>
            </a:solidFill>
            <a:prstDash val="solid"/>
          </a:ln>
          <a:effectLst>
            <a:outerShdw blurRad="127000" dist="25400" dir="5400000" algn="bl" rotWithShape="0">
              <a:srgbClr val="0F172A">
                <a:alpha val="12000"/>
              </a:srgbClr>
            </a:outerShdw>
          </a:effectLst>
        </p:spPr>
        <p:txBody>
          <a:bodyPr/>
          <a:lstStyle/>
          <a:p>
            <a:endParaRPr lang="es-PE"/>
          </a:p>
        </p:txBody>
      </p:sp>
      <p:pic>
        <p:nvPicPr>
          <p:cNvPr id="11" name="shot-P8 · Detalle de cita" descr="P8 · Detalle de cita"/>
          <p:cNvPicPr>
            <a:picLocks noChangeAspect="1"/>
          </p:cNvPicPr>
          <p:nvPr/>
        </p:nvPicPr>
        <p:blipFill>
          <a:blip r:embed="rId4"/>
          <a:stretch>
            <a:fillRect/>
          </a:stretch>
        </p:blipFill>
        <p:spPr>
          <a:xfrm>
            <a:off x="3364992" y="1691640"/>
            <a:ext cx="2633472" cy="1755648"/>
          </a:xfrm>
          <a:prstGeom prst="rect">
            <a:avLst/>
          </a:prstGeom>
        </p:spPr>
      </p:pic>
      <p:sp>
        <p:nvSpPr>
          <p:cNvPr id="12" name="Text 8"/>
          <p:cNvSpPr txBox="1"/>
          <p:nvPr/>
        </p:nvSpPr>
        <p:spPr>
          <a:xfrm>
            <a:off x="3364992" y="3584448"/>
            <a:ext cx="2633472" cy="320040"/>
          </a:xfrm>
          <a:prstGeom prst="rect">
            <a:avLst/>
          </a:prstGeom>
          <a:noFill/>
          <a:ln/>
        </p:spPr>
        <p:txBody>
          <a:bodyPr wrap="square" lIns="0" tIns="0" rIns="0" bIns="0" rtlCol="0" anchor="ctr"/>
          <a:lstStyle/>
          <a:p>
            <a:pPr marL="0" indent="0">
              <a:buNone/>
            </a:pPr>
            <a:r>
              <a:rPr lang="en-US" sz="1400" b="1" dirty="0">
                <a:solidFill>
                  <a:schemeClr val="tx1"/>
                </a:solidFill>
              </a:rPr>
              <a:t>P8 · Detalle de cita</a:t>
            </a:r>
            <a:endParaRPr lang="en-US" sz="1400" dirty="0"/>
          </a:p>
        </p:txBody>
      </p:sp>
      <p:sp>
        <p:nvSpPr>
          <p:cNvPr id="13" name="Text 9"/>
          <p:cNvSpPr txBox="1"/>
          <p:nvPr/>
        </p:nvSpPr>
        <p:spPr>
          <a:xfrm>
            <a:off x="3364992" y="3950208"/>
            <a:ext cx="1051560" cy="246888"/>
          </a:xfrm>
          <a:prstGeom prst="rect">
            <a:avLst/>
          </a:prstGeom>
          <a:solidFill>
            <a:srgbClr val="FEF3C7"/>
          </a:solidFill>
          <a:ln/>
        </p:spPr>
        <p:txBody>
          <a:bodyPr wrap="square" lIns="0" tIns="0" rIns="0" bIns="0" rtlCol="0" anchor="ctr"/>
          <a:lstStyle/>
          <a:p>
            <a:pPr marL="0" indent="0" algn="ctr">
              <a:buNone/>
            </a:pPr>
            <a:r>
              <a:rPr lang="en-US" sz="1000" b="1" dirty="0">
                <a:solidFill>
                  <a:srgbClr val="92400E"/>
                </a:solidFill>
              </a:rPr>
              <a:t>Diseñada</a:t>
            </a:r>
            <a:endParaRPr lang="en-US" sz="1000" dirty="0"/>
          </a:p>
        </p:txBody>
      </p:sp>
      <p:sp>
        <p:nvSpPr>
          <p:cNvPr id="14" name="shot-frame"/>
          <p:cNvSpPr/>
          <p:nvPr/>
        </p:nvSpPr>
        <p:spPr>
          <a:xfrm>
            <a:off x="6144768" y="1655064"/>
            <a:ext cx="2706624" cy="1828800"/>
          </a:xfrm>
          <a:prstGeom prst="roundRect">
            <a:avLst>
              <a:gd name="adj" fmla="val 4000"/>
            </a:avLst>
          </a:prstGeom>
          <a:solidFill>
            <a:schemeClr val="bg1"/>
          </a:solidFill>
          <a:ln w="12700">
            <a:solidFill>
              <a:srgbClr val="E2E8F0"/>
            </a:solidFill>
            <a:prstDash val="solid"/>
          </a:ln>
          <a:effectLst>
            <a:outerShdw blurRad="127000" dist="25400" dir="5400000" algn="bl" rotWithShape="0">
              <a:srgbClr val="0F172A">
                <a:alpha val="12000"/>
              </a:srgbClr>
            </a:outerShdw>
          </a:effectLst>
        </p:spPr>
        <p:txBody>
          <a:bodyPr/>
          <a:lstStyle/>
          <a:p>
            <a:endParaRPr lang="es-PE"/>
          </a:p>
        </p:txBody>
      </p:sp>
      <p:pic>
        <p:nvPicPr>
          <p:cNvPr id="15" name="shot-P9 · Reporte de citas" descr="P9 · Reporte de citas"/>
          <p:cNvPicPr>
            <a:picLocks noChangeAspect="1"/>
          </p:cNvPicPr>
          <p:nvPr/>
        </p:nvPicPr>
        <p:blipFill>
          <a:blip r:embed="rId5"/>
          <a:stretch>
            <a:fillRect/>
          </a:stretch>
        </p:blipFill>
        <p:spPr>
          <a:xfrm>
            <a:off x="6181344" y="1691640"/>
            <a:ext cx="2633472" cy="1755648"/>
          </a:xfrm>
          <a:prstGeom prst="rect">
            <a:avLst/>
          </a:prstGeom>
        </p:spPr>
      </p:pic>
      <p:sp>
        <p:nvSpPr>
          <p:cNvPr id="16" name="Text 11"/>
          <p:cNvSpPr txBox="1"/>
          <p:nvPr/>
        </p:nvSpPr>
        <p:spPr>
          <a:xfrm>
            <a:off x="6181344" y="3584448"/>
            <a:ext cx="2633472" cy="320040"/>
          </a:xfrm>
          <a:prstGeom prst="rect">
            <a:avLst/>
          </a:prstGeom>
          <a:noFill/>
          <a:ln/>
        </p:spPr>
        <p:txBody>
          <a:bodyPr wrap="square" lIns="0" tIns="0" rIns="0" bIns="0" rtlCol="0" anchor="ctr"/>
          <a:lstStyle/>
          <a:p>
            <a:pPr marL="0" indent="0">
              <a:buNone/>
            </a:pPr>
            <a:r>
              <a:rPr lang="en-US" sz="1400" b="1" dirty="0">
                <a:solidFill>
                  <a:schemeClr val="tx1"/>
                </a:solidFill>
              </a:rPr>
              <a:t>P9 · Reporte de citas</a:t>
            </a:r>
            <a:endParaRPr lang="en-US" sz="1400" dirty="0"/>
          </a:p>
        </p:txBody>
      </p:sp>
      <p:sp>
        <p:nvSpPr>
          <p:cNvPr id="17" name="Text 12"/>
          <p:cNvSpPr txBox="1"/>
          <p:nvPr/>
        </p:nvSpPr>
        <p:spPr>
          <a:xfrm>
            <a:off x="6181344" y="3950208"/>
            <a:ext cx="1051560" cy="246888"/>
          </a:xfrm>
          <a:prstGeom prst="rect">
            <a:avLst/>
          </a:prstGeom>
          <a:solidFill>
            <a:srgbClr val="D1FAE5"/>
          </a:solidFill>
          <a:ln/>
        </p:spPr>
        <p:txBody>
          <a:bodyPr wrap="square" lIns="0" tIns="0" rIns="0" bIns="0" rtlCol="0" anchor="ctr"/>
          <a:lstStyle/>
          <a:p>
            <a:pPr marL="0" indent="0" algn="ctr">
              <a:buNone/>
            </a:pPr>
            <a:r>
              <a:rPr lang="en-US" sz="1000" b="1" dirty="0">
                <a:solidFill>
                  <a:schemeClr val="tx2"/>
                </a:solidFill>
              </a:rPr>
              <a:t>Implementada</a:t>
            </a:r>
            <a:endParaRPr lang="en-US" sz="1000" dirty="0"/>
          </a:p>
        </p:txBody>
      </p:sp>
      <p:sp>
        <p:nvSpPr>
          <p:cNvPr id="18" name="shot-frame"/>
          <p:cNvSpPr/>
          <p:nvPr/>
        </p:nvSpPr>
        <p:spPr>
          <a:xfrm>
            <a:off x="8961120" y="1655064"/>
            <a:ext cx="2706624" cy="1828800"/>
          </a:xfrm>
          <a:prstGeom prst="roundRect">
            <a:avLst>
              <a:gd name="adj" fmla="val 4000"/>
            </a:avLst>
          </a:prstGeom>
          <a:solidFill>
            <a:schemeClr val="bg1"/>
          </a:solidFill>
          <a:ln w="12700">
            <a:solidFill>
              <a:srgbClr val="E2E8F0"/>
            </a:solidFill>
            <a:prstDash val="solid"/>
          </a:ln>
          <a:effectLst>
            <a:outerShdw blurRad="127000" dist="25400" dir="5400000" algn="bl" rotWithShape="0">
              <a:srgbClr val="0F172A">
                <a:alpha val="12000"/>
              </a:srgbClr>
            </a:outerShdw>
          </a:effectLst>
        </p:spPr>
        <p:txBody>
          <a:bodyPr/>
          <a:lstStyle/>
          <a:p>
            <a:endParaRPr lang="es-PE"/>
          </a:p>
        </p:txBody>
      </p:sp>
      <p:pic>
        <p:nvPicPr>
          <p:cNvPr id="19" name="shot-P10 · Reporte de pagos" descr="P10 · Reporte de pagos"/>
          <p:cNvPicPr>
            <a:picLocks noChangeAspect="1"/>
          </p:cNvPicPr>
          <p:nvPr/>
        </p:nvPicPr>
        <p:blipFill>
          <a:blip r:embed="rId6"/>
          <a:stretch>
            <a:fillRect/>
          </a:stretch>
        </p:blipFill>
        <p:spPr>
          <a:xfrm>
            <a:off x="8997696" y="1691640"/>
            <a:ext cx="2633472" cy="1755648"/>
          </a:xfrm>
          <a:prstGeom prst="rect">
            <a:avLst/>
          </a:prstGeom>
        </p:spPr>
      </p:pic>
      <p:sp>
        <p:nvSpPr>
          <p:cNvPr id="20" name="Text 14"/>
          <p:cNvSpPr txBox="1"/>
          <p:nvPr/>
        </p:nvSpPr>
        <p:spPr>
          <a:xfrm>
            <a:off x="8997696" y="3584448"/>
            <a:ext cx="2633472" cy="320040"/>
          </a:xfrm>
          <a:prstGeom prst="rect">
            <a:avLst/>
          </a:prstGeom>
          <a:noFill/>
          <a:ln/>
        </p:spPr>
        <p:txBody>
          <a:bodyPr wrap="square" lIns="0" tIns="0" rIns="0" bIns="0" rtlCol="0" anchor="ctr"/>
          <a:lstStyle/>
          <a:p>
            <a:pPr marL="0" indent="0">
              <a:buNone/>
            </a:pPr>
            <a:r>
              <a:rPr lang="en-US" sz="1400" b="1" dirty="0">
                <a:solidFill>
                  <a:schemeClr val="tx1"/>
                </a:solidFill>
              </a:rPr>
              <a:t>P10 · Reporte de pagos</a:t>
            </a:r>
            <a:endParaRPr lang="en-US" sz="1400" dirty="0"/>
          </a:p>
        </p:txBody>
      </p:sp>
      <p:sp>
        <p:nvSpPr>
          <p:cNvPr id="21" name="Text 15"/>
          <p:cNvSpPr txBox="1"/>
          <p:nvPr/>
        </p:nvSpPr>
        <p:spPr>
          <a:xfrm>
            <a:off x="8997696" y="3950208"/>
            <a:ext cx="1051560" cy="246888"/>
          </a:xfrm>
          <a:prstGeom prst="rect">
            <a:avLst/>
          </a:prstGeom>
          <a:solidFill>
            <a:srgbClr val="D1FAE5"/>
          </a:solidFill>
          <a:ln/>
        </p:spPr>
        <p:txBody>
          <a:bodyPr wrap="square" lIns="0" tIns="0" rIns="0" bIns="0" rtlCol="0" anchor="ctr"/>
          <a:lstStyle/>
          <a:p>
            <a:pPr marL="0" indent="0" algn="ctr">
              <a:buNone/>
            </a:pPr>
            <a:r>
              <a:rPr lang="en-US" sz="1000" b="1" dirty="0">
                <a:solidFill>
                  <a:schemeClr val="tx2"/>
                </a:solidFill>
              </a:rPr>
              <a:t>Implementada</a:t>
            </a:r>
            <a:endParaRPr lang="en-US" sz="1000" dirty="0"/>
          </a:p>
        </p:txBody>
      </p:sp>
      <p:sp>
        <p:nvSpPr>
          <p:cNvPr id="22" name="med-0"/>
          <p:cNvSpPr/>
          <p:nvPr/>
        </p:nvSpPr>
        <p:spPr>
          <a:xfrm>
            <a:off x="548640" y="4480560"/>
            <a:ext cx="3566160" cy="1645920"/>
          </a:xfrm>
          <a:prstGeom prst="roundRect">
            <a:avLst>
              <a:gd name="adj" fmla="val 6667"/>
            </a:avLst>
          </a:prstGeom>
          <a:solidFill>
            <a:schemeClr val="bg2"/>
          </a:solidFill>
          <a:ln w="12700">
            <a:solidFill>
              <a:schemeClr val="bg2"/>
            </a:solidFill>
            <a:prstDash val="solid"/>
          </a:ln>
        </p:spPr>
        <p:txBody>
          <a:bodyPr/>
          <a:lstStyle/>
          <a:p>
            <a:endParaRPr lang="es-PE"/>
          </a:p>
        </p:txBody>
      </p:sp>
      <p:sp>
        <p:nvSpPr>
          <p:cNvPr id="23" name="icon-bg"/>
          <p:cNvSpPr/>
          <p:nvPr/>
        </p:nvSpPr>
        <p:spPr>
          <a:xfrm>
            <a:off x="822960" y="4663440"/>
            <a:ext cx="548640" cy="548640"/>
          </a:xfrm>
          <a:prstGeom prst="ellipse">
            <a:avLst/>
          </a:prstGeom>
          <a:solidFill>
            <a:schemeClr val="bg1"/>
          </a:solidFill>
          <a:ln w="12700">
            <a:solidFill>
              <a:schemeClr val="bg1"/>
            </a:solidFill>
            <a:prstDash val="solid"/>
          </a:ln>
        </p:spPr>
        <p:txBody>
          <a:bodyPr/>
          <a:lstStyle/>
          <a:p>
            <a:endParaRPr lang="es-PE"/>
          </a:p>
        </p:txBody>
      </p:sp>
      <p:pic>
        <p:nvPicPr>
          <p:cNvPr id="24" name="icon" descr="preencoded.png"/>
          <p:cNvPicPr>
            <a:picLocks noChangeAspect="1"/>
          </p:cNvPicPr>
          <p:nvPr/>
        </p:nvPicPr>
        <p:blipFill>
          <a:blip r:embed="rId7"/>
          <a:stretch>
            <a:fillRect/>
          </a:stretch>
        </p:blipFill>
        <p:spPr>
          <a:xfrm>
            <a:off x="960120" y="4800600"/>
            <a:ext cx="274320" cy="274320"/>
          </a:xfrm>
          <a:prstGeom prst="rect">
            <a:avLst/>
          </a:prstGeom>
        </p:spPr>
      </p:pic>
      <p:sp>
        <p:nvSpPr>
          <p:cNvPr id="25" name="Text 18"/>
          <p:cNvSpPr txBox="1"/>
          <p:nvPr/>
        </p:nvSpPr>
        <p:spPr>
          <a:xfrm>
            <a:off x="1508760" y="4663440"/>
            <a:ext cx="2468880" cy="548640"/>
          </a:xfrm>
          <a:prstGeom prst="rect">
            <a:avLst/>
          </a:prstGeom>
          <a:noFill/>
          <a:ln/>
        </p:spPr>
        <p:txBody>
          <a:bodyPr wrap="square" lIns="0" tIns="0" rIns="0" bIns="0" rtlCol="0" anchor="ctr"/>
          <a:lstStyle/>
          <a:p>
            <a:pPr marL="0" indent="0">
              <a:buNone/>
            </a:pPr>
            <a:r>
              <a:rPr lang="en-US" sz="1700" b="1" dirty="0">
                <a:solidFill>
                  <a:schemeClr val="tx1"/>
                </a:solidFill>
              </a:rPr>
              <a:t>Agenda</a:t>
            </a:r>
            <a:endParaRPr lang="en-US" sz="1700" dirty="0"/>
          </a:p>
        </p:txBody>
      </p:sp>
      <p:sp>
        <p:nvSpPr>
          <p:cNvPr id="26" name="Text 19"/>
          <p:cNvSpPr txBox="1"/>
          <p:nvPr/>
        </p:nvSpPr>
        <p:spPr>
          <a:xfrm>
            <a:off x="822960" y="5349240"/>
            <a:ext cx="3108960" cy="640080"/>
          </a:xfrm>
          <a:prstGeom prst="rect">
            <a:avLst/>
          </a:prstGeom>
          <a:noFill/>
          <a:ln/>
        </p:spPr>
        <p:txBody>
          <a:bodyPr wrap="square" lIns="0" tIns="0" rIns="0" bIns="0" rtlCol="0" anchor="t"/>
          <a:lstStyle/>
          <a:p>
            <a:pPr marL="0" indent="0">
              <a:buNone/>
            </a:pPr>
            <a:r>
              <a:rPr lang="en-US" sz="1300" dirty="0">
                <a:solidFill>
                  <a:schemeClr val="accent6"/>
                </a:solidFill>
              </a:rPr>
              <a:t>Citas por día o semana, con filtros por estado e indicadores</a:t>
            </a:r>
            <a:endParaRPr lang="en-US" sz="1300" dirty="0"/>
          </a:p>
        </p:txBody>
      </p:sp>
      <p:sp>
        <p:nvSpPr>
          <p:cNvPr id="27" name="med-1"/>
          <p:cNvSpPr/>
          <p:nvPr/>
        </p:nvSpPr>
        <p:spPr>
          <a:xfrm>
            <a:off x="4297680" y="4480560"/>
            <a:ext cx="3566160" cy="1645920"/>
          </a:xfrm>
          <a:prstGeom prst="roundRect">
            <a:avLst>
              <a:gd name="adj" fmla="val 6667"/>
            </a:avLst>
          </a:prstGeom>
          <a:solidFill>
            <a:schemeClr val="bg2"/>
          </a:solidFill>
          <a:ln w="12700">
            <a:solidFill>
              <a:schemeClr val="bg2"/>
            </a:solidFill>
            <a:prstDash val="solid"/>
          </a:ln>
        </p:spPr>
        <p:txBody>
          <a:bodyPr/>
          <a:lstStyle/>
          <a:p>
            <a:endParaRPr lang="es-PE"/>
          </a:p>
        </p:txBody>
      </p:sp>
      <p:sp>
        <p:nvSpPr>
          <p:cNvPr id="28" name="icon-bg"/>
          <p:cNvSpPr/>
          <p:nvPr/>
        </p:nvSpPr>
        <p:spPr>
          <a:xfrm>
            <a:off x="4572000" y="4663440"/>
            <a:ext cx="548640" cy="548640"/>
          </a:xfrm>
          <a:prstGeom prst="ellipse">
            <a:avLst/>
          </a:prstGeom>
          <a:solidFill>
            <a:schemeClr val="bg1"/>
          </a:solidFill>
          <a:ln w="12700">
            <a:solidFill>
              <a:schemeClr val="bg1"/>
            </a:solidFill>
            <a:prstDash val="solid"/>
          </a:ln>
        </p:spPr>
        <p:txBody>
          <a:bodyPr/>
          <a:lstStyle/>
          <a:p>
            <a:endParaRPr lang="es-PE"/>
          </a:p>
        </p:txBody>
      </p:sp>
      <p:pic>
        <p:nvPicPr>
          <p:cNvPr id="29" name="icon" descr="preencoded.png"/>
          <p:cNvPicPr>
            <a:picLocks noChangeAspect="1"/>
          </p:cNvPicPr>
          <p:nvPr/>
        </p:nvPicPr>
        <p:blipFill>
          <a:blip r:embed="rId8"/>
          <a:stretch>
            <a:fillRect/>
          </a:stretch>
        </p:blipFill>
        <p:spPr>
          <a:xfrm>
            <a:off x="4709160" y="4800600"/>
            <a:ext cx="274320" cy="274320"/>
          </a:xfrm>
          <a:prstGeom prst="rect">
            <a:avLst/>
          </a:prstGeom>
        </p:spPr>
      </p:pic>
      <p:sp>
        <p:nvSpPr>
          <p:cNvPr id="30" name="Text 22"/>
          <p:cNvSpPr txBox="1"/>
          <p:nvPr/>
        </p:nvSpPr>
        <p:spPr>
          <a:xfrm>
            <a:off x="5257800" y="4663440"/>
            <a:ext cx="2468880" cy="548640"/>
          </a:xfrm>
          <a:prstGeom prst="rect">
            <a:avLst/>
          </a:prstGeom>
          <a:noFill/>
          <a:ln/>
        </p:spPr>
        <p:txBody>
          <a:bodyPr wrap="square" lIns="0" tIns="0" rIns="0" bIns="0" rtlCol="0" anchor="ctr"/>
          <a:lstStyle/>
          <a:p>
            <a:pPr marL="0" indent="0">
              <a:buNone/>
            </a:pPr>
            <a:r>
              <a:rPr lang="en-US" sz="1700" b="1" dirty="0">
                <a:solidFill>
                  <a:schemeClr val="tx1"/>
                </a:solidFill>
              </a:rPr>
              <a:t>Validar o rechazar</a:t>
            </a:r>
            <a:endParaRPr lang="en-US" sz="1700" dirty="0"/>
          </a:p>
        </p:txBody>
      </p:sp>
      <p:sp>
        <p:nvSpPr>
          <p:cNvPr id="31" name="Text 23"/>
          <p:cNvSpPr txBox="1"/>
          <p:nvPr/>
        </p:nvSpPr>
        <p:spPr>
          <a:xfrm>
            <a:off x="4572000" y="5349240"/>
            <a:ext cx="3108960" cy="640080"/>
          </a:xfrm>
          <a:prstGeom prst="rect">
            <a:avLst/>
          </a:prstGeom>
          <a:noFill/>
          <a:ln/>
        </p:spPr>
        <p:txBody>
          <a:bodyPr wrap="square" lIns="0" tIns="0" rIns="0" bIns="0" rtlCol="0" anchor="t"/>
          <a:lstStyle/>
          <a:p>
            <a:pPr marL="0" indent="0">
              <a:buNone/>
            </a:pPr>
            <a:r>
              <a:rPr lang="en-US" sz="1300" dirty="0">
                <a:solidFill>
                  <a:schemeClr val="accent6"/>
                </a:solidFill>
              </a:rPr>
              <a:t>Ve la constancia; rechazar o cancelar exige una observación</a:t>
            </a:r>
            <a:endParaRPr lang="en-US" sz="1300" dirty="0"/>
          </a:p>
        </p:txBody>
      </p:sp>
      <p:sp>
        <p:nvSpPr>
          <p:cNvPr id="32" name="med-2"/>
          <p:cNvSpPr/>
          <p:nvPr/>
        </p:nvSpPr>
        <p:spPr>
          <a:xfrm>
            <a:off x="8046720" y="4480560"/>
            <a:ext cx="3566160" cy="1645920"/>
          </a:xfrm>
          <a:prstGeom prst="roundRect">
            <a:avLst>
              <a:gd name="adj" fmla="val 6667"/>
            </a:avLst>
          </a:prstGeom>
          <a:solidFill>
            <a:schemeClr val="bg2"/>
          </a:solidFill>
          <a:ln w="12700">
            <a:solidFill>
              <a:schemeClr val="bg2"/>
            </a:solidFill>
            <a:prstDash val="solid"/>
          </a:ln>
        </p:spPr>
        <p:txBody>
          <a:bodyPr/>
          <a:lstStyle/>
          <a:p>
            <a:endParaRPr lang="es-PE"/>
          </a:p>
        </p:txBody>
      </p:sp>
      <p:sp>
        <p:nvSpPr>
          <p:cNvPr id="33" name="icon-bg"/>
          <p:cNvSpPr/>
          <p:nvPr/>
        </p:nvSpPr>
        <p:spPr>
          <a:xfrm>
            <a:off x="8321040" y="4663440"/>
            <a:ext cx="548640" cy="548640"/>
          </a:xfrm>
          <a:prstGeom prst="ellipse">
            <a:avLst/>
          </a:prstGeom>
          <a:solidFill>
            <a:schemeClr val="bg1"/>
          </a:solidFill>
          <a:ln w="12700">
            <a:solidFill>
              <a:schemeClr val="bg1"/>
            </a:solidFill>
            <a:prstDash val="solid"/>
          </a:ln>
        </p:spPr>
        <p:txBody>
          <a:bodyPr/>
          <a:lstStyle/>
          <a:p>
            <a:endParaRPr lang="es-PE"/>
          </a:p>
        </p:txBody>
      </p:sp>
      <p:pic>
        <p:nvPicPr>
          <p:cNvPr id="34" name="icon" descr="preencoded.png"/>
          <p:cNvPicPr>
            <a:picLocks noChangeAspect="1"/>
          </p:cNvPicPr>
          <p:nvPr/>
        </p:nvPicPr>
        <p:blipFill>
          <a:blip r:embed="rId9"/>
          <a:stretch>
            <a:fillRect/>
          </a:stretch>
        </p:blipFill>
        <p:spPr>
          <a:xfrm>
            <a:off x="8458200" y="4800600"/>
            <a:ext cx="274320" cy="274320"/>
          </a:xfrm>
          <a:prstGeom prst="rect">
            <a:avLst/>
          </a:prstGeom>
        </p:spPr>
      </p:pic>
      <p:sp>
        <p:nvSpPr>
          <p:cNvPr id="35" name="Text 26"/>
          <p:cNvSpPr txBox="1"/>
          <p:nvPr/>
        </p:nvSpPr>
        <p:spPr>
          <a:xfrm>
            <a:off x="9006840" y="4663440"/>
            <a:ext cx="2468880" cy="548640"/>
          </a:xfrm>
          <a:prstGeom prst="rect">
            <a:avLst/>
          </a:prstGeom>
          <a:noFill/>
          <a:ln/>
        </p:spPr>
        <p:txBody>
          <a:bodyPr wrap="square" lIns="0" tIns="0" rIns="0" bIns="0" rtlCol="0" anchor="ctr"/>
          <a:lstStyle/>
          <a:p>
            <a:pPr marL="0" indent="0">
              <a:buNone/>
            </a:pPr>
            <a:r>
              <a:rPr lang="en-US" sz="1700" b="1" dirty="0">
                <a:solidFill>
                  <a:schemeClr val="tx1"/>
                </a:solidFill>
              </a:rPr>
              <a:t>Reportes en Excel</a:t>
            </a:r>
            <a:endParaRPr lang="en-US" sz="1700" dirty="0"/>
          </a:p>
        </p:txBody>
      </p:sp>
      <p:sp>
        <p:nvSpPr>
          <p:cNvPr id="36" name="Text 27"/>
          <p:cNvSpPr txBox="1"/>
          <p:nvPr/>
        </p:nvSpPr>
        <p:spPr>
          <a:xfrm>
            <a:off x="8321040" y="5349240"/>
            <a:ext cx="3108960" cy="640080"/>
          </a:xfrm>
          <a:prstGeom prst="rect">
            <a:avLst/>
          </a:prstGeom>
          <a:noFill/>
          <a:ln/>
        </p:spPr>
        <p:txBody>
          <a:bodyPr wrap="square" lIns="0" tIns="0" rIns="0" bIns="0" rtlCol="0" anchor="t"/>
          <a:lstStyle/>
          <a:p>
            <a:pPr marL="0" indent="0">
              <a:buNone/>
            </a:pPr>
            <a:r>
              <a:rPr lang="en-US" sz="1300" dirty="0">
                <a:solidFill>
                  <a:schemeClr val="accent6"/>
                </a:solidFill>
              </a:rPr>
              <a:t>Indicadores de resumen y exportación .xlsx con Apache POI</a:t>
            </a:r>
            <a:endParaRPr lang="en-US" sz="1300" dirty="0"/>
          </a:p>
        </p:txBody>
      </p:sp>
      <p:sp>
        <p:nvSpPr>
          <p:cNvPr id="37"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85B94-47C7-0D29-6932-282E80B82D98}"/>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6910C190-625D-6381-6162-9D664B2C69FD}"/>
              </a:ext>
            </a:extLst>
          </p:cNvPr>
          <p:cNvSpPr>
            <a:spLocks noGrp="1"/>
          </p:cNvSpPr>
          <p:nvPr>
            <p:ph type="body" idx="100"/>
          </p:nvPr>
        </p:nvSpPr>
        <p:spPr/>
        <p:txBody>
          <a:bodyPr/>
          <a:lstStyle/>
          <a:p>
            <a:r>
              <a:rPr lang="en-US" dirty="0"/>
              <a:t>FLUJO DEL MÉDICO</a:t>
            </a:r>
          </a:p>
        </p:txBody>
      </p:sp>
      <p:sp>
        <p:nvSpPr>
          <p:cNvPr id="3" name="Título 2">
            <a:extLst>
              <a:ext uri="{FF2B5EF4-FFF2-40B4-BE49-F238E27FC236}">
                <a16:creationId xmlns:a16="http://schemas.microsoft.com/office/drawing/2014/main" id="{BDDBE3E3-C3C7-7D99-F3C8-0B6978AC5A57}"/>
              </a:ext>
            </a:extLst>
          </p:cNvPr>
          <p:cNvSpPr>
            <a:spLocks noGrp="1"/>
          </p:cNvSpPr>
          <p:nvPr>
            <p:ph type="title" idx="101"/>
          </p:nvPr>
        </p:nvSpPr>
        <p:spPr/>
        <p:txBody>
          <a:bodyPr/>
          <a:lstStyle/>
          <a:p>
            <a:r>
              <a:rPr lang="en-US" dirty="0"/>
              <a:t>Agenda</a:t>
            </a:r>
            <a:endParaRPr lang="es-PE" dirty="0"/>
          </a:p>
        </p:txBody>
      </p:sp>
      <p:pic>
        <p:nvPicPr>
          <p:cNvPr id="4" name="shot-P7 · Agenda" descr="P7 · Agenda">
            <a:extLst>
              <a:ext uri="{FF2B5EF4-FFF2-40B4-BE49-F238E27FC236}">
                <a16:creationId xmlns:a16="http://schemas.microsoft.com/office/drawing/2014/main" id="{B047B621-BF4D-8049-B959-91857BB0047B}"/>
              </a:ext>
            </a:extLst>
          </p:cNvPr>
          <p:cNvPicPr>
            <a:picLocks noChangeAspect="1"/>
          </p:cNvPicPr>
          <p:nvPr/>
        </p:nvPicPr>
        <p:blipFill>
          <a:blip r:embed="rId2"/>
          <a:stretch>
            <a:fillRect/>
          </a:stretch>
        </p:blipFill>
        <p:spPr>
          <a:xfrm>
            <a:off x="3097426" y="-1"/>
            <a:ext cx="9094574" cy="6063049"/>
          </a:xfrm>
          <a:prstGeom prst="rect">
            <a:avLst/>
          </a:prstGeom>
        </p:spPr>
      </p:pic>
    </p:spTree>
    <p:extLst>
      <p:ext uri="{BB962C8B-B14F-4D97-AF65-F5344CB8AC3E}">
        <p14:creationId xmlns:p14="http://schemas.microsoft.com/office/powerpoint/2010/main" val="856787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D7612BE-08D3-6B34-4BC8-953D5BB8975E}"/>
              </a:ext>
            </a:extLst>
          </p:cNvPr>
          <p:cNvSpPr>
            <a:spLocks noGrp="1"/>
          </p:cNvSpPr>
          <p:nvPr>
            <p:ph type="body" idx="100"/>
          </p:nvPr>
        </p:nvSpPr>
        <p:spPr/>
        <p:txBody>
          <a:bodyPr/>
          <a:lstStyle/>
          <a:p>
            <a:r>
              <a:rPr lang="en-US" dirty="0"/>
              <a:t>FLUJO DEL MÉDICO</a:t>
            </a:r>
          </a:p>
        </p:txBody>
      </p:sp>
      <p:sp>
        <p:nvSpPr>
          <p:cNvPr id="3" name="Título 2">
            <a:extLst>
              <a:ext uri="{FF2B5EF4-FFF2-40B4-BE49-F238E27FC236}">
                <a16:creationId xmlns:a16="http://schemas.microsoft.com/office/drawing/2014/main" id="{17144DD3-083E-D6ED-DDD5-D6E1792FB3E4}"/>
              </a:ext>
            </a:extLst>
          </p:cNvPr>
          <p:cNvSpPr>
            <a:spLocks noGrp="1"/>
          </p:cNvSpPr>
          <p:nvPr>
            <p:ph type="title" idx="101"/>
          </p:nvPr>
        </p:nvSpPr>
        <p:spPr/>
        <p:txBody>
          <a:bodyPr/>
          <a:lstStyle/>
          <a:p>
            <a:r>
              <a:rPr lang="en-US" dirty="0" err="1"/>
              <a:t>Validación</a:t>
            </a:r>
            <a:br>
              <a:rPr lang="en-US" dirty="0"/>
            </a:br>
            <a:r>
              <a:rPr lang="en-US" dirty="0"/>
              <a:t>de </a:t>
            </a:r>
            <a:r>
              <a:rPr lang="en-US" dirty="0" err="1"/>
              <a:t>pagos</a:t>
            </a:r>
            <a:endParaRPr lang="es-PE" dirty="0"/>
          </a:p>
        </p:txBody>
      </p:sp>
      <p:pic>
        <p:nvPicPr>
          <p:cNvPr id="4" name="shot-P8 · Detalle de cita" descr="P8 · Detalle de cita">
            <a:extLst>
              <a:ext uri="{FF2B5EF4-FFF2-40B4-BE49-F238E27FC236}">
                <a16:creationId xmlns:a16="http://schemas.microsoft.com/office/drawing/2014/main" id="{C957B14C-7F59-28AA-C7B6-34F1DD0DFCC9}"/>
              </a:ext>
            </a:extLst>
          </p:cNvPr>
          <p:cNvPicPr>
            <a:picLocks noChangeAspect="1"/>
          </p:cNvPicPr>
          <p:nvPr/>
        </p:nvPicPr>
        <p:blipFill>
          <a:blip r:embed="rId2"/>
          <a:stretch>
            <a:fillRect/>
          </a:stretch>
        </p:blipFill>
        <p:spPr>
          <a:xfrm>
            <a:off x="3196281" y="0"/>
            <a:ext cx="8995719" cy="5997146"/>
          </a:xfrm>
          <a:prstGeom prst="rect">
            <a:avLst/>
          </a:prstGeom>
        </p:spPr>
      </p:pic>
    </p:spTree>
    <p:extLst>
      <p:ext uri="{BB962C8B-B14F-4D97-AF65-F5344CB8AC3E}">
        <p14:creationId xmlns:p14="http://schemas.microsoft.com/office/powerpoint/2010/main" val="2678656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4BCEA-8413-A729-5B70-7F2343E5E793}"/>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489B52EC-7485-BBC6-A15F-AFF35B01C7AA}"/>
              </a:ext>
            </a:extLst>
          </p:cNvPr>
          <p:cNvSpPr>
            <a:spLocks noGrp="1"/>
          </p:cNvSpPr>
          <p:nvPr>
            <p:ph type="body" idx="100"/>
          </p:nvPr>
        </p:nvSpPr>
        <p:spPr/>
        <p:txBody>
          <a:bodyPr/>
          <a:lstStyle/>
          <a:p>
            <a:r>
              <a:rPr lang="en-US" dirty="0"/>
              <a:t>FLUJO DEL MÉDICO</a:t>
            </a:r>
          </a:p>
        </p:txBody>
      </p:sp>
      <p:sp>
        <p:nvSpPr>
          <p:cNvPr id="3" name="Título 2">
            <a:extLst>
              <a:ext uri="{FF2B5EF4-FFF2-40B4-BE49-F238E27FC236}">
                <a16:creationId xmlns:a16="http://schemas.microsoft.com/office/drawing/2014/main" id="{2CBF0742-95C6-7E6A-301D-3DE618B8B9EE}"/>
              </a:ext>
            </a:extLst>
          </p:cNvPr>
          <p:cNvSpPr>
            <a:spLocks noGrp="1"/>
          </p:cNvSpPr>
          <p:nvPr>
            <p:ph type="title" idx="101"/>
          </p:nvPr>
        </p:nvSpPr>
        <p:spPr/>
        <p:txBody>
          <a:bodyPr/>
          <a:lstStyle/>
          <a:p>
            <a:r>
              <a:rPr lang="en-US" dirty="0" err="1"/>
              <a:t>Reportes</a:t>
            </a:r>
            <a:br>
              <a:rPr lang="en-US" dirty="0"/>
            </a:br>
            <a:r>
              <a:rPr lang="en-US" dirty="0"/>
              <a:t>de </a:t>
            </a:r>
            <a:r>
              <a:rPr lang="en-US" dirty="0" err="1"/>
              <a:t>citas</a:t>
            </a:r>
            <a:endParaRPr lang="es-PE" dirty="0"/>
          </a:p>
        </p:txBody>
      </p:sp>
      <p:pic>
        <p:nvPicPr>
          <p:cNvPr id="4" name="shot-P9 · Reporte de citas" descr="P9 · Reporte de citas">
            <a:extLst>
              <a:ext uri="{FF2B5EF4-FFF2-40B4-BE49-F238E27FC236}">
                <a16:creationId xmlns:a16="http://schemas.microsoft.com/office/drawing/2014/main" id="{1C490AF8-8967-9CA1-A622-3796E7ABA33B}"/>
              </a:ext>
            </a:extLst>
          </p:cNvPr>
          <p:cNvPicPr>
            <a:picLocks noChangeAspect="1"/>
          </p:cNvPicPr>
          <p:nvPr/>
        </p:nvPicPr>
        <p:blipFill>
          <a:blip r:embed="rId2"/>
          <a:stretch>
            <a:fillRect/>
          </a:stretch>
        </p:blipFill>
        <p:spPr>
          <a:xfrm>
            <a:off x="2865120" y="0"/>
            <a:ext cx="9326880" cy="6217920"/>
          </a:xfrm>
          <a:prstGeom prst="rect">
            <a:avLst/>
          </a:prstGeom>
        </p:spPr>
      </p:pic>
    </p:spTree>
    <p:extLst>
      <p:ext uri="{BB962C8B-B14F-4D97-AF65-F5344CB8AC3E}">
        <p14:creationId xmlns:p14="http://schemas.microsoft.com/office/powerpoint/2010/main" val="319945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FEA19-98C9-F4C2-5138-85EB058E566D}"/>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B0F79B61-7DE6-03B5-DEA7-AABE4B0EF7AA}"/>
              </a:ext>
            </a:extLst>
          </p:cNvPr>
          <p:cNvSpPr>
            <a:spLocks noGrp="1"/>
          </p:cNvSpPr>
          <p:nvPr>
            <p:ph type="body" idx="100"/>
          </p:nvPr>
        </p:nvSpPr>
        <p:spPr/>
        <p:txBody>
          <a:bodyPr/>
          <a:lstStyle/>
          <a:p>
            <a:r>
              <a:rPr lang="en-US" dirty="0"/>
              <a:t>FLUJO DEL MÉDICO</a:t>
            </a:r>
          </a:p>
        </p:txBody>
      </p:sp>
      <p:sp>
        <p:nvSpPr>
          <p:cNvPr id="3" name="Título 2">
            <a:extLst>
              <a:ext uri="{FF2B5EF4-FFF2-40B4-BE49-F238E27FC236}">
                <a16:creationId xmlns:a16="http://schemas.microsoft.com/office/drawing/2014/main" id="{4EB5348D-B33B-30E6-942D-40C865B79CE8}"/>
              </a:ext>
            </a:extLst>
          </p:cNvPr>
          <p:cNvSpPr>
            <a:spLocks noGrp="1"/>
          </p:cNvSpPr>
          <p:nvPr>
            <p:ph type="title" idx="101"/>
          </p:nvPr>
        </p:nvSpPr>
        <p:spPr/>
        <p:txBody>
          <a:bodyPr/>
          <a:lstStyle/>
          <a:p>
            <a:r>
              <a:rPr lang="en-US" dirty="0" err="1"/>
              <a:t>Reportes</a:t>
            </a:r>
            <a:br>
              <a:rPr lang="en-US" dirty="0"/>
            </a:br>
            <a:r>
              <a:rPr lang="en-US" dirty="0"/>
              <a:t>de </a:t>
            </a:r>
            <a:r>
              <a:rPr lang="en-US" dirty="0" err="1"/>
              <a:t>pagos</a:t>
            </a:r>
            <a:endParaRPr lang="es-PE" dirty="0"/>
          </a:p>
        </p:txBody>
      </p:sp>
      <p:pic>
        <p:nvPicPr>
          <p:cNvPr id="4" name="shot-P10 · Reporte de pagos" descr="P10 · Reporte de pagos">
            <a:extLst>
              <a:ext uri="{FF2B5EF4-FFF2-40B4-BE49-F238E27FC236}">
                <a16:creationId xmlns:a16="http://schemas.microsoft.com/office/drawing/2014/main" id="{31A638E4-A333-308A-2FB1-76CD26FA7C98}"/>
              </a:ext>
            </a:extLst>
          </p:cNvPr>
          <p:cNvPicPr>
            <a:picLocks noChangeAspect="1"/>
          </p:cNvPicPr>
          <p:nvPr/>
        </p:nvPicPr>
        <p:blipFill>
          <a:blip r:embed="rId2"/>
          <a:stretch>
            <a:fillRect/>
          </a:stretch>
        </p:blipFill>
        <p:spPr>
          <a:xfrm>
            <a:off x="3159211" y="-1"/>
            <a:ext cx="9032789" cy="6021859"/>
          </a:xfrm>
          <a:prstGeom prst="rect">
            <a:avLst/>
          </a:prstGeom>
        </p:spPr>
      </p:pic>
    </p:spTree>
    <p:extLst>
      <p:ext uri="{BB962C8B-B14F-4D97-AF65-F5344CB8AC3E}">
        <p14:creationId xmlns:p14="http://schemas.microsoft.com/office/powerpoint/2010/main" val="23917371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lIns="0" tIns="0" rIns="0" bIns="0" rtlCol="0"/>
          <a:lstStyle/>
          <a:p>
            <a:pPr marL="0" indent="0">
              <a:buNone/>
            </a:pPr>
            <a:r>
              <a:rPr lang="en-US" sz="1200" b="1" kern="0" spc="200" dirty="0">
                <a:solidFill>
                  <a:schemeClr val="accent2"/>
                </a:solidFill>
              </a:rPr>
              <a:t>ESTADO DEL ALCANCE</a:t>
            </a:r>
            <a:endParaRPr lang="en-US" sz="1200" dirty="0"/>
          </a:p>
        </p:txBody>
      </p:sp>
      <p:sp>
        <p:nvSpPr>
          <p:cNvPr id="3" name="Text 0"/>
          <p:cNvSpPr>
            <a:spLocks noGrp="1"/>
          </p:cNvSpPr>
          <p:nvPr>
            <p:ph type="title" idx="101" hasCustomPrompt="1"/>
          </p:nvPr>
        </p:nvSpPr>
        <p:spPr>
          <a:xfrm>
            <a:off x="548640" y="640080"/>
            <a:ext cx="9144000" cy="731520"/>
          </a:xfrm>
          <a:prstGeom prst="rect">
            <a:avLst/>
          </a:prstGeom>
          <a:noFill/>
          <a:ln/>
        </p:spPr>
        <p:txBody>
          <a:bodyPr wrap="square" lIns="0" tIns="0" rIns="0" bIns="0" rtlCol="0" anchor="t"/>
          <a:lstStyle/>
          <a:p>
            <a:pPr marL="0" indent="0" algn="l">
              <a:buNone/>
            </a:pPr>
            <a:r>
              <a:rPr lang="en-US" sz="3600" b="1" dirty="0">
                <a:solidFill>
                  <a:schemeClr val="tx1"/>
                </a:solidFill>
              </a:rPr>
              <a:t>Dónde estamos frente a lo comprometido</a:t>
            </a:r>
            <a:endParaRPr lang="en-US" sz="3600" dirty="0"/>
          </a:p>
        </p:txBody>
      </p:sp>
      <p:sp>
        <p:nvSpPr>
          <p:cNvPr id="6" name="screen-P0"/>
          <p:cNvSpPr/>
          <p:nvPr/>
        </p:nvSpPr>
        <p:spPr>
          <a:xfrm>
            <a:off x="548640" y="1691640"/>
            <a:ext cx="1143000" cy="1188720"/>
          </a:xfrm>
          <a:prstGeom prst="roundRect">
            <a:avLst>
              <a:gd name="adj" fmla="val 8000"/>
            </a:avLst>
          </a:prstGeom>
          <a:solidFill>
            <a:schemeClr val="tx2"/>
          </a:solidFill>
          <a:ln w="12700">
            <a:solidFill>
              <a:schemeClr val="tx2"/>
            </a:solidFill>
            <a:prstDash val="solid"/>
          </a:ln>
        </p:spPr>
        <p:txBody>
          <a:bodyPr/>
          <a:lstStyle/>
          <a:p>
            <a:endParaRPr lang="es-PE"/>
          </a:p>
        </p:txBody>
      </p:sp>
      <p:sp>
        <p:nvSpPr>
          <p:cNvPr id="7" name="Text 5"/>
          <p:cNvSpPr txBox="1"/>
          <p:nvPr/>
        </p:nvSpPr>
        <p:spPr>
          <a:xfrm>
            <a:off x="548640" y="1691640"/>
            <a:ext cx="1143000" cy="1188720"/>
          </a:xfrm>
          <a:prstGeom prst="rect">
            <a:avLst/>
          </a:prstGeom>
          <a:noFill/>
          <a:ln/>
        </p:spPr>
        <p:txBody>
          <a:bodyPr wrap="square" lIns="0" tIns="0" rIns="0" bIns="0" rtlCol="0" anchor="ctr"/>
          <a:lstStyle/>
          <a:p>
            <a:pPr marL="0" indent="0" algn="ctr">
              <a:buNone/>
            </a:pPr>
            <a:r>
              <a:rPr lang="en-US" sz="2200" b="1" dirty="0">
                <a:solidFill>
                  <a:schemeClr val="bg1"/>
                </a:solidFill>
              </a:rPr>
              <a:t>P0</a:t>
            </a:r>
            <a:endParaRPr lang="en-US" sz="2200" dirty="0"/>
          </a:p>
          <a:p>
            <a:pPr marL="0" indent="0" algn="ctr">
              <a:buNone/>
            </a:pPr>
            <a:r>
              <a:rPr lang="en-US" sz="1100" dirty="0">
                <a:solidFill>
                  <a:schemeClr val="bg1"/>
                </a:solidFill>
              </a:rPr>
              <a:t>Login</a:t>
            </a:r>
            <a:endParaRPr lang="en-US" sz="2200" dirty="0"/>
          </a:p>
        </p:txBody>
      </p:sp>
      <p:sp>
        <p:nvSpPr>
          <p:cNvPr id="8" name="screen-P1"/>
          <p:cNvSpPr/>
          <p:nvPr/>
        </p:nvSpPr>
        <p:spPr>
          <a:xfrm>
            <a:off x="1828800" y="1691640"/>
            <a:ext cx="1143000" cy="1188720"/>
          </a:xfrm>
          <a:prstGeom prst="roundRect">
            <a:avLst>
              <a:gd name="adj" fmla="val 8000"/>
            </a:avLst>
          </a:prstGeom>
          <a:solidFill>
            <a:schemeClr val="tx2"/>
          </a:solidFill>
          <a:ln w="12700">
            <a:solidFill>
              <a:schemeClr val="tx2"/>
            </a:solidFill>
            <a:prstDash val="solid"/>
          </a:ln>
        </p:spPr>
        <p:txBody>
          <a:bodyPr/>
          <a:lstStyle/>
          <a:p>
            <a:endParaRPr lang="es-PE"/>
          </a:p>
        </p:txBody>
      </p:sp>
      <p:sp>
        <p:nvSpPr>
          <p:cNvPr id="9" name="Text 7"/>
          <p:cNvSpPr txBox="1"/>
          <p:nvPr/>
        </p:nvSpPr>
        <p:spPr>
          <a:xfrm>
            <a:off x="1828800" y="1691640"/>
            <a:ext cx="1143000" cy="1188720"/>
          </a:xfrm>
          <a:prstGeom prst="rect">
            <a:avLst/>
          </a:prstGeom>
          <a:noFill/>
          <a:ln/>
        </p:spPr>
        <p:txBody>
          <a:bodyPr wrap="square" lIns="0" tIns="0" rIns="0" bIns="0" rtlCol="0" anchor="ctr"/>
          <a:lstStyle/>
          <a:p>
            <a:pPr marL="0" indent="0" algn="ctr">
              <a:buNone/>
            </a:pPr>
            <a:r>
              <a:rPr lang="en-US" sz="2200" b="1" dirty="0">
                <a:solidFill>
                  <a:schemeClr val="bg1"/>
                </a:solidFill>
              </a:rPr>
              <a:t>P1</a:t>
            </a:r>
            <a:endParaRPr lang="en-US" sz="2200" dirty="0"/>
          </a:p>
          <a:p>
            <a:pPr marL="0" indent="0" algn="ctr">
              <a:buNone/>
            </a:pPr>
            <a:r>
              <a:rPr lang="en-US" sz="1100" dirty="0">
                <a:solidFill>
                  <a:schemeClr val="bg1"/>
                </a:solidFill>
              </a:rPr>
              <a:t>Registro</a:t>
            </a:r>
            <a:endParaRPr lang="en-US" sz="2200" dirty="0"/>
          </a:p>
        </p:txBody>
      </p:sp>
      <p:sp>
        <p:nvSpPr>
          <p:cNvPr id="10" name="screen-P2"/>
          <p:cNvSpPr/>
          <p:nvPr/>
        </p:nvSpPr>
        <p:spPr>
          <a:xfrm>
            <a:off x="3108960" y="1691640"/>
            <a:ext cx="1143000" cy="1188720"/>
          </a:xfrm>
          <a:prstGeom prst="roundRect">
            <a:avLst>
              <a:gd name="adj" fmla="val 8000"/>
            </a:avLst>
          </a:prstGeom>
          <a:solidFill>
            <a:schemeClr val="tx2"/>
          </a:solidFill>
          <a:ln w="12700">
            <a:solidFill>
              <a:schemeClr val="tx2"/>
            </a:solidFill>
            <a:prstDash val="solid"/>
          </a:ln>
        </p:spPr>
        <p:txBody>
          <a:bodyPr/>
          <a:lstStyle/>
          <a:p>
            <a:endParaRPr lang="es-PE"/>
          </a:p>
        </p:txBody>
      </p:sp>
      <p:sp>
        <p:nvSpPr>
          <p:cNvPr id="11" name="Text 9"/>
          <p:cNvSpPr txBox="1"/>
          <p:nvPr/>
        </p:nvSpPr>
        <p:spPr>
          <a:xfrm>
            <a:off x="3108960" y="1691640"/>
            <a:ext cx="1143000" cy="1188720"/>
          </a:xfrm>
          <a:prstGeom prst="rect">
            <a:avLst/>
          </a:prstGeom>
          <a:noFill/>
          <a:ln/>
        </p:spPr>
        <p:txBody>
          <a:bodyPr wrap="square" lIns="0" tIns="0" rIns="0" bIns="0" rtlCol="0" anchor="ctr"/>
          <a:lstStyle/>
          <a:p>
            <a:pPr marL="0" indent="0" algn="ctr">
              <a:buNone/>
            </a:pPr>
            <a:r>
              <a:rPr lang="en-US" sz="2200" b="1" dirty="0">
                <a:solidFill>
                  <a:schemeClr val="bg1"/>
                </a:solidFill>
              </a:rPr>
              <a:t>P2</a:t>
            </a:r>
            <a:endParaRPr lang="en-US" sz="2200" dirty="0"/>
          </a:p>
          <a:p>
            <a:pPr marL="0" indent="0" algn="ctr">
              <a:buNone/>
            </a:pPr>
            <a:r>
              <a:rPr lang="en-US" sz="1100" dirty="0">
                <a:solidFill>
                  <a:schemeClr val="bg1"/>
                </a:solidFill>
              </a:rPr>
              <a:t>Reservar</a:t>
            </a:r>
            <a:endParaRPr lang="en-US" sz="2200" dirty="0"/>
          </a:p>
        </p:txBody>
      </p:sp>
      <p:sp>
        <p:nvSpPr>
          <p:cNvPr id="12" name="screen-P3"/>
          <p:cNvSpPr/>
          <p:nvPr/>
        </p:nvSpPr>
        <p:spPr>
          <a:xfrm>
            <a:off x="4389120" y="1691640"/>
            <a:ext cx="1143000" cy="1188720"/>
          </a:xfrm>
          <a:prstGeom prst="roundRect">
            <a:avLst>
              <a:gd name="adj" fmla="val 8000"/>
            </a:avLst>
          </a:prstGeom>
          <a:solidFill>
            <a:schemeClr val="tx2"/>
          </a:solidFill>
          <a:ln w="12700">
            <a:solidFill>
              <a:schemeClr val="tx2"/>
            </a:solidFill>
            <a:prstDash val="solid"/>
          </a:ln>
        </p:spPr>
        <p:txBody>
          <a:bodyPr/>
          <a:lstStyle/>
          <a:p>
            <a:endParaRPr lang="es-PE"/>
          </a:p>
        </p:txBody>
      </p:sp>
      <p:sp>
        <p:nvSpPr>
          <p:cNvPr id="13" name="Text 11"/>
          <p:cNvSpPr txBox="1"/>
          <p:nvPr/>
        </p:nvSpPr>
        <p:spPr>
          <a:xfrm>
            <a:off x="4389120" y="1691640"/>
            <a:ext cx="1143000" cy="1188720"/>
          </a:xfrm>
          <a:prstGeom prst="rect">
            <a:avLst/>
          </a:prstGeom>
          <a:noFill/>
          <a:ln/>
        </p:spPr>
        <p:txBody>
          <a:bodyPr wrap="square" lIns="0" tIns="0" rIns="0" bIns="0" rtlCol="0" anchor="ctr"/>
          <a:lstStyle/>
          <a:p>
            <a:pPr marL="0" indent="0" algn="ctr">
              <a:buNone/>
            </a:pPr>
            <a:r>
              <a:rPr lang="en-US" sz="2200" b="1" dirty="0">
                <a:solidFill>
                  <a:schemeClr val="bg1"/>
                </a:solidFill>
              </a:rPr>
              <a:t>P3</a:t>
            </a:r>
            <a:endParaRPr lang="en-US" sz="2200" dirty="0"/>
          </a:p>
          <a:p>
            <a:pPr marL="0" indent="0" algn="ctr">
              <a:buNone/>
            </a:pPr>
            <a:r>
              <a:rPr lang="en-US" sz="1100" dirty="0">
                <a:solidFill>
                  <a:schemeClr val="bg1"/>
                </a:solidFill>
              </a:rPr>
              <a:t>Pago Yape</a:t>
            </a:r>
            <a:endParaRPr lang="en-US" sz="2200" dirty="0"/>
          </a:p>
        </p:txBody>
      </p:sp>
      <p:sp>
        <p:nvSpPr>
          <p:cNvPr id="14" name="screen-P4"/>
          <p:cNvSpPr/>
          <p:nvPr/>
        </p:nvSpPr>
        <p:spPr>
          <a:xfrm>
            <a:off x="5669280" y="1691640"/>
            <a:ext cx="1143000" cy="1188720"/>
          </a:xfrm>
          <a:prstGeom prst="roundRect">
            <a:avLst>
              <a:gd name="adj" fmla="val 8000"/>
            </a:avLst>
          </a:prstGeom>
          <a:solidFill>
            <a:schemeClr val="tx2"/>
          </a:solidFill>
          <a:ln w="12700">
            <a:solidFill>
              <a:schemeClr val="tx2"/>
            </a:solidFill>
            <a:prstDash val="solid"/>
          </a:ln>
        </p:spPr>
        <p:txBody>
          <a:bodyPr/>
          <a:lstStyle/>
          <a:p>
            <a:endParaRPr lang="es-PE"/>
          </a:p>
        </p:txBody>
      </p:sp>
      <p:sp>
        <p:nvSpPr>
          <p:cNvPr id="15" name="Text 13"/>
          <p:cNvSpPr txBox="1"/>
          <p:nvPr/>
        </p:nvSpPr>
        <p:spPr>
          <a:xfrm>
            <a:off x="5669280" y="1691640"/>
            <a:ext cx="1143000" cy="1188720"/>
          </a:xfrm>
          <a:prstGeom prst="rect">
            <a:avLst/>
          </a:prstGeom>
          <a:noFill/>
          <a:ln/>
        </p:spPr>
        <p:txBody>
          <a:bodyPr wrap="square" lIns="0" tIns="0" rIns="0" bIns="0" rtlCol="0" anchor="ctr"/>
          <a:lstStyle/>
          <a:p>
            <a:pPr marL="0" indent="0" algn="ctr">
              <a:buNone/>
            </a:pPr>
            <a:r>
              <a:rPr lang="en-US" sz="2200" b="1" dirty="0">
                <a:solidFill>
                  <a:schemeClr val="bg1"/>
                </a:solidFill>
              </a:rPr>
              <a:t>P4</a:t>
            </a:r>
            <a:endParaRPr lang="en-US" sz="2200" dirty="0"/>
          </a:p>
          <a:p>
            <a:pPr marL="0" indent="0" algn="ctr">
              <a:buNone/>
            </a:pPr>
            <a:r>
              <a:rPr lang="en-US" sz="1100" dirty="0">
                <a:solidFill>
                  <a:schemeClr val="bg1"/>
                </a:solidFill>
              </a:rPr>
              <a:t>Confirmación</a:t>
            </a:r>
            <a:endParaRPr lang="en-US" sz="2200" dirty="0"/>
          </a:p>
        </p:txBody>
      </p:sp>
      <p:sp>
        <p:nvSpPr>
          <p:cNvPr id="16" name="screen-P5"/>
          <p:cNvSpPr/>
          <p:nvPr/>
        </p:nvSpPr>
        <p:spPr>
          <a:xfrm>
            <a:off x="6949440" y="1691640"/>
            <a:ext cx="1143000" cy="1188720"/>
          </a:xfrm>
          <a:prstGeom prst="roundRect">
            <a:avLst>
              <a:gd name="adj" fmla="val 8000"/>
            </a:avLst>
          </a:prstGeom>
          <a:solidFill>
            <a:schemeClr val="tx2"/>
          </a:solidFill>
          <a:ln w="12700">
            <a:solidFill>
              <a:schemeClr val="tx2"/>
            </a:solidFill>
            <a:prstDash val="solid"/>
          </a:ln>
        </p:spPr>
        <p:txBody>
          <a:bodyPr/>
          <a:lstStyle/>
          <a:p>
            <a:endParaRPr lang="es-PE"/>
          </a:p>
        </p:txBody>
      </p:sp>
      <p:sp>
        <p:nvSpPr>
          <p:cNvPr id="17" name="Text 15"/>
          <p:cNvSpPr txBox="1"/>
          <p:nvPr/>
        </p:nvSpPr>
        <p:spPr>
          <a:xfrm>
            <a:off x="6949440" y="1691640"/>
            <a:ext cx="1143000" cy="1188720"/>
          </a:xfrm>
          <a:prstGeom prst="rect">
            <a:avLst/>
          </a:prstGeom>
          <a:noFill/>
          <a:ln/>
        </p:spPr>
        <p:txBody>
          <a:bodyPr wrap="square" lIns="0" tIns="0" rIns="0" bIns="0" rtlCol="0" anchor="ctr"/>
          <a:lstStyle/>
          <a:p>
            <a:pPr marL="0" indent="0" algn="ctr">
              <a:buNone/>
            </a:pPr>
            <a:r>
              <a:rPr lang="en-US" sz="2200" b="1" dirty="0">
                <a:solidFill>
                  <a:schemeClr val="bg1"/>
                </a:solidFill>
              </a:rPr>
              <a:t>P5</a:t>
            </a:r>
            <a:endParaRPr lang="en-US" sz="2200" dirty="0"/>
          </a:p>
          <a:p>
            <a:pPr marL="0" indent="0" algn="ctr">
              <a:buNone/>
            </a:pPr>
            <a:r>
              <a:rPr lang="en-US" sz="1100" dirty="0">
                <a:solidFill>
                  <a:schemeClr val="bg1"/>
                </a:solidFill>
              </a:rPr>
              <a:t>Mis citas</a:t>
            </a:r>
            <a:endParaRPr lang="en-US" sz="2200" dirty="0"/>
          </a:p>
        </p:txBody>
      </p:sp>
      <p:sp>
        <p:nvSpPr>
          <p:cNvPr id="18" name="screen-P6"/>
          <p:cNvSpPr/>
          <p:nvPr/>
        </p:nvSpPr>
        <p:spPr>
          <a:xfrm>
            <a:off x="548640" y="3063240"/>
            <a:ext cx="1143000" cy="1188720"/>
          </a:xfrm>
          <a:prstGeom prst="roundRect">
            <a:avLst>
              <a:gd name="adj" fmla="val 8000"/>
            </a:avLst>
          </a:prstGeom>
          <a:solidFill>
            <a:schemeClr val="tx2"/>
          </a:solidFill>
          <a:ln w="12700">
            <a:solidFill>
              <a:schemeClr val="tx2"/>
            </a:solidFill>
            <a:prstDash val="solid"/>
          </a:ln>
        </p:spPr>
        <p:txBody>
          <a:bodyPr/>
          <a:lstStyle/>
          <a:p>
            <a:endParaRPr lang="es-PE"/>
          </a:p>
        </p:txBody>
      </p:sp>
      <p:sp>
        <p:nvSpPr>
          <p:cNvPr id="19" name="Text 17"/>
          <p:cNvSpPr txBox="1"/>
          <p:nvPr/>
        </p:nvSpPr>
        <p:spPr>
          <a:xfrm>
            <a:off x="548640" y="3063240"/>
            <a:ext cx="1143000" cy="1188720"/>
          </a:xfrm>
          <a:prstGeom prst="rect">
            <a:avLst/>
          </a:prstGeom>
          <a:noFill/>
          <a:ln/>
        </p:spPr>
        <p:txBody>
          <a:bodyPr wrap="square" lIns="0" tIns="0" rIns="0" bIns="0" rtlCol="0" anchor="ctr"/>
          <a:lstStyle/>
          <a:p>
            <a:pPr marL="0" indent="0" algn="ctr">
              <a:buNone/>
            </a:pPr>
            <a:r>
              <a:rPr lang="en-US" sz="2200" b="1" dirty="0">
                <a:solidFill>
                  <a:schemeClr val="bg1"/>
                </a:solidFill>
              </a:rPr>
              <a:t>P6</a:t>
            </a:r>
            <a:endParaRPr lang="en-US" sz="2200" dirty="0"/>
          </a:p>
          <a:p>
            <a:pPr marL="0" indent="0" algn="ctr">
              <a:buNone/>
            </a:pPr>
            <a:r>
              <a:rPr lang="en-US" sz="1100" dirty="0">
                <a:solidFill>
                  <a:schemeClr val="bg1"/>
                </a:solidFill>
              </a:rPr>
              <a:t>Mi perfil</a:t>
            </a:r>
            <a:endParaRPr lang="en-US" sz="2200" dirty="0"/>
          </a:p>
        </p:txBody>
      </p:sp>
      <p:sp>
        <p:nvSpPr>
          <p:cNvPr id="20" name="screen-P7"/>
          <p:cNvSpPr/>
          <p:nvPr/>
        </p:nvSpPr>
        <p:spPr>
          <a:xfrm>
            <a:off x="1828800" y="3063240"/>
            <a:ext cx="1143000" cy="1188720"/>
          </a:xfrm>
          <a:prstGeom prst="roundRect">
            <a:avLst>
              <a:gd name="adj" fmla="val 8000"/>
            </a:avLst>
          </a:prstGeom>
          <a:solidFill>
            <a:schemeClr val="tx2"/>
          </a:solidFill>
          <a:ln w="12700">
            <a:solidFill>
              <a:schemeClr val="tx2"/>
            </a:solidFill>
            <a:prstDash val="solid"/>
          </a:ln>
        </p:spPr>
        <p:txBody>
          <a:bodyPr/>
          <a:lstStyle/>
          <a:p>
            <a:endParaRPr lang="es-PE"/>
          </a:p>
        </p:txBody>
      </p:sp>
      <p:sp>
        <p:nvSpPr>
          <p:cNvPr id="21" name="Text 19"/>
          <p:cNvSpPr txBox="1"/>
          <p:nvPr/>
        </p:nvSpPr>
        <p:spPr>
          <a:xfrm>
            <a:off x="1828800" y="3063240"/>
            <a:ext cx="1143000" cy="1188720"/>
          </a:xfrm>
          <a:prstGeom prst="rect">
            <a:avLst/>
          </a:prstGeom>
          <a:noFill/>
          <a:ln/>
        </p:spPr>
        <p:txBody>
          <a:bodyPr wrap="square" lIns="0" tIns="0" rIns="0" bIns="0" rtlCol="0" anchor="ctr"/>
          <a:lstStyle/>
          <a:p>
            <a:pPr marL="0" indent="0" algn="ctr">
              <a:buNone/>
            </a:pPr>
            <a:r>
              <a:rPr lang="en-US" sz="2200" b="1" dirty="0">
                <a:solidFill>
                  <a:schemeClr val="bg1"/>
                </a:solidFill>
              </a:rPr>
              <a:t>P7</a:t>
            </a:r>
            <a:endParaRPr lang="en-US" sz="2200" dirty="0"/>
          </a:p>
          <a:p>
            <a:pPr marL="0" indent="0" algn="ctr">
              <a:buNone/>
            </a:pPr>
            <a:r>
              <a:rPr lang="en-US" sz="1100" dirty="0">
                <a:solidFill>
                  <a:schemeClr val="bg1"/>
                </a:solidFill>
              </a:rPr>
              <a:t>Agenda</a:t>
            </a:r>
            <a:endParaRPr lang="en-US" sz="2200" dirty="0"/>
          </a:p>
        </p:txBody>
      </p:sp>
      <p:sp>
        <p:nvSpPr>
          <p:cNvPr id="22" name="screen-P8"/>
          <p:cNvSpPr/>
          <p:nvPr/>
        </p:nvSpPr>
        <p:spPr>
          <a:xfrm>
            <a:off x="3108960" y="3063240"/>
            <a:ext cx="1143000" cy="1188720"/>
          </a:xfrm>
          <a:prstGeom prst="roundRect">
            <a:avLst>
              <a:gd name="adj" fmla="val 8000"/>
            </a:avLst>
          </a:prstGeom>
          <a:solidFill>
            <a:schemeClr val="bg2"/>
          </a:solidFill>
          <a:ln w="12700">
            <a:solidFill>
              <a:srgbClr val="E2E8F0"/>
            </a:solidFill>
            <a:prstDash val="solid"/>
          </a:ln>
        </p:spPr>
        <p:txBody>
          <a:bodyPr/>
          <a:lstStyle/>
          <a:p>
            <a:endParaRPr lang="es-PE"/>
          </a:p>
        </p:txBody>
      </p:sp>
      <p:sp>
        <p:nvSpPr>
          <p:cNvPr id="23" name="Text 21"/>
          <p:cNvSpPr txBox="1"/>
          <p:nvPr/>
        </p:nvSpPr>
        <p:spPr>
          <a:xfrm>
            <a:off x="3108960" y="3063240"/>
            <a:ext cx="1143000" cy="1188720"/>
          </a:xfrm>
          <a:prstGeom prst="rect">
            <a:avLst/>
          </a:prstGeom>
          <a:noFill/>
          <a:ln/>
        </p:spPr>
        <p:txBody>
          <a:bodyPr wrap="square" lIns="0" tIns="0" rIns="0" bIns="0" rtlCol="0" anchor="ctr"/>
          <a:lstStyle/>
          <a:p>
            <a:pPr marL="0" indent="0" algn="ctr">
              <a:buNone/>
            </a:pPr>
            <a:r>
              <a:rPr lang="en-US" sz="2200" b="1" dirty="0">
                <a:solidFill>
                  <a:schemeClr val="tx1"/>
                </a:solidFill>
              </a:rPr>
              <a:t>P8</a:t>
            </a:r>
            <a:endParaRPr lang="en-US" sz="2200" dirty="0"/>
          </a:p>
          <a:p>
            <a:pPr marL="0" indent="0" algn="ctr">
              <a:buNone/>
            </a:pPr>
            <a:r>
              <a:rPr lang="en-US" sz="1100" dirty="0">
                <a:solidFill>
                  <a:schemeClr val="tx1"/>
                </a:solidFill>
              </a:rPr>
              <a:t>Detalle</a:t>
            </a:r>
            <a:endParaRPr lang="en-US" sz="2200" dirty="0"/>
          </a:p>
        </p:txBody>
      </p:sp>
      <p:sp>
        <p:nvSpPr>
          <p:cNvPr id="24" name="screen-P9"/>
          <p:cNvSpPr/>
          <p:nvPr/>
        </p:nvSpPr>
        <p:spPr>
          <a:xfrm>
            <a:off x="4389120" y="3063240"/>
            <a:ext cx="1143000" cy="1188720"/>
          </a:xfrm>
          <a:prstGeom prst="roundRect">
            <a:avLst>
              <a:gd name="adj" fmla="val 8000"/>
            </a:avLst>
          </a:prstGeom>
          <a:solidFill>
            <a:schemeClr val="tx2"/>
          </a:solidFill>
          <a:ln w="12700">
            <a:solidFill>
              <a:schemeClr val="tx2"/>
            </a:solidFill>
            <a:prstDash val="solid"/>
          </a:ln>
        </p:spPr>
        <p:txBody>
          <a:bodyPr/>
          <a:lstStyle/>
          <a:p>
            <a:endParaRPr lang="es-PE"/>
          </a:p>
        </p:txBody>
      </p:sp>
      <p:sp>
        <p:nvSpPr>
          <p:cNvPr id="25" name="Text 23"/>
          <p:cNvSpPr txBox="1"/>
          <p:nvPr/>
        </p:nvSpPr>
        <p:spPr>
          <a:xfrm>
            <a:off x="4389120" y="3063240"/>
            <a:ext cx="1143000" cy="1188720"/>
          </a:xfrm>
          <a:prstGeom prst="rect">
            <a:avLst/>
          </a:prstGeom>
          <a:noFill/>
          <a:ln/>
        </p:spPr>
        <p:txBody>
          <a:bodyPr wrap="square" lIns="0" tIns="0" rIns="0" bIns="0" rtlCol="0" anchor="ctr"/>
          <a:lstStyle/>
          <a:p>
            <a:pPr marL="0" indent="0" algn="ctr">
              <a:buNone/>
            </a:pPr>
            <a:r>
              <a:rPr lang="en-US" sz="2200" b="1" dirty="0">
                <a:solidFill>
                  <a:schemeClr val="bg1"/>
                </a:solidFill>
              </a:rPr>
              <a:t>P9</a:t>
            </a:r>
            <a:endParaRPr lang="en-US" sz="2200" dirty="0"/>
          </a:p>
          <a:p>
            <a:pPr marL="0" indent="0" algn="ctr">
              <a:buNone/>
            </a:pPr>
            <a:r>
              <a:rPr lang="en-US" sz="1100" dirty="0">
                <a:solidFill>
                  <a:schemeClr val="bg1"/>
                </a:solidFill>
              </a:rPr>
              <a:t>Rep. citas</a:t>
            </a:r>
            <a:endParaRPr lang="en-US" sz="2200" dirty="0"/>
          </a:p>
        </p:txBody>
      </p:sp>
      <p:sp>
        <p:nvSpPr>
          <p:cNvPr id="26" name="screen-P10"/>
          <p:cNvSpPr/>
          <p:nvPr/>
        </p:nvSpPr>
        <p:spPr>
          <a:xfrm>
            <a:off x="5669280" y="3063240"/>
            <a:ext cx="1143000" cy="1188720"/>
          </a:xfrm>
          <a:prstGeom prst="roundRect">
            <a:avLst>
              <a:gd name="adj" fmla="val 8000"/>
            </a:avLst>
          </a:prstGeom>
          <a:solidFill>
            <a:schemeClr val="tx2"/>
          </a:solidFill>
          <a:ln w="12700">
            <a:solidFill>
              <a:schemeClr val="tx2"/>
            </a:solidFill>
            <a:prstDash val="solid"/>
          </a:ln>
        </p:spPr>
        <p:txBody>
          <a:bodyPr/>
          <a:lstStyle/>
          <a:p>
            <a:endParaRPr lang="es-PE"/>
          </a:p>
        </p:txBody>
      </p:sp>
      <p:sp>
        <p:nvSpPr>
          <p:cNvPr id="27" name="Text 25"/>
          <p:cNvSpPr txBox="1"/>
          <p:nvPr/>
        </p:nvSpPr>
        <p:spPr>
          <a:xfrm>
            <a:off x="5669280" y="3063240"/>
            <a:ext cx="1143000" cy="1188720"/>
          </a:xfrm>
          <a:prstGeom prst="rect">
            <a:avLst/>
          </a:prstGeom>
          <a:noFill/>
          <a:ln/>
        </p:spPr>
        <p:txBody>
          <a:bodyPr wrap="square" lIns="0" tIns="0" rIns="0" bIns="0" rtlCol="0" anchor="ctr"/>
          <a:lstStyle/>
          <a:p>
            <a:pPr marL="0" indent="0" algn="ctr">
              <a:buNone/>
            </a:pPr>
            <a:r>
              <a:rPr lang="en-US" sz="2200" b="1" dirty="0">
                <a:solidFill>
                  <a:schemeClr val="bg1"/>
                </a:solidFill>
              </a:rPr>
              <a:t>P10</a:t>
            </a:r>
            <a:endParaRPr lang="en-US" sz="2200" dirty="0"/>
          </a:p>
          <a:p>
            <a:pPr marL="0" indent="0" algn="ctr">
              <a:buNone/>
            </a:pPr>
            <a:r>
              <a:rPr lang="en-US" sz="1100" dirty="0">
                <a:solidFill>
                  <a:schemeClr val="bg1"/>
                </a:solidFill>
              </a:rPr>
              <a:t>Rep. pagos</a:t>
            </a:r>
            <a:endParaRPr lang="en-US" sz="2200" dirty="0"/>
          </a:p>
        </p:txBody>
      </p:sp>
      <p:sp>
        <p:nvSpPr>
          <p:cNvPr id="28" name="lg1"/>
          <p:cNvSpPr/>
          <p:nvPr/>
        </p:nvSpPr>
        <p:spPr>
          <a:xfrm>
            <a:off x="548640" y="4572000"/>
            <a:ext cx="274320" cy="274320"/>
          </a:xfrm>
          <a:prstGeom prst="roundRect">
            <a:avLst>
              <a:gd name="adj" fmla="val 16667"/>
            </a:avLst>
          </a:prstGeom>
          <a:solidFill>
            <a:schemeClr val="tx2"/>
          </a:solidFill>
          <a:ln w="12700">
            <a:solidFill>
              <a:schemeClr val="tx2"/>
            </a:solidFill>
            <a:prstDash val="solid"/>
          </a:ln>
        </p:spPr>
        <p:txBody>
          <a:bodyPr/>
          <a:lstStyle/>
          <a:p>
            <a:endParaRPr lang="es-PE"/>
          </a:p>
        </p:txBody>
      </p:sp>
      <p:sp>
        <p:nvSpPr>
          <p:cNvPr id="29" name="Text 27"/>
          <p:cNvSpPr txBox="1"/>
          <p:nvPr/>
        </p:nvSpPr>
        <p:spPr>
          <a:xfrm>
            <a:off x="914400" y="4544568"/>
            <a:ext cx="4114800" cy="329184"/>
          </a:xfrm>
          <a:prstGeom prst="rect">
            <a:avLst/>
          </a:prstGeom>
          <a:noFill/>
          <a:ln/>
        </p:spPr>
        <p:txBody>
          <a:bodyPr wrap="square" lIns="0" tIns="0" rIns="0" bIns="0" rtlCol="0" anchor="ctr"/>
          <a:lstStyle/>
          <a:p>
            <a:pPr marL="0" indent="0">
              <a:buNone/>
            </a:pPr>
            <a:r>
              <a:rPr lang="en-US" sz="1300" dirty="0">
                <a:solidFill>
                  <a:schemeClr val="tx1"/>
                </a:solidFill>
              </a:rPr>
              <a:t>Implementada en Spring Boot + Thymeleaf</a:t>
            </a:r>
            <a:endParaRPr lang="en-US" sz="1300" dirty="0"/>
          </a:p>
        </p:txBody>
      </p:sp>
      <p:sp>
        <p:nvSpPr>
          <p:cNvPr id="30" name="lg2"/>
          <p:cNvSpPr/>
          <p:nvPr/>
        </p:nvSpPr>
        <p:spPr>
          <a:xfrm>
            <a:off x="548640" y="4983480"/>
            <a:ext cx="274320" cy="274320"/>
          </a:xfrm>
          <a:prstGeom prst="roundRect">
            <a:avLst>
              <a:gd name="adj" fmla="val 16667"/>
            </a:avLst>
          </a:prstGeom>
          <a:solidFill>
            <a:schemeClr val="bg2"/>
          </a:solidFill>
          <a:ln w="12700">
            <a:solidFill>
              <a:srgbClr val="E2E8F0"/>
            </a:solidFill>
            <a:prstDash val="solid"/>
          </a:ln>
        </p:spPr>
        <p:txBody>
          <a:bodyPr/>
          <a:lstStyle/>
          <a:p>
            <a:endParaRPr lang="es-PE"/>
          </a:p>
        </p:txBody>
      </p:sp>
      <p:sp>
        <p:nvSpPr>
          <p:cNvPr id="31" name="Text 29"/>
          <p:cNvSpPr txBox="1"/>
          <p:nvPr/>
        </p:nvSpPr>
        <p:spPr>
          <a:xfrm>
            <a:off x="914400" y="4956048"/>
            <a:ext cx="4114800" cy="329184"/>
          </a:xfrm>
          <a:prstGeom prst="rect">
            <a:avLst/>
          </a:prstGeom>
          <a:noFill/>
          <a:ln/>
        </p:spPr>
        <p:txBody>
          <a:bodyPr wrap="square" lIns="0" tIns="0" rIns="0" bIns="0" rtlCol="0" anchor="ctr"/>
          <a:lstStyle/>
          <a:p>
            <a:pPr marL="0" indent="0">
              <a:buNone/>
            </a:pPr>
            <a:r>
              <a:rPr lang="en-US" sz="1300" dirty="0">
                <a:solidFill>
                  <a:schemeClr val="tx1"/>
                </a:solidFill>
              </a:rPr>
              <a:t>Diseño aprobado, implementación en curso</a:t>
            </a:r>
            <a:endParaRPr lang="en-US" sz="1300" dirty="0"/>
          </a:p>
        </p:txBody>
      </p:sp>
      <p:sp>
        <p:nvSpPr>
          <p:cNvPr id="32" name="Text 30"/>
          <p:cNvSpPr txBox="1"/>
          <p:nvPr/>
        </p:nvSpPr>
        <p:spPr>
          <a:xfrm>
            <a:off x="548640" y="5486400"/>
            <a:ext cx="7315200" cy="365760"/>
          </a:xfrm>
          <a:prstGeom prst="rect">
            <a:avLst/>
          </a:prstGeom>
          <a:noFill/>
          <a:ln/>
        </p:spPr>
        <p:txBody>
          <a:bodyPr wrap="square" lIns="0" tIns="0" rIns="0" bIns="0" rtlCol="0" anchor="ctr"/>
          <a:lstStyle/>
          <a:p>
            <a:pPr marL="0" indent="0">
              <a:buNone/>
            </a:pPr>
            <a:r>
              <a:rPr lang="en-US" sz="1300" i="1" dirty="0">
                <a:solidFill>
                  <a:schemeClr val="accent6"/>
                </a:solidFill>
              </a:rPr>
              <a:t>Las 11 pantallas tienen diseño aprobado para escritorio y móvil.</a:t>
            </a:r>
            <a:endParaRPr lang="en-US" sz="1300" dirty="0"/>
          </a:p>
        </p:txBody>
      </p:sp>
      <p:sp>
        <p:nvSpPr>
          <p:cNvPr id="33" name="coherencia"/>
          <p:cNvSpPr/>
          <p:nvPr/>
        </p:nvSpPr>
        <p:spPr>
          <a:xfrm>
            <a:off x="8321040" y="1691640"/>
            <a:ext cx="3319272" cy="4434840"/>
          </a:xfrm>
          <a:prstGeom prst="roundRect">
            <a:avLst>
              <a:gd name="adj" fmla="val 3306"/>
            </a:avLst>
          </a:prstGeom>
          <a:solidFill>
            <a:schemeClr val="bg1"/>
          </a:solidFill>
          <a:ln w="12700">
            <a:solidFill>
              <a:schemeClr val="bg2"/>
            </a:solidFill>
            <a:prstDash val="solid"/>
          </a:ln>
          <a:effectLst>
            <a:outerShdw blurRad="127000" dist="25400" dir="5400000" algn="bl" rotWithShape="0">
              <a:srgbClr val="0F172A">
                <a:alpha val="12000"/>
              </a:srgbClr>
            </a:outerShdw>
          </a:effectLst>
        </p:spPr>
        <p:txBody>
          <a:bodyPr/>
          <a:lstStyle/>
          <a:p>
            <a:endParaRPr lang="es-PE"/>
          </a:p>
        </p:txBody>
      </p:sp>
      <p:sp>
        <p:nvSpPr>
          <p:cNvPr id="34" name="icon-bg"/>
          <p:cNvSpPr/>
          <p:nvPr/>
        </p:nvSpPr>
        <p:spPr>
          <a:xfrm>
            <a:off x="8549640" y="1874520"/>
            <a:ext cx="548640" cy="548640"/>
          </a:xfrm>
          <a:prstGeom prst="ellipse">
            <a:avLst/>
          </a:prstGeom>
          <a:solidFill>
            <a:srgbClr val="D1FAE5"/>
          </a:solidFill>
          <a:ln w="12700">
            <a:solidFill>
              <a:srgbClr val="D1FAE5"/>
            </a:solidFill>
            <a:prstDash val="solid"/>
          </a:ln>
        </p:spPr>
        <p:txBody>
          <a:bodyPr/>
          <a:lstStyle/>
          <a:p>
            <a:endParaRPr lang="es-PE"/>
          </a:p>
        </p:txBody>
      </p:sp>
      <p:pic>
        <p:nvPicPr>
          <p:cNvPr id="35" name="icon" descr="preencoded.png"/>
          <p:cNvPicPr>
            <a:picLocks noChangeAspect="1"/>
          </p:cNvPicPr>
          <p:nvPr/>
        </p:nvPicPr>
        <p:blipFill>
          <a:blip r:embed="rId3"/>
          <a:stretch>
            <a:fillRect/>
          </a:stretch>
        </p:blipFill>
        <p:spPr>
          <a:xfrm>
            <a:off x="8686800" y="2011680"/>
            <a:ext cx="274320" cy="274320"/>
          </a:xfrm>
          <a:prstGeom prst="rect">
            <a:avLst/>
          </a:prstGeom>
        </p:spPr>
      </p:pic>
      <p:sp>
        <p:nvSpPr>
          <p:cNvPr id="36" name="Text 33"/>
          <p:cNvSpPr txBox="1"/>
          <p:nvPr/>
        </p:nvSpPr>
        <p:spPr>
          <a:xfrm>
            <a:off x="9235440" y="1874520"/>
            <a:ext cx="2286000" cy="548640"/>
          </a:xfrm>
          <a:prstGeom prst="rect">
            <a:avLst/>
          </a:prstGeom>
          <a:noFill/>
          <a:ln/>
        </p:spPr>
        <p:txBody>
          <a:bodyPr wrap="square" lIns="0" tIns="0" rIns="0" bIns="0" rtlCol="0" anchor="ctr"/>
          <a:lstStyle/>
          <a:p>
            <a:pPr marL="0" indent="0">
              <a:buNone/>
            </a:pPr>
            <a:r>
              <a:rPr lang="en-US" sz="2000" b="1" dirty="0">
                <a:solidFill>
                  <a:schemeClr val="tx1"/>
                </a:solidFill>
              </a:rPr>
              <a:t>Coherencia</a:t>
            </a:r>
            <a:endParaRPr lang="en-US" sz="2000" dirty="0"/>
          </a:p>
        </p:txBody>
      </p:sp>
      <p:sp>
        <p:nvSpPr>
          <p:cNvPr id="37" name="Text 34"/>
          <p:cNvSpPr txBox="1"/>
          <p:nvPr/>
        </p:nvSpPr>
        <p:spPr>
          <a:xfrm>
            <a:off x="8549640" y="2606040"/>
            <a:ext cx="2926080" cy="3291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README como referencia única</a:t>
            </a:r>
            <a:endParaRPr lang="en-US" sz="1400" dirty="0"/>
          </a:p>
          <a:p>
            <a:pPr marL="342900" indent="-342900">
              <a:spcAft>
                <a:spcPts val="800"/>
              </a:spcAft>
              <a:buSzPct val="100000"/>
              <a:buChar char="•"/>
            </a:pPr>
            <a:r>
              <a:rPr lang="en-US" sz="1400" dirty="0">
                <a:solidFill>
                  <a:schemeClr val="tx1"/>
                </a:solidFill>
              </a:rPr>
              <a:t>Mismos IDs en todo: P0–P10, RF01–RF16, RN-01–RN-14</a:t>
            </a:r>
            <a:endParaRPr lang="en-US" sz="1400" dirty="0"/>
          </a:p>
          <a:p>
            <a:pPr marL="342900" indent="-342900">
              <a:spcAft>
                <a:spcPts val="800"/>
              </a:spcAft>
              <a:buSzPct val="100000"/>
              <a:buChar char="•"/>
            </a:pPr>
            <a:r>
              <a:rPr lang="en-US" sz="1400" dirty="0">
                <a:solidFill>
                  <a:schemeClr val="tx1"/>
                </a:solidFill>
              </a:rPr>
              <a:t>Clases nombradas como en el diagrama T-02</a:t>
            </a:r>
            <a:endParaRPr lang="en-US" sz="1400" dirty="0"/>
          </a:p>
          <a:p>
            <a:pPr marL="342900" indent="-342900">
              <a:spcAft>
                <a:spcPts val="800"/>
              </a:spcAft>
              <a:buSzPct val="100000"/>
              <a:buChar char="•"/>
            </a:pPr>
            <a:r>
              <a:rPr lang="en-US" sz="1400" dirty="0">
                <a:solidFill>
                  <a:schemeClr val="tx1"/>
                </a:solidFill>
              </a:rPr>
              <a:t>SQL, diagramas y diseño alineados al alcance</a:t>
            </a:r>
            <a:endParaRPr lang="en-US" sz="1400" dirty="0"/>
          </a:p>
        </p:txBody>
      </p:sp>
      <p:sp>
        <p:nvSpPr>
          <p:cNvPr id="38"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548640"/>
            <a:ext cx="7315200" cy="365760"/>
          </a:xfrm>
          <a:prstGeom prst="rect">
            <a:avLst/>
          </a:prstGeom>
          <a:noFill/>
          <a:ln/>
        </p:spPr>
        <p:txBody>
          <a:bodyPr wrap="square" lIns="0" tIns="0" rIns="0" bIns="0" rtlCol="0" anchor="ctr"/>
          <a:lstStyle/>
          <a:p>
            <a:pPr marL="0" indent="0">
              <a:buNone/>
            </a:pPr>
            <a:r>
              <a:rPr lang="en-US" sz="1400" b="1" kern="0" spc="300" dirty="0">
                <a:solidFill>
                  <a:srgbClr val="10B981"/>
                </a:solidFill>
              </a:rPr>
              <a:t>DEMO Y PRÓXIMOS PASOS</a:t>
            </a:r>
            <a:endParaRPr lang="en-US" sz="1400" dirty="0"/>
          </a:p>
        </p:txBody>
      </p:sp>
      <p:sp>
        <p:nvSpPr>
          <p:cNvPr id="3" name="Text 1"/>
          <p:cNvSpPr txBox="1"/>
          <p:nvPr/>
        </p:nvSpPr>
        <p:spPr>
          <a:xfrm>
            <a:off x="731520" y="914400"/>
            <a:ext cx="10058400" cy="822960"/>
          </a:xfrm>
          <a:prstGeom prst="rect">
            <a:avLst/>
          </a:prstGeom>
          <a:noFill/>
          <a:ln/>
        </p:spPr>
        <p:txBody>
          <a:bodyPr wrap="square" lIns="0" tIns="0" rIns="0" bIns="0" rtlCol="0" anchor="ctr"/>
          <a:lstStyle/>
          <a:p>
            <a:pPr marL="0" indent="0">
              <a:buNone/>
            </a:pPr>
            <a:r>
              <a:rPr lang="en-US" sz="4000" b="1" dirty="0">
                <a:solidFill>
                  <a:schemeClr val="bg1"/>
                </a:solidFill>
              </a:rPr>
              <a:t>Lo vemos funcionando</a:t>
            </a:r>
            <a:endParaRPr lang="en-US" sz="4000" dirty="0"/>
          </a:p>
        </p:txBody>
      </p:sp>
      <p:sp>
        <p:nvSpPr>
          <p:cNvPr id="4" name="demo-card"/>
          <p:cNvSpPr/>
          <p:nvPr/>
        </p:nvSpPr>
        <p:spPr>
          <a:xfrm>
            <a:off x="731520" y="2011680"/>
            <a:ext cx="5303520" cy="4023360"/>
          </a:xfrm>
          <a:prstGeom prst="roundRect">
            <a:avLst>
              <a:gd name="adj" fmla="val 3409"/>
            </a:avLst>
          </a:prstGeom>
          <a:solidFill>
            <a:srgbClr val="0A4A3E"/>
          </a:solidFill>
          <a:ln w="12700">
            <a:solidFill>
              <a:srgbClr val="0A4A3E"/>
            </a:solidFill>
            <a:prstDash val="solid"/>
          </a:ln>
        </p:spPr>
        <p:txBody>
          <a:bodyPr/>
          <a:lstStyle/>
          <a:p>
            <a:endParaRPr lang="es-PE"/>
          </a:p>
        </p:txBody>
      </p:sp>
      <p:sp>
        <p:nvSpPr>
          <p:cNvPr id="5" name="Text 3"/>
          <p:cNvSpPr txBox="1"/>
          <p:nvPr/>
        </p:nvSpPr>
        <p:spPr>
          <a:xfrm>
            <a:off x="1005840" y="2194560"/>
            <a:ext cx="4846320" cy="411480"/>
          </a:xfrm>
          <a:prstGeom prst="rect">
            <a:avLst/>
          </a:prstGeom>
          <a:noFill/>
          <a:ln/>
        </p:spPr>
        <p:txBody>
          <a:bodyPr wrap="square" lIns="0" tIns="0" rIns="0" bIns="0" rtlCol="0" anchor="ctr"/>
          <a:lstStyle/>
          <a:p>
            <a:pPr marL="0" indent="0">
              <a:buNone/>
            </a:pPr>
            <a:r>
              <a:rPr lang="en-US" sz="1800" b="1" dirty="0">
                <a:solidFill>
                  <a:schemeClr val="bg1"/>
                </a:solidFill>
              </a:rPr>
              <a:t>Guion de la demo (localhost:8080)</a:t>
            </a:r>
            <a:endParaRPr lang="en-US" sz="1800" dirty="0"/>
          </a:p>
        </p:txBody>
      </p:sp>
      <p:sp>
        <p:nvSpPr>
          <p:cNvPr id="6" name="num-dot"/>
          <p:cNvSpPr/>
          <p:nvPr/>
        </p:nvSpPr>
        <p:spPr>
          <a:xfrm>
            <a:off x="1005840" y="2834640"/>
            <a:ext cx="384048" cy="384048"/>
          </a:xfrm>
          <a:prstGeom prst="ellipse">
            <a:avLst/>
          </a:prstGeom>
          <a:solidFill>
            <a:schemeClr val="accent2"/>
          </a:solidFill>
          <a:ln w="12700">
            <a:solidFill>
              <a:schemeClr val="accent2"/>
            </a:solidFill>
            <a:prstDash val="solid"/>
          </a:ln>
        </p:spPr>
        <p:txBody>
          <a:bodyPr/>
          <a:lstStyle/>
          <a:p>
            <a:endParaRPr lang="es-PE"/>
          </a:p>
        </p:txBody>
      </p:sp>
      <p:sp>
        <p:nvSpPr>
          <p:cNvPr id="7" name="Text 5"/>
          <p:cNvSpPr txBox="1"/>
          <p:nvPr/>
        </p:nvSpPr>
        <p:spPr>
          <a:xfrm>
            <a:off x="1005840" y="2834640"/>
            <a:ext cx="384048" cy="384048"/>
          </a:xfrm>
          <a:prstGeom prst="rect">
            <a:avLst/>
          </a:prstGeom>
          <a:noFill/>
          <a:ln/>
        </p:spPr>
        <p:txBody>
          <a:bodyPr wrap="square" lIns="0" tIns="0" rIns="0" bIns="0" rtlCol="0" anchor="ctr"/>
          <a:lstStyle/>
          <a:p>
            <a:pPr marL="0" indent="0" algn="ctr">
              <a:buNone/>
            </a:pPr>
            <a:r>
              <a:rPr lang="en-US" sz="1400" b="1" dirty="0">
                <a:solidFill>
                  <a:schemeClr val="tx2"/>
                </a:solidFill>
              </a:rPr>
              <a:t>1</a:t>
            </a:r>
            <a:endParaRPr lang="en-US" sz="1400" dirty="0"/>
          </a:p>
        </p:txBody>
      </p:sp>
      <p:sp>
        <p:nvSpPr>
          <p:cNvPr id="8" name="Text 6"/>
          <p:cNvSpPr txBox="1"/>
          <p:nvPr/>
        </p:nvSpPr>
        <p:spPr>
          <a:xfrm>
            <a:off x="1554480" y="2770632"/>
            <a:ext cx="4297680" cy="822960"/>
          </a:xfrm>
          <a:prstGeom prst="rect">
            <a:avLst/>
          </a:prstGeom>
          <a:noFill/>
          <a:ln/>
        </p:spPr>
        <p:txBody>
          <a:bodyPr wrap="square" lIns="0" tIns="0" rIns="0" bIns="0" rtlCol="0" anchor="t"/>
          <a:lstStyle/>
          <a:p>
            <a:pPr marL="0" indent="0">
              <a:buNone/>
            </a:pPr>
            <a:r>
              <a:rPr lang="en-US" sz="1600" b="1" dirty="0">
                <a:solidFill>
                  <a:schemeClr val="bg1"/>
                </a:solidFill>
              </a:rPr>
              <a:t>Paciente</a:t>
            </a:r>
            <a:endParaRPr lang="en-US" sz="1600" dirty="0"/>
          </a:p>
          <a:p>
            <a:pPr marL="0" indent="0">
              <a:buNone/>
            </a:pPr>
            <a:r>
              <a:rPr lang="en-US" sz="1400" dirty="0">
                <a:solidFill>
                  <a:srgbClr val="D1FAE5"/>
                </a:solidFill>
              </a:rPr>
              <a:t>Reservar → Pago Yape → Confirmación → Mis citas (PDF)</a:t>
            </a:r>
            <a:endParaRPr lang="en-US" sz="1600" dirty="0"/>
          </a:p>
        </p:txBody>
      </p:sp>
      <p:sp>
        <p:nvSpPr>
          <p:cNvPr id="9" name="num-dot"/>
          <p:cNvSpPr/>
          <p:nvPr/>
        </p:nvSpPr>
        <p:spPr>
          <a:xfrm>
            <a:off x="1005840" y="3840480"/>
            <a:ext cx="384048" cy="384048"/>
          </a:xfrm>
          <a:prstGeom prst="ellipse">
            <a:avLst/>
          </a:prstGeom>
          <a:solidFill>
            <a:schemeClr val="accent2"/>
          </a:solidFill>
          <a:ln w="12700">
            <a:solidFill>
              <a:schemeClr val="accent2"/>
            </a:solidFill>
            <a:prstDash val="solid"/>
          </a:ln>
        </p:spPr>
        <p:txBody>
          <a:bodyPr/>
          <a:lstStyle/>
          <a:p>
            <a:endParaRPr lang="es-PE"/>
          </a:p>
        </p:txBody>
      </p:sp>
      <p:sp>
        <p:nvSpPr>
          <p:cNvPr id="10" name="Text 8"/>
          <p:cNvSpPr txBox="1"/>
          <p:nvPr/>
        </p:nvSpPr>
        <p:spPr>
          <a:xfrm>
            <a:off x="1005840" y="3840480"/>
            <a:ext cx="384048" cy="384048"/>
          </a:xfrm>
          <a:prstGeom prst="rect">
            <a:avLst/>
          </a:prstGeom>
          <a:noFill/>
          <a:ln/>
        </p:spPr>
        <p:txBody>
          <a:bodyPr wrap="square" lIns="0" tIns="0" rIns="0" bIns="0" rtlCol="0" anchor="ctr"/>
          <a:lstStyle/>
          <a:p>
            <a:pPr marL="0" indent="0" algn="ctr">
              <a:buNone/>
            </a:pPr>
            <a:r>
              <a:rPr lang="en-US" sz="1400" b="1" dirty="0">
                <a:solidFill>
                  <a:schemeClr val="tx2"/>
                </a:solidFill>
              </a:rPr>
              <a:t>2</a:t>
            </a:r>
            <a:endParaRPr lang="en-US" sz="1400" dirty="0"/>
          </a:p>
        </p:txBody>
      </p:sp>
      <p:sp>
        <p:nvSpPr>
          <p:cNvPr id="11" name="Text 9"/>
          <p:cNvSpPr txBox="1"/>
          <p:nvPr/>
        </p:nvSpPr>
        <p:spPr>
          <a:xfrm>
            <a:off x="1554480" y="3776472"/>
            <a:ext cx="4297680" cy="822960"/>
          </a:xfrm>
          <a:prstGeom prst="rect">
            <a:avLst/>
          </a:prstGeom>
          <a:noFill/>
          <a:ln/>
        </p:spPr>
        <p:txBody>
          <a:bodyPr wrap="square" lIns="0" tIns="0" rIns="0" bIns="0" rtlCol="0" anchor="t"/>
          <a:lstStyle/>
          <a:p>
            <a:pPr marL="0" indent="0">
              <a:buNone/>
            </a:pPr>
            <a:r>
              <a:rPr lang="en-US" sz="1600" b="1" dirty="0">
                <a:solidFill>
                  <a:schemeClr val="bg1"/>
                </a:solidFill>
              </a:rPr>
              <a:t>Médico</a:t>
            </a:r>
            <a:endParaRPr lang="en-US" sz="1600" dirty="0"/>
          </a:p>
          <a:p>
            <a:pPr marL="0" indent="0">
              <a:buNone/>
            </a:pPr>
            <a:r>
              <a:rPr lang="en-US" sz="1400" dirty="0">
                <a:solidFill>
                  <a:srgbClr val="D1FAE5"/>
                </a:solidFill>
              </a:rPr>
              <a:t>Login → Agenda → Reportes de citas y pagos → Excel</a:t>
            </a:r>
            <a:endParaRPr lang="en-US" sz="1600" dirty="0"/>
          </a:p>
        </p:txBody>
      </p:sp>
      <p:sp>
        <p:nvSpPr>
          <p:cNvPr id="12" name="num-dot"/>
          <p:cNvSpPr/>
          <p:nvPr/>
        </p:nvSpPr>
        <p:spPr>
          <a:xfrm>
            <a:off x="1005840" y="4846320"/>
            <a:ext cx="384048" cy="384048"/>
          </a:xfrm>
          <a:prstGeom prst="ellipse">
            <a:avLst/>
          </a:prstGeom>
          <a:solidFill>
            <a:schemeClr val="accent2"/>
          </a:solidFill>
          <a:ln w="12700">
            <a:solidFill>
              <a:schemeClr val="accent2"/>
            </a:solidFill>
            <a:prstDash val="solid"/>
          </a:ln>
        </p:spPr>
        <p:txBody>
          <a:bodyPr/>
          <a:lstStyle/>
          <a:p>
            <a:endParaRPr lang="es-PE"/>
          </a:p>
        </p:txBody>
      </p:sp>
      <p:sp>
        <p:nvSpPr>
          <p:cNvPr id="13" name="Text 11"/>
          <p:cNvSpPr txBox="1"/>
          <p:nvPr/>
        </p:nvSpPr>
        <p:spPr>
          <a:xfrm>
            <a:off x="1005840" y="4846320"/>
            <a:ext cx="384048" cy="384048"/>
          </a:xfrm>
          <a:prstGeom prst="rect">
            <a:avLst/>
          </a:prstGeom>
          <a:noFill/>
          <a:ln/>
        </p:spPr>
        <p:txBody>
          <a:bodyPr wrap="square" lIns="0" tIns="0" rIns="0" bIns="0" rtlCol="0" anchor="ctr"/>
          <a:lstStyle/>
          <a:p>
            <a:pPr marL="0" indent="0" algn="ctr">
              <a:buNone/>
            </a:pPr>
            <a:r>
              <a:rPr lang="en-US" sz="1400" b="1" dirty="0">
                <a:solidFill>
                  <a:schemeClr val="tx2"/>
                </a:solidFill>
              </a:rPr>
              <a:t>3</a:t>
            </a:r>
            <a:endParaRPr lang="en-US" sz="1400" dirty="0"/>
          </a:p>
        </p:txBody>
      </p:sp>
      <p:sp>
        <p:nvSpPr>
          <p:cNvPr id="14" name="Text 12"/>
          <p:cNvSpPr txBox="1"/>
          <p:nvPr/>
        </p:nvSpPr>
        <p:spPr>
          <a:xfrm>
            <a:off x="1554480" y="4782312"/>
            <a:ext cx="4297680" cy="822960"/>
          </a:xfrm>
          <a:prstGeom prst="rect">
            <a:avLst/>
          </a:prstGeom>
          <a:noFill/>
          <a:ln/>
        </p:spPr>
        <p:txBody>
          <a:bodyPr wrap="square" lIns="0" tIns="0" rIns="0" bIns="0" rtlCol="0" anchor="t"/>
          <a:lstStyle/>
          <a:p>
            <a:pPr marL="0" indent="0">
              <a:buNone/>
            </a:pPr>
            <a:r>
              <a:rPr lang="en-US" sz="1600" b="1" dirty="0">
                <a:solidFill>
                  <a:schemeClr val="bg1"/>
                </a:solidFill>
              </a:rPr>
              <a:t>Seguridad</a:t>
            </a:r>
            <a:endParaRPr lang="en-US" sz="1600" dirty="0"/>
          </a:p>
          <a:p>
            <a:pPr marL="0" indent="0">
              <a:buNone/>
            </a:pPr>
            <a:r>
              <a:rPr lang="en-US" sz="1400" dirty="0">
                <a:solidFill>
                  <a:srgbClr val="D1FAE5"/>
                </a:solidFill>
              </a:rPr>
              <a:t>Acceso denegado por rol (403) y bloqueo tras 5 intentos</a:t>
            </a:r>
            <a:endParaRPr lang="en-US" sz="1600" dirty="0"/>
          </a:p>
        </p:txBody>
      </p:sp>
      <p:sp>
        <p:nvSpPr>
          <p:cNvPr id="15" name="next-card"/>
          <p:cNvSpPr/>
          <p:nvPr/>
        </p:nvSpPr>
        <p:spPr>
          <a:xfrm>
            <a:off x="6309360" y="2011680"/>
            <a:ext cx="5148072" cy="4023360"/>
          </a:xfrm>
          <a:prstGeom prst="roundRect">
            <a:avLst>
              <a:gd name="adj" fmla="val 3409"/>
            </a:avLst>
          </a:prstGeom>
          <a:solidFill>
            <a:srgbClr val="0A4A3E"/>
          </a:solidFill>
          <a:ln w="12700">
            <a:solidFill>
              <a:srgbClr val="0A4A3E"/>
            </a:solidFill>
            <a:prstDash val="solid"/>
          </a:ln>
        </p:spPr>
        <p:txBody>
          <a:bodyPr/>
          <a:lstStyle/>
          <a:p>
            <a:endParaRPr lang="es-PE"/>
          </a:p>
        </p:txBody>
      </p:sp>
      <p:sp>
        <p:nvSpPr>
          <p:cNvPr id="16" name="Text 14"/>
          <p:cNvSpPr txBox="1"/>
          <p:nvPr/>
        </p:nvSpPr>
        <p:spPr>
          <a:xfrm>
            <a:off x="6583680" y="2194560"/>
            <a:ext cx="4663440" cy="411480"/>
          </a:xfrm>
          <a:prstGeom prst="rect">
            <a:avLst/>
          </a:prstGeom>
          <a:noFill/>
          <a:ln/>
        </p:spPr>
        <p:txBody>
          <a:bodyPr wrap="square" lIns="0" tIns="0" rIns="0" bIns="0" rtlCol="0" anchor="ctr"/>
          <a:lstStyle/>
          <a:p>
            <a:pPr marL="0" indent="0">
              <a:buNone/>
            </a:pPr>
            <a:r>
              <a:rPr lang="en-US" sz="1800" b="1" dirty="0">
                <a:solidFill>
                  <a:schemeClr val="bg1"/>
                </a:solidFill>
              </a:rPr>
              <a:t>Hacia la entrega final</a:t>
            </a:r>
            <a:endParaRPr lang="en-US" sz="1800" dirty="0"/>
          </a:p>
        </p:txBody>
      </p:sp>
      <p:sp>
        <p:nvSpPr>
          <p:cNvPr id="17" name="Text 15"/>
          <p:cNvSpPr txBox="1"/>
          <p:nvPr/>
        </p:nvSpPr>
        <p:spPr>
          <a:xfrm>
            <a:off x="6583680" y="2788920"/>
            <a:ext cx="4663440" cy="30175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bg1"/>
                </a:solidFill>
              </a:rPr>
              <a:t>Implementar P8: validar pagos y cerrar la cita</a:t>
            </a:r>
            <a:endParaRPr lang="en-US" sz="1500" dirty="0"/>
          </a:p>
          <a:p>
            <a:pPr marL="342900" indent="-342900">
              <a:spcAft>
                <a:spcPts val="900"/>
              </a:spcAft>
              <a:buSzPct val="100000"/>
              <a:buChar char="•"/>
            </a:pPr>
            <a:r>
              <a:rPr lang="en-US" sz="1500" dirty="0">
                <a:solidFill>
                  <a:schemeClr val="bg1"/>
                </a:solidFill>
              </a:rPr>
              <a:t>Javadoc de los servicios y capturas de P0–P10</a:t>
            </a:r>
            <a:endParaRPr lang="en-US" sz="1500" dirty="0"/>
          </a:p>
          <a:p>
            <a:pPr marL="342900" indent="-342900">
              <a:spcAft>
                <a:spcPts val="900"/>
              </a:spcAft>
              <a:buSzPct val="100000"/>
              <a:buChar char="•"/>
            </a:pPr>
            <a:r>
              <a:rPr lang="en-US" sz="1500" dirty="0">
                <a:solidFill>
                  <a:schemeClr val="bg1"/>
                </a:solidFill>
              </a:rPr>
              <a:t>Pruebas de cada regla RN-01 a RN-14</a:t>
            </a:r>
            <a:endParaRPr lang="en-US" sz="1500" dirty="0"/>
          </a:p>
          <a:p>
            <a:pPr marL="342900" indent="-342900">
              <a:spcAft>
                <a:spcPts val="900"/>
              </a:spcAft>
              <a:buSzPct val="100000"/>
              <a:buChar char="•"/>
            </a:pPr>
            <a:r>
              <a:rPr lang="en-US" sz="1500" dirty="0">
                <a:solidFill>
                  <a:schemeClr val="bg1"/>
                </a:solidFill>
              </a:rPr>
              <a:t>Prueba de usabilidad y validación con el Dr. Barrantes</a:t>
            </a:r>
            <a:endParaRPr lang="en-US" sz="1500" dirty="0"/>
          </a:p>
          <a:p>
            <a:pPr marL="342900" indent="-342900">
              <a:spcAft>
                <a:spcPts val="900"/>
              </a:spcAft>
              <a:buSzPct val="100000"/>
              <a:buChar char="•"/>
            </a:pPr>
            <a:r>
              <a:rPr lang="en-US" sz="1500" dirty="0">
                <a:solidFill>
                  <a:schemeClr val="bg1"/>
                </a:solidFill>
              </a:rPr>
              <a:t>Manual de usuario e informe final</a:t>
            </a:r>
            <a:endParaRPr lang="en-US" sz="1500" dirty="0"/>
          </a:p>
        </p:txBody>
      </p:sp>
      <p:sp>
        <p:nvSpPr>
          <p:cNvPr id="18" name="Text 16"/>
          <p:cNvSpPr txBox="1"/>
          <p:nvPr/>
        </p:nvSpPr>
        <p:spPr>
          <a:xfrm>
            <a:off x="731520" y="6217920"/>
            <a:ext cx="10698480" cy="365760"/>
          </a:xfrm>
          <a:prstGeom prst="rect">
            <a:avLst/>
          </a:prstGeom>
          <a:noFill/>
          <a:ln/>
        </p:spPr>
        <p:txBody>
          <a:bodyPr wrap="square" lIns="0" tIns="0" rIns="0" bIns="0" rtlCol="0" anchor="ctr"/>
          <a:lstStyle/>
          <a:p>
            <a:pPr marL="0" indent="0">
              <a:buNone/>
            </a:pPr>
            <a:r>
              <a:rPr lang="en-US" sz="1400" dirty="0">
                <a:solidFill>
                  <a:srgbClr val="D1FAE5"/>
                </a:solidFill>
              </a:rPr>
              <a:t>¡Gracias! · github.com/manuelguarniz/medifast</a:t>
            </a:r>
            <a:endParaRPr lang="en-US" sz="1400" dirty="0"/>
          </a:p>
        </p:txBody>
      </p:sp>
    </p:spTree>
  </p:cSld>
  <p:clrMapOvr>
    <a:masterClrMapping/>
  </p:clrMapOvr>
</p:sld>
</file>

<file path=ppt/theme/theme1.xml><?xml version="1.0" encoding="utf-8"?>
<a:theme xmlns:a="http://schemas.openxmlformats.org/drawingml/2006/main" name="Medifast">
  <a:themeElements>
    <a:clrScheme name="Medifast">
      <a:dk1>
        <a:srgbClr val="0F172A"/>
      </a:dk1>
      <a:lt1>
        <a:srgbClr val="FFFFFF"/>
      </a:lt1>
      <a:dk2>
        <a:srgbClr val="0D5C4D"/>
      </a:dk2>
      <a:lt2>
        <a:srgbClr val="F1F5F9"/>
      </a:lt2>
      <a:accent1>
        <a:srgbClr val="0D5C4D"/>
      </a:accent1>
      <a:accent2>
        <a:srgbClr val="10B981"/>
      </a:accent2>
      <a:accent3>
        <a:srgbClr val="F59E0B"/>
      </a:accent3>
      <a:accent4>
        <a:srgbClr val="EF4444"/>
      </a:accent4>
      <a:accent5>
        <a:srgbClr val="0284C7"/>
      </a:accent5>
      <a:accent6>
        <a:srgbClr val="64748B"/>
      </a:accent6>
      <a:hlink>
        <a:srgbClr val="0284C7"/>
      </a:hlink>
      <a:folHlink>
        <a:srgbClr val="64748B"/>
      </a:folHlink>
    </a:clrScheme>
    <a:fontScheme name="Medifas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3338</Words>
  <Application>Microsoft Macintosh PowerPoint</Application>
  <PresentationFormat>Panorámica</PresentationFormat>
  <Paragraphs>350</Paragraphs>
  <Slides>24</Slides>
  <Notes>15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24</vt:i4>
      </vt:variant>
    </vt:vector>
  </HeadingPairs>
  <TitlesOfParts>
    <vt:vector size="28" baseType="lpstr">
      <vt:lpstr>Arial</vt:lpstr>
      <vt:lpstr>Calibri</vt:lpstr>
      <vt:lpstr>Courier New</vt:lpstr>
      <vt:lpstr>Medifast</vt:lpstr>
      <vt:lpstr>MEDIFAST</vt:lpstr>
      <vt:lpstr>De un cuaderno y WhatsApp a una agenda web</vt:lpstr>
      <vt:lpstr>Qué incluye MEDIFAST y qué queda fuera</vt:lpstr>
      <vt:lpstr>Ruta de trabajo</vt:lpstr>
      <vt:lpstr>Spring Boot en capas: MVC + DAO</vt:lpstr>
      <vt:lpstr>MVC, DAO, SOLID y TDD en el código</vt:lpstr>
      <vt:lpstr>Git y GitHub: cada avance queda registrado</vt:lpstr>
      <vt:lpstr>Datos del paciente protegidos en cada capa</vt:lpstr>
      <vt:lpstr>Cada librería tiene un uso concreto en el código</vt:lpstr>
      <vt:lpstr>70 pruebas automatizadas en verde</vt:lpstr>
      <vt:lpstr>Reporte JaCoCo</vt:lpstr>
      <vt:lpstr>Diseño guiado por 53 iteraciones</vt:lpstr>
      <vt:lpstr>Reservar, pagar y confirmar en cuatro pasos</vt:lpstr>
      <vt:lpstr>Reservar</vt:lpstr>
      <vt:lpstr>Paga tu cita</vt:lpstr>
      <vt:lpstr>Cita  reservada</vt:lpstr>
      <vt:lpstr>Mis citas</vt:lpstr>
      <vt:lpstr>Agenda, validación de pagos y reportes</vt:lpstr>
      <vt:lpstr>Agenda</vt:lpstr>
      <vt:lpstr>Validación de pagos</vt:lpstr>
      <vt:lpstr>Reportes de citas</vt:lpstr>
      <vt:lpstr>Reportes de pagos</vt:lpstr>
      <vt:lpstr>Dónde estamos frente a lo comprometido</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MEDIFAST — Sustentación APF3</dc:title>
  <dc:subject>PptxGenJS Presentation</dc:subject>
  <dc:creator>Grupo 2 — Curso Integrador I</dc:creator>
  <cp:lastModifiedBy>Guarniz Cruz, Manuel Elmer Esteban</cp:lastModifiedBy>
  <cp:revision>4</cp:revision>
  <dcterms:created xsi:type="dcterms:W3CDTF">2026-10-27T01:33:43Z</dcterms:created>
  <dcterms:modified xsi:type="dcterms:W3CDTF">2026-10-27T03:00:04Z</dcterms:modified>
</cp:coreProperties>
</file>